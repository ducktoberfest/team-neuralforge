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(15 seconds)
“Meet DuckTutor. We built a debugging tutor powered by Gemma 4 that tries to preserve the most important part of learning to code: the moment when you figure out why something failed. Instead of rushing straight to the answer, it guides the learner through the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0:15–0:50 (35 seconds)
“Today, students can paste a bug into almost any coding assistant and instantly receive a correct patch. That is useful for shipping code, but not always for learning. The code may work while the wrong assumption survives. The next time the same bug appears, they are stuck again. Our question was simple: can the AI help the learner discover the mistake instead of doing their thinking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0:50–1:35 (45 seconds)
“DuckTutor is designed as one continuous learning loop. First, it asks the learner to predict what the code will do. Then they rate their confidence. The confidence is not just a slider: it affects how the tutor responds. In the guided Python exercises, tests and counterexamples make incorrect assumptions visible. Instead of immediately revealing the patch, Gemma gives progressive questions and hints. After the learner changes the code, the system checks the fix and records an evidence-based learning note. The goal is to connect prediction, feedback, and retention.”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1:35–2:55 (80 seconds)
“Here is the key moment. Imagine the learner says this loop should print three items and reports high confidence. DuckTutor should not simply delete the plus-one for them. It asks them to think about the final index. In guided exercise mode, actual execution and tests can reveal the exception, turning confidence into a productive surprise. The learner repairs the logic, checks edge cases, and retains an explanation in their learning notes. [NOW SWITCH TO THE ACTUAL RUNNING STREAMLIT APP FOR APPROXIMATELY 60 SECONDS. SHOW A WORKING PRELOADED EXERCISE OR OWN CODE, ITS CURRENT HINT LEVEL, THE LEARNER PREDICTION AND THE CONFIDENCE. DO NOT CLAIM THE ILLUSTRATIVE SNIPPET IS A BUILT-IN EXERCISE UNLESS VERIFIED.] If the model endpoint stalls, narrate this four-step visual fallback on the slide instead of waiting.”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2:55–3:35 (40 seconds)
“Technically, this is a Streamlit prototype connected to a hosted, open-weight Gemma 4 26B A4B model, with 31B optional. The orchestration maintains the learning state: predictions, confidence, progressive hint behavior, conversation history, and learning notes. The own-code workspace analyzes pasted code without executing it; guided Python exercises can execute and test learner code. We have 58 passing software checks. We also prepared 32 live teaching scenarios across 22 feature groups, but those scenarios are not yet an evaluated claim of real-world teaching quality. This is a working prototype, not a finished public learning platform.”
Technical Q&amp;A caveat: guided Python exercises currently execute on the app host and must be moved into an isolated runner before untrusted public deployment. The public GitHub push is a target, not a verified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3:35–4:00 (25 seconds)
“Our contribution is not claiming that coding tutors or rubber ducks are new. It is combining open-weight Gemma with an explicit, stateful prediction-and-evidence loop: confidence changes the question, tests challenge assumptions, and reflection carries into the next problem. We want to make the student own the solution—not just copy one.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42B"/>
        </a:solidFill>
      </p:bgPr>
    </p:bg>
    <p:spTree>
      <p:nvGrpSpPr>
        <p:cNvPr id="1" name=""/>
        <p:cNvGrpSpPr/>
        <p:nvPr/>
      </p:nvGrpSpPr>
      <p:grpSpPr>
        <a:xfrm>
          <a:off x="0" y="0"/>
          <a:ext cx="0" cy="0"/>
          <a:chOff x="0" y="0"/>
          <a:chExt cx="0" cy="0"/>
        </a:xfrm>
      </p:grpSpPr>
      <p:sp>
        <p:nvSpPr>
          <p:cNvPr id="2" name="Shape 0"/>
          <p:cNvSpPr/>
          <p:nvPr/>
        </p:nvSpPr>
        <p:spPr>
          <a:xfrm>
            <a:off x="7461504" y="594360"/>
            <a:ext cx="4636008" cy="5367528"/>
          </a:xfrm>
          <a:prstGeom prst="ellipse">
            <a:avLst>
              <a:gd name="adj" fmla="val 2959"/>
            </a:avLst>
          </a:prstGeom>
          <a:solidFill>
            <a:srgbClr val="172844"/>
          </a:solidFill>
          <a:ln w="12700">
            <a:solidFill>
              <a:srgbClr val="172844">
                <a:alpha val="0"/>
              </a:srgbClr>
            </a:solidFill>
            <a:prstDash val="solid"/>
          </a:ln>
        </p:spPr>
      </p:sp>
      <p:sp>
        <p:nvSpPr>
          <p:cNvPr id="3" name="Shape 1"/>
          <p:cNvSpPr/>
          <p:nvPr/>
        </p:nvSpPr>
        <p:spPr>
          <a:xfrm>
            <a:off x="8147304" y="1261872"/>
            <a:ext cx="3739896" cy="4251960"/>
          </a:xfrm>
          <a:prstGeom prst="ellipse">
            <a:avLst>
              <a:gd name="adj" fmla="val 3667"/>
            </a:avLst>
          </a:prstGeom>
          <a:solidFill>
            <a:srgbClr val="203859"/>
          </a:solidFill>
          <a:ln w="12700">
            <a:solidFill>
              <a:srgbClr val="203859">
                <a:alpha val="0"/>
              </a:srgbClr>
            </a:solidFill>
            <a:prstDash val="solid"/>
          </a:ln>
        </p:spPr>
      </p:sp>
      <p:sp>
        <p:nvSpPr>
          <p:cNvPr id="4" name="Shape 2"/>
          <p:cNvSpPr/>
          <p:nvPr/>
        </p:nvSpPr>
        <p:spPr>
          <a:xfrm>
            <a:off x="9985248" y="850392"/>
            <a:ext cx="146304" cy="146304"/>
          </a:xfrm>
          <a:prstGeom prst="ellipse">
            <a:avLst>
              <a:gd name="adj" fmla="val 93750"/>
            </a:avLst>
          </a:prstGeom>
          <a:solidFill>
            <a:srgbClr val="66DBC9"/>
          </a:solidFill>
          <a:ln w="12700">
            <a:solidFill>
              <a:srgbClr val="66DBC9">
                <a:alpha val="0"/>
              </a:srgbClr>
            </a:solidFill>
            <a:prstDash val="solid"/>
          </a:ln>
        </p:spPr>
      </p:sp>
      <p:sp>
        <p:nvSpPr>
          <p:cNvPr id="5" name="Shape 3"/>
          <p:cNvSpPr/>
          <p:nvPr/>
        </p:nvSpPr>
        <p:spPr>
          <a:xfrm>
            <a:off x="11247120" y="5257800"/>
            <a:ext cx="109728" cy="109728"/>
          </a:xfrm>
          <a:prstGeom prst="ellipse">
            <a:avLst>
              <a:gd name="adj" fmla="val 125000"/>
            </a:avLst>
          </a:prstGeom>
          <a:solidFill>
            <a:srgbClr val="FFC94F"/>
          </a:solidFill>
          <a:ln w="12700">
            <a:solidFill>
              <a:srgbClr val="FFC94F">
                <a:alpha val="0"/>
              </a:srgbClr>
            </a:solidFill>
            <a:prstDash val="solid"/>
          </a:ln>
        </p:spPr>
      </p:sp>
      <p:sp>
        <p:nvSpPr>
          <p:cNvPr id="6" name="Shape 4"/>
          <p:cNvSpPr/>
          <p:nvPr/>
        </p:nvSpPr>
        <p:spPr>
          <a:xfrm>
            <a:off x="7635240" y="4937760"/>
            <a:ext cx="118872" cy="118872"/>
          </a:xfrm>
          <a:prstGeom prst="ellipse">
            <a:avLst>
              <a:gd name="adj" fmla="val 115385"/>
            </a:avLst>
          </a:prstGeom>
          <a:solidFill>
            <a:srgbClr val="DDD8FF"/>
          </a:solidFill>
          <a:ln w="12700">
            <a:solidFill>
              <a:srgbClr val="DDD8FF">
                <a:alpha val="0"/>
              </a:srgbClr>
            </a:solidFill>
            <a:prstDash val="solid"/>
          </a:ln>
        </p:spPr>
      </p:sp>
      <p:sp>
        <p:nvSpPr>
          <p:cNvPr id="7" name="Shape 5"/>
          <p:cNvSpPr/>
          <p:nvPr/>
        </p:nvSpPr>
        <p:spPr>
          <a:xfrm>
            <a:off x="685800" y="932688"/>
            <a:ext cx="2157984" cy="301752"/>
          </a:xfrm>
          <a:prstGeom prst="roundRect">
            <a:avLst>
              <a:gd name="adj" fmla="val 45455"/>
            </a:avLst>
          </a:prstGeom>
          <a:solidFill>
            <a:srgbClr val="243455"/>
          </a:solidFill>
          <a:ln w="12700">
            <a:solidFill>
              <a:srgbClr val="243455">
                <a:alpha val="0"/>
              </a:srgbClr>
            </a:solidFill>
            <a:prstDash val="solid"/>
          </a:ln>
        </p:spPr>
      </p:sp>
      <p:sp>
        <p:nvSpPr>
          <p:cNvPr id="8" name="Text 6"/>
          <p:cNvSpPr/>
          <p:nvPr/>
        </p:nvSpPr>
        <p:spPr>
          <a:xfrm>
            <a:off x="804672" y="982980"/>
            <a:ext cx="1920240" cy="196596"/>
          </a:xfrm>
          <a:prstGeom prst="rect">
            <a:avLst/>
          </a:prstGeom>
          <a:noFill/>
          <a:ln/>
        </p:spPr>
        <p:txBody>
          <a:bodyPr wrap="square" lIns="0" tIns="0" rIns="0" bIns="0" rtlCol="0" anchor="ctr">
            <a:normAutofit/>
          </a:bodyPr>
          <a:lstStyle/>
          <a:p>
            <a:pPr indent="0" marL="0">
              <a:buNone/>
            </a:pPr>
            <a:r>
              <a:rPr lang="en-US" sz="1000" b="1" spc="115" kern="0" dirty="0">
                <a:solidFill>
                  <a:srgbClr val="66DBC9"/>
                </a:solidFill>
                <a:latin typeface="Aptos" pitchFamily="34" charset="0"/>
                <a:ea typeface="Aptos" pitchFamily="34" charset="-122"/>
                <a:cs typeface="Aptos" pitchFamily="34" charset="-120"/>
              </a:rPr>
              <a:t>BUILT WITH GEMMA 4</a:t>
            </a:r>
            <a:endParaRPr lang="en-US" sz="1000" dirty="0"/>
          </a:p>
        </p:txBody>
      </p:sp>
      <p:sp>
        <p:nvSpPr>
          <p:cNvPr id="9" name="Text 7"/>
          <p:cNvSpPr/>
          <p:nvPr/>
        </p:nvSpPr>
        <p:spPr>
          <a:xfrm>
            <a:off x="676656" y="1481328"/>
            <a:ext cx="6903720" cy="1024128"/>
          </a:xfrm>
          <a:prstGeom prst="rect">
            <a:avLst/>
          </a:prstGeom>
          <a:noFill/>
          <a:ln/>
        </p:spPr>
        <p:txBody>
          <a:bodyPr wrap="square" lIns="0" tIns="0" rIns="0" bIns="0" rtlCol="0" anchor="ctr">
            <a:normAutofit/>
          </a:bodyPr>
          <a:lstStyle/>
          <a:p>
            <a:pPr indent="0" marL="0">
              <a:buNone/>
            </a:pPr>
            <a:r>
              <a:rPr lang="en-US" sz="6100" b="1" spc="-120" kern="0" dirty="0">
                <a:solidFill>
                  <a:srgbClr val="FFFFFF"/>
                </a:solidFill>
                <a:latin typeface="Aptos" pitchFamily="34" charset="0"/>
                <a:ea typeface="Aptos" pitchFamily="34" charset="-122"/>
                <a:cs typeface="Aptos" pitchFamily="34" charset="-120"/>
              </a:rPr>
              <a:t>DUCKTUTOR</a:t>
            </a:r>
            <a:endParaRPr lang="en-US" sz="6100" dirty="0"/>
          </a:p>
        </p:txBody>
      </p:sp>
      <p:sp>
        <p:nvSpPr>
          <p:cNvPr id="10" name="Text 8"/>
          <p:cNvSpPr/>
          <p:nvPr/>
        </p:nvSpPr>
        <p:spPr>
          <a:xfrm>
            <a:off x="722376" y="2624328"/>
            <a:ext cx="6528816" cy="1225296"/>
          </a:xfrm>
          <a:prstGeom prst="rect">
            <a:avLst/>
          </a:prstGeom>
          <a:noFill/>
          <a:ln/>
        </p:spPr>
        <p:txBody>
          <a:bodyPr wrap="square" lIns="0" tIns="0" rIns="0" bIns="0" rtlCol="0" anchor="ctr">
            <a:normAutofit/>
          </a:bodyPr>
          <a:lstStyle/>
          <a:p>
            <a:pPr indent="0" marL="0">
              <a:buNone/>
            </a:pPr>
            <a:r>
              <a:rPr lang="en-US" sz="3200" b="1" dirty="0">
                <a:solidFill>
                  <a:srgbClr val="FFFFFF"/>
                </a:solidFill>
                <a:latin typeface="Aptos" pitchFamily="34" charset="0"/>
                <a:ea typeface="Aptos" pitchFamily="34" charset="-122"/>
                <a:cs typeface="Aptos" pitchFamily="34" charset="-120"/>
              </a:rPr>
              <a:t>The AI tutor that teaches the fix—</a:t>
            </a:r>
            <a:endParaRPr lang="en-US" sz="3200" dirty="0"/>
          </a:p>
          <a:p>
            <a:pPr indent="0" marL="0">
              <a:buNone/>
            </a:pPr>
            <a:r>
              <a:rPr lang="en-US" sz="3200" b="1" dirty="0">
                <a:solidFill>
                  <a:srgbClr val="FFFFFF"/>
                </a:solidFill>
                <a:latin typeface="Aptos" pitchFamily="34" charset="0"/>
                <a:ea typeface="Aptos" pitchFamily="34" charset="-122"/>
                <a:cs typeface="Aptos" pitchFamily="34" charset="-120"/>
              </a:rPr>
              <a:t>not just gives it.</a:t>
            </a:r>
            <a:endParaRPr lang="en-US" sz="3200" dirty="0"/>
          </a:p>
        </p:txBody>
      </p:sp>
      <p:sp>
        <p:nvSpPr>
          <p:cNvPr id="11" name="Shape 9"/>
          <p:cNvSpPr/>
          <p:nvPr/>
        </p:nvSpPr>
        <p:spPr>
          <a:xfrm>
            <a:off x="704088" y="4151376"/>
            <a:ext cx="512064" cy="64008"/>
          </a:xfrm>
          <a:prstGeom prst="rect">
            <a:avLst>
              <a:gd name="adj" fmla="val 214286"/>
            </a:avLst>
          </a:prstGeom>
          <a:solidFill>
            <a:srgbClr val="FFC94F"/>
          </a:solidFill>
          <a:ln w="12700">
            <a:solidFill>
              <a:srgbClr val="FFC94F">
                <a:alpha val="0"/>
              </a:srgbClr>
            </a:solidFill>
            <a:prstDash val="solid"/>
          </a:ln>
        </p:spPr>
      </p:sp>
      <p:sp>
        <p:nvSpPr>
          <p:cNvPr id="12" name="Text 10"/>
          <p:cNvSpPr/>
          <p:nvPr/>
        </p:nvSpPr>
        <p:spPr>
          <a:xfrm>
            <a:off x="713232" y="4398264"/>
            <a:ext cx="6309360" cy="667512"/>
          </a:xfrm>
          <a:prstGeom prst="rect">
            <a:avLst/>
          </a:prstGeom>
          <a:noFill/>
          <a:ln/>
        </p:spPr>
        <p:txBody>
          <a:bodyPr wrap="square" lIns="0" tIns="0" rIns="0" bIns="0" rtlCol="0" anchor="ctr">
            <a:normAutofit/>
          </a:bodyPr>
          <a:lstStyle/>
          <a:p>
            <a:pPr indent="0" marL="0">
              <a:buNone/>
            </a:pPr>
            <a:r>
              <a:rPr lang="en-US" sz="1770" dirty="0">
                <a:solidFill>
                  <a:srgbClr val="B9C6DC"/>
                </a:solidFill>
                <a:latin typeface="Aptos" pitchFamily="34" charset="0"/>
                <a:ea typeface="Aptos" pitchFamily="34" charset="-122"/>
                <a:cs typeface="Aptos" pitchFamily="34" charset="-120"/>
              </a:rPr>
              <a:t>A stateful, open-weight debugging experience</a:t>
            </a:r>
            <a:endParaRPr lang="en-US" sz="1770" dirty="0"/>
          </a:p>
          <a:p>
            <a:pPr indent="0" marL="0">
              <a:buNone/>
            </a:pPr>
            <a:r>
              <a:rPr lang="en-US" sz="1770" dirty="0">
                <a:solidFill>
                  <a:srgbClr val="B9C6DC"/>
                </a:solidFill>
                <a:latin typeface="Aptos" pitchFamily="34" charset="0"/>
                <a:ea typeface="Aptos" pitchFamily="34" charset="-122"/>
                <a:cs typeface="Aptos" pitchFamily="34" charset="-120"/>
              </a:rPr>
              <a:t>designed around the learner’s reasoning.</a:t>
            </a:r>
            <a:endParaRPr lang="en-US" sz="1770" dirty="0"/>
          </a:p>
        </p:txBody>
      </p:sp>
      <p:sp>
        <p:nvSpPr>
          <p:cNvPr id="13" name="Shape 11"/>
          <p:cNvSpPr/>
          <p:nvPr/>
        </p:nvSpPr>
        <p:spPr>
          <a:xfrm>
            <a:off x="8808872" y="2873136"/>
            <a:ext cx="2401672" cy="1676461"/>
          </a:xfrm>
          <a:prstGeom prst="ellipse">
            <a:avLst>
              <a:gd name="adj" fmla="val 8182"/>
            </a:avLst>
          </a:prstGeom>
          <a:solidFill>
            <a:srgbClr val="FFC94F"/>
          </a:solidFill>
          <a:ln w="12700">
            <a:solidFill>
              <a:srgbClr val="FFC94F">
                <a:alpha val="0"/>
              </a:srgbClr>
            </a:solidFill>
            <a:prstDash val="solid"/>
          </a:ln>
        </p:spPr>
      </p:sp>
      <p:sp>
        <p:nvSpPr>
          <p:cNvPr id="14" name="Shape 12"/>
          <p:cNvSpPr/>
          <p:nvPr/>
        </p:nvSpPr>
        <p:spPr>
          <a:xfrm>
            <a:off x="8563996" y="2006651"/>
            <a:ext cx="1808317" cy="1808317"/>
          </a:xfrm>
          <a:prstGeom prst="ellipse">
            <a:avLst>
              <a:gd name="adj" fmla="val 7585"/>
            </a:avLst>
          </a:prstGeom>
          <a:solidFill>
            <a:srgbClr val="FFC94F"/>
          </a:solidFill>
          <a:ln w="12700">
            <a:solidFill>
              <a:srgbClr val="FFC94F">
                <a:alpha val="0"/>
              </a:srgbClr>
            </a:solidFill>
            <a:prstDash val="solid"/>
          </a:ln>
        </p:spPr>
      </p:sp>
      <p:sp>
        <p:nvSpPr>
          <p:cNvPr id="15" name="Shape 13"/>
          <p:cNvSpPr/>
          <p:nvPr/>
        </p:nvSpPr>
        <p:spPr>
          <a:xfrm>
            <a:off x="9675358" y="3108594"/>
            <a:ext cx="1054852" cy="838230"/>
          </a:xfrm>
          <a:prstGeom prst="ellipse">
            <a:avLst>
              <a:gd name="adj" fmla="val 16363"/>
            </a:avLst>
          </a:prstGeom>
          <a:solidFill>
            <a:srgbClr val="F4B83B"/>
          </a:solidFill>
          <a:ln w="12700">
            <a:solidFill>
              <a:srgbClr val="F4B83B">
                <a:alpha val="0"/>
              </a:srgbClr>
            </a:solidFill>
            <a:prstDash val="solid"/>
          </a:ln>
        </p:spPr>
      </p:sp>
      <p:sp>
        <p:nvSpPr>
          <p:cNvPr id="16" name="Shape 14"/>
          <p:cNvSpPr/>
          <p:nvPr/>
        </p:nvSpPr>
        <p:spPr>
          <a:xfrm>
            <a:off x="8808872" y="2637678"/>
            <a:ext cx="263713" cy="169530"/>
          </a:xfrm>
          <a:prstGeom prst="ellipse">
            <a:avLst>
              <a:gd name="adj" fmla="val 80906"/>
            </a:avLst>
          </a:prstGeom>
          <a:solidFill>
            <a:srgbClr val="F3934C"/>
          </a:solidFill>
          <a:ln w="12700">
            <a:solidFill>
              <a:srgbClr val="F3934C">
                <a:alpha val="0"/>
              </a:srgbClr>
            </a:solidFill>
            <a:prstDash val="solid"/>
          </a:ln>
        </p:spPr>
      </p:sp>
      <p:sp>
        <p:nvSpPr>
          <p:cNvPr id="17" name="Shape 15"/>
          <p:cNvSpPr/>
          <p:nvPr/>
        </p:nvSpPr>
        <p:spPr>
          <a:xfrm>
            <a:off x="9609430" y="2562332"/>
            <a:ext cx="122438" cy="122438"/>
          </a:xfrm>
          <a:prstGeom prst="ellipse">
            <a:avLst>
              <a:gd name="adj" fmla="val 112024"/>
            </a:avLst>
          </a:prstGeom>
          <a:solidFill>
            <a:srgbClr val="111B2F"/>
          </a:solidFill>
          <a:ln w="12700">
            <a:solidFill>
              <a:srgbClr val="111B2F">
                <a:alpha val="0"/>
              </a:srgbClr>
            </a:solidFill>
            <a:prstDash val="solid"/>
          </a:ln>
        </p:spPr>
      </p:sp>
      <p:sp>
        <p:nvSpPr>
          <p:cNvPr id="18" name="Shape 16"/>
          <p:cNvSpPr/>
          <p:nvPr/>
        </p:nvSpPr>
        <p:spPr>
          <a:xfrm>
            <a:off x="9647103" y="2576459"/>
            <a:ext cx="37673" cy="37673"/>
          </a:xfrm>
          <a:prstGeom prst="ellipse">
            <a:avLst>
              <a:gd name="adj" fmla="val 364080"/>
            </a:avLst>
          </a:prstGeom>
          <a:solidFill>
            <a:srgbClr val="FFFFFF"/>
          </a:solidFill>
          <a:ln w="12700">
            <a:solidFill>
              <a:srgbClr val="FFFFFF">
                <a:alpha val="0"/>
              </a:srgbClr>
            </a:solidFill>
            <a:prstDash val="solid"/>
          </a:ln>
        </p:spPr>
      </p:sp>
      <p:sp>
        <p:nvSpPr>
          <p:cNvPr id="19" name="Shape 17"/>
          <p:cNvSpPr/>
          <p:nvPr/>
        </p:nvSpPr>
        <p:spPr>
          <a:xfrm rot="16200000">
            <a:off x="8224937" y="2873136"/>
            <a:ext cx="583936" cy="348478"/>
          </a:xfrm>
          <a:prstGeom prst="triangle">
            <a:avLst>
              <a:gd name="adj" fmla="val 39360"/>
            </a:avLst>
          </a:prstGeom>
          <a:solidFill>
            <a:srgbClr val="F39A44"/>
          </a:solidFill>
          <a:ln w="12700">
            <a:solidFill>
              <a:srgbClr val="F39A44">
                <a:alpha val="0"/>
              </a:srgbClr>
            </a:solidFill>
            <a:prstDash val="solid"/>
          </a:ln>
        </p:spPr>
      </p:sp>
      <p:sp>
        <p:nvSpPr>
          <p:cNvPr id="20" name="Shape 18"/>
          <p:cNvSpPr/>
          <p:nvPr/>
        </p:nvSpPr>
        <p:spPr>
          <a:xfrm>
            <a:off x="10880903" y="3409980"/>
            <a:ext cx="423824" cy="489753"/>
          </a:xfrm>
          <a:prstGeom prst="ellipse">
            <a:avLst>
              <a:gd name="adj" fmla="val 32362"/>
            </a:avLst>
          </a:prstGeom>
          <a:solidFill>
            <a:srgbClr val="FFC94F"/>
          </a:solidFill>
          <a:ln w="12700">
            <a:solidFill>
              <a:srgbClr val="FFC94F">
                <a:alpha val="0"/>
              </a:srgbClr>
            </a:solidFill>
            <a:prstDash val="solid"/>
          </a:ln>
        </p:spPr>
      </p:sp>
      <p:sp>
        <p:nvSpPr>
          <p:cNvPr id="21" name="Shape 19"/>
          <p:cNvSpPr/>
          <p:nvPr/>
        </p:nvSpPr>
        <p:spPr>
          <a:xfrm>
            <a:off x="7717536" y="1517904"/>
            <a:ext cx="1453896" cy="457200"/>
          </a:xfrm>
          <a:prstGeom prst="roundRect">
            <a:avLst>
              <a:gd name="adj" fmla="val 30000"/>
            </a:avLst>
          </a:prstGeom>
          <a:solidFill>
            <a:srgbClr val="FFFFFF"/>
          </a:solidFill>
          <a:ln w="12700">
            <a:solidFill>
              <a:srgbClr val="FFFFFF">
                <a:alpha val="0"/>
              </a:srgbClr>
            </a:solidFill>
            <a:prstDash val="solid"/>
          </a:ln>
        </p:spPr>
      </p:sp>
      <p:sp>
        <p:nvSpPr>
          <p:cNvPr id="22" name="Text 20"/>
          <p:cNvSpPr/>
          <p:nvPr/>
        </p:nvSpPr>
        <p:spPr>
          <a:xfrm>
            <a:off x="7872984" y="1618488"/>
            <a:ext cx="1143000" cy="219456"/>
          </a:xfrm>
          <a:prstGeom prst="rect">
            <a:avLst/>
          </a:prstGeom>
          <a:noFill/>
          <a:ln/>
        </p:spPr>
        <p:txBody>
          <a:bodyPr wrap="square" lIns="0" tIns="0" rIns="0" bIns="0" rtlCol="0" anchor="ctr">
            <a:normAutofit/>
          </a:bodyPr>
          <a:lstStyle/>
          <a:p>
            <a:pPr indent="0" marL="0">
              <a:buNone/>
            </a:pPr>
            <a:r>
              <a:rPr lang="en-US" sz="1400" b="1" dirty="0">
                <a:solidFill>
                  <a:srgbClr val="111B2F"/>
                </a:solidFill>
                <a:latin typeface="Aptos" pitchFamily="34" charset="0"/>
                <a:ea typeface="Aptos" pitchFamily="34" charset="-122"/>
                <a:cs typeface="Aptos" pitchFamily="34" charset="-120"/>
              </a:rPr>
              <a:t>Why +1?</a:t>
            </a:r>
            <a:endParaRPr lang="en-US" sz="1400" dirty="0"/>
          </a:p>
        </p:txBody>
      </p:sp>
      <p:sp>
        <p:nvSpPr>
          <p:cNvPr id="23" name="Shape 21"/>
          <p:cNvSpPr/>
          <p:nvPr/>
        </p:nvSpPr>
        <p:spPr>
          <a:xfrm>
            <a:off x="10241280" y="4242816"/>
            <a:ext cx="1618488" cy="457200"/>
          </a:xfrm>
          <a:prstGeom prst="roundRect">
            <a:avLst>
              <a:gd name="adj" fmla="val 30000"/>
            </a:avLst>
          </a:prstGeom>
          <a:solidFill>
            <a:srgbClr val="66DBC9"/>
          </a:solidFill>
          <a:ln w="12700">
            <a:solidFill>
              <a:srgbClr val="66DBC9">
                <a:alpha val="0"/>
              </a:srgbClr>
            </a:solidFill>
            <a:prstDash val="solid"/>
          </a:ln>
        </p:spPr>
      </p:sp>
      <p:sp>
        <p:nvSpPr>
          <p:cNvPr id="24" name="Text 22"/>
          <p:cNvSpPr/>
          <p:nvPr/>
        </p:nvSpPr>
        <p:spPr>
          <a:xfrm>
            <a:off x="10369296" y="4334256"/>
            <a:ext cx="1380744" cy="219456"/>
          </a:xfrm>
          <a:prstGeom prst="rect">
            <a:avLst/>
          </a:prstGeom>
          <a:noFill/>
          <a:ln/>
        </p:spPr>
        <p:txBody>
          <a:bodyPr wrap="square" lIns="0" tIns="0" rIns="0" bIns="0" rtlCol="0" anchor="ctr">
            <a:normAutofit/>
          </a:bodyPr>
          <a:lstStyle/>
          <a:p>
            <a:pPr indent="0" marL="0">
              <a:buNone/>
            </a:pPr>
            <a:r>
              <a:rPr lang="en-US" sz="1350" b="1" dirty="0">
                <a:solidFill>
                  <a:srgbClr val="111B2F"/>
                </a:solidFill>
                <a:latin typeface="Aptos" pitchFamily="34" charset="0"/>
                <a:ea typeface="Aptos" pitchFamily="34" charset="-122"/>
                <a:cs typeface="Aptos" pitchFamily="34" charset="-120"/>
              </a:rPr>
              <a:t>I see it!</a:t>
            </a:r>
            <a:endParaRPr lang="en-US" sz="1350" dirty="0"/>
          </a:p>
        </p:txBody>
      </p:sp>
      <p:sp>
        <p:nvSpPr>
          <p:cNvPr id="25" name="Shape 23"/>
          <p:cNvSpPr/>
          <p:nvPr/>
        </p:nvSpPr>
        <p:spPr>
          <a:xfrm>
            <a:off x="685800" y="6117336"/>
            <a:ext cx="10826496" cy="0"/>
          </a:xfrm>
          <a:prstGeom prst="line">
            <a:avLst/>
          </a:prstGeom>
          <a:noFill/>
          <a:ln w="12700">
            <a:solidFill>
              <a:srgbClr val="2A3957"/>
            </a:solidFill>
            <a:prstDash val="solid"/>
          </a:ln>
        </p:spPr>
      </p:sp>
      <p:sp>
        <p:nvSpPr>
          <p:cNvPr id="26" name="Text 24"/>
          <p:cNvSpPr/>
          <p:nvPr/>
        </p:nvSpPr>
        <p:spPr>
          <a:xfrm>
            <a:off x="694944" y="6300216"/>
            <a:ext cx="4480560" cy="228600"/>
          </a:xfrm>
          <a:prstGeom prst="rect">
            <a:avLst/>
          </a:prstGeom>
          <a:noFill/>
          <a:ln/>
        </p:spPr>
        <p:txBody>
          <a:bodyPr wrap="square" lIns="0" tIns="0" rIns="0" bIns="0" rtlCol="0" anchor="ctr">
            <a:normAutofit/>
          </a:bodyPr>
          <a:lstStyle/>
          <a:p>
            <a:pPr indent="0" marL="0">
              <a:buNone/>
            </a:pPr>
            <a:r>
              <a:rPr lang="en-US" sz="1100" b="1" spc="150" kern="0" dirty="0">
                <a:solidFill>
                  <a:srgbClr val="FFC94F"/>
                </a:solidFill>
                <a:latin typeface="Aptos" pitchFamily="34" charset="0"/>
                <a:ea typeface="Aptos" pitchFamily="34" charset="-122"/>
                <a:cs typeface="Aptos" pitchFamily="34" charset="-120"/>
              </a:rPr>
              <a:t>TEAM NEURALFORGE</a:t>
            </a:r>
            <a:endParaRPr lang="en-US" sz="1100" dirty="0"/>
          </a:p>
        </p:txBody>
      </p:sp>
      <p:sp>
        <p:nvSpPr>
          <p:cNvPr id="27" name="Text 25"/>
          <p:cNvSpPr/>
          <p:nvPr/>
        </p:nvSpPr>
        <p:spPr>
          <a:xfrm>
            <a:off x="8439912" y="6300216"/>
            <a:ext cx="3072384" cy="228600"/>
          </a:xfrm>
          <a:prstGeom prst="rect">
            <a:avLst/>
          </a:prstGeom>
          <a:noFill/>
          <a:ln/>
        </p:spPr>
        <p:txBody>
          <a:bodyPr wrap="square" lIns="0" tIns="0" rIns="0" bIns="0" rtlCol="0" anchor="ctr">
            <a:normAutofit/>
          </a:bodyPr>
          <a:lstStyle/>
          <a:p>
            <a:pPr algn="r" indent="0" marL="0">
              <a:buNone/>
            </a:pPr>
            <a:r>
              <a:rPr lang="en-US" sz="1000" b="1" spc="100" kern="0" dirty="0">
                <a:solidFill>
                  <a:srgbClr val="91A6C5"/>
                </a:solidFill>
                <a:latin typeface="Aptos" pitchFamily="34" charset="0"/>
                <a:ea typeface="Aptos" pitchFamily="34" charset="-122"/>
                <a:cs typeface="Aptos" pitchFamily="34" charset="-120"/>
              </a:rPr>
              <a:t>4-MINUTE PROJECT PITCH</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7F1"/>
        </a:solidFill>
      </p:bgPr>
    </p:bg>
    <p:spTree>
      <p:nvGrpSpPr>
        <p:cNvPr id="1" name=""/>
        <p:cNvGrpSpPr/>
        <p:nvPr/>
      </p:nvGrpSpPr>
      <p:grpSpPr>
        <a:xfrm>
          <a:off x="0" y="0"/>
          <a:ext cx="0" cy="0"/>
          <a:chOff x="0" y="0"/>
          <a:chExt cx="0" cy="0"/>
        </a:xfrm>
      </p:grpSpPr>
      <p:sp>
        <p:nvSpPr>
          <p:cNvPr id="2" name="Text 0"/>
          <p:cNvSpPr/>
          <p:nvPr/>
        </p:nvSpPr>
        <p:spPr>
          <a:xfrm>
            <a:off x="621792" y="292608"/>
            <a:ext cx="2377440" cy="274320"/>
          </a:xfrm>
          <a:prstGeom prst="rect">
            <a:avLst/>
          </a:prstGeom>
          <a:noFill/>
          <a:ln/>
        </p:spPr>
        <p:txBody>
          <a:bodyPr wrap="square" lIns="0" tIns="0" rIns="0" bIns="0" rtlCol="0" anchor="ctr">
            <a:normAutofit/>
          </a:bodyPr>
          <a:lstStyle/>
          <a:p>
            <a:pPr indent="0" marL="0">
              <a:buNone/>
            </a:pPr>
            <a:r>
              <a:rPr lang="en-US" sz="1200" b="1" spc="170" kern="0" dirty="0">
                <a:solidFill>
                  <a:srgbClr val="111B2F"/>
                </a:solidFill>
                <a:latin typeface="Aptos" pitchFamily="34" charset="0"/>
                <a:ea typeface="Aptos" pitchFamily="34" charset="-122"/>
                <a:cs typeface="Aptos" pitchFamily="34" charset="-120"/>
              </a:rPr>
              <a:t>DUCKTUTOR</a:t>
            </a:r>
            <a:endParaRPr lang="en-US" sz="1200" dirty="0"/>
          </a:p>
        </p:txBody>
      </p:sp>
      <p:sp>
        <p:nvSpPr>
          <p:cNvPr id="3" name="Text 1"/>
          <p:cNvSpPr/>
          <p:nvPr/>
        </p:nvSpPr>
        <p:spPr>
          <a:xfrm>
            <a:off x="9400032" y="292608"/>
            <a:ext cx="2103120" cy="274320"/>
          </a:xfrm>
          <a:prstGeom prst="rect">
            <a:avLst/>
          </a:prstGeom>
          <a:noFill/>
          <a:ln/>
        </p:spPr>
        <p:txBody>
          <a:bodyPr wrap="square" lIns="0" tIns="0" rIns="0" bIns="0" rtlCol="0" anchor="ctr">
            <a:normAutofit/>
          </a:bodyPr>
          <a:lstStyle/>
          <a:p>
            <a:pPr algn="r" indent="0" marL="0">
              <a:buNone/>
            </a:pPr>
            <a:r>
              <a:rPr lang="en-US" sz="950" b="1" spc="130" kern="0" dirty="0">
                <a:solidFill>
                  <a:srgbClr val="61738B"/>
                </a:solidFill>
                <a:latin typeface="Aptos" pitchFamily="34" charset="0"/>
                <a:ea typeface="Aptos" pitchFamily="34" charset="-122"/>
                <a:cs typeface="Aptos" pitchFamily="34" charset="-120"/>
              </a:rPr>
              <a:t>// THE PROBLEM</a:t>
            </a:r>
            <a:endParaRPr lang="en-US" sz="950" dirty="0"/>
          </a:p>
        </p:txBody>
      </p:sp>
      <p:sp>
        <p:nvSpPr>
          <p:cNvPr id="4" name="Shape 2"/>
          <p:cNvSpPr/>
          <p:nvPr/>
        </p:nvSpPr>
        <p:spPr>
          <a:xfrm>
            <a:off x="630936" y="713232"/>
            <a:ext cx="10927080" cy="0"/>
          </a:xfrm>
          <a:prstGeom prst="line">
            <a:avLst/>
          </a:prstGeom>
          <a:noFill/>
          <a:ln w="10160">
            <a:solidFill>
              <a:srgbClr val="DFE4E8"/>
            </a:solidFill>
            <a:prstDash val="solid"/>
          </a:ln>
        </p:spPr>
      </p:sp>
      <p:sp>
        <p:nvSpPr>
          <p:cNvPr id="5" name="Text 3"/>
          <p:cNvSpPr/>
          <p:nvPr/>
        </p:nvSpPr>
        <p:spPr>
          <a:xfrm>
            <a:off x="621792" y="1005840"/>
            <a:ext cx="10789920" cy="603504"/>
          </a:xfrm>
          <a:prstGeom prst="rect">
            <a:avLst/>
          </a:prstGeom>
          <a:noFill/>
          <a:ln/>
        </p:spPr>
        <p:txBody>
          <a:bodyPr wrap="square" lIns="0" tIns="0" rIns="0" bIns="0" rtlCol="0" anchor="ctr">
            <a:normAutofit/>
          </a:bodyPr>
          <a:lstStyle/>
          <a:p>
            <a:pPr indent="0" marL="0">
              <a:buNone/>
            </a:pPr>
            <a:r>
              <a:rPr lang="en-US" sz="3800" b="1" dirty="0">
                <a:solidFill>
                  <a:srgbClr val="111B2F"/>
                </a:solidFill>
                <a:latin typeface="Aptos" pitchFamily="34" charset="0"/>
                <a:ea typeface="Aptos" pitchFamily="34" charset="-122"/>
                <a:cs typeface="Aptos" pitchFamily="34" charset="-120"/>
              </a:rPr>
              <a:t>The problem isn't the bug.</a:t>
            </a:r>
            <a:endParaRPr lang="en-US" sz="3800" dirty="0"/>
          </a:p>
        </p:txBody>
      </p:sp>
      <p:sp>
        <p:nvSpPr>
          <p:cNvPr id="6" name="Text 4"/>
          <p:cNvSpPr/>
          <p:nvPr/>
        </p:nvSpPr>
        <p:spPr>
          <a:xfrm>
            <a:off x="640080" y="1737360"/>
            <a:ext cx="10789920" cy="438912"/>
          </a:xfrm>
          <a:prstGeom prst="rect">
            <a:avLst/>
          </a:prstGeom>
          <a:noFill/>
          <a:ln/>
        </p:spPr>
        <p:txBody>
          <a:bodyPr wrap="square" lIns="0" tIns="0" rIns="0" bIns="0" rtlCol="0" anchor="ctr">
            <a:normAutofit/>
          </a:bodyPr>
          <a:lstStyle/>
          <a:p>
            <a:pPr indent="0" marL="0">
              <a:buNone/>
            </a:pPr>
            <a:r>
              <a:rPr lang="en-US" sz="2000" dirty="0">
                <a:solidFill>
                  <a:srgbClr val="54647B"/>
                </a:solidFill>
                <a:latin typeface="Aptos" pitchFamily="34" charset="0"/>
                <a:ea typeface="Aptos" pitchFamily="34" charset="-122"/>
                <a:cs typeface="Aptos" pitchFamily="34" charset="-120"/>
              </a:rPr>
              <a:t>It's what happens when the answer arrives before the understanding.</a:t>
            </a:r>
            <a:endParaRPr lang="en-US" sz="2000" dirty="0"/>
          </a:p>
        </p:txBody>
      </p:sp>
      <p:sp>
        <p:nvSpPr>
          <p:cNvPr id="7" name="Shape 5"/>
          <p:cNvSpPr/>
          <p:nvPr/>
        </p:nvSpPr>
        <p:spPr>
          <a:xfrm>
            <a:off x="667512" y="2761488"/>
            <a:ext cx="3081528" cy="1700784"/>
          </a:xfrm>
          <a:prstGeom prst="roundRect">
            <a:avLst>
              <a:gd name="adj" fmla="val 8065"/>
            </a:avLst>
          </a:prstGeom>
          <a:solidFill>
            <a:srgbClr val="FFFFFF"/>
          </a:solidFill>
          <a:ln w="12700">
            <a:solidFill>
              <a:srgbClr val="FFFFFF">
                <a:alpha val="0"/>
              </a:srgbClr>
            </a:solidFill>
            <a:prstDash val="solid"/>
          </a:ln>
        </p:spPr>
      </p:sp>
      <p:sp>
        <p:nvSpPr>
          <p:cNvPr id="8" name="Text 6"/>
          <p:cNvSpPr/>
          <p:nvPr/>
        </p:nvSpPr>
        <p:spPr>
          <a:xfrm>
            <a:off x="877824" y="2962656"/>
            <a:ext cx="594360" cy="301752"/>
          </a:xfrm>
          <a:prstGeom prst="rect">
            <a:avLst/>
          </a:prstGeom>
          <a:noFill/>
          <a:ln/>
        </p:spPr>
        <p:txBody>
          <a:bodyPr wrap="square" lIns="0" tIns="0" rIns="0" bIns="0" rtlCol="0" anchor="ctr">
            <a:normAutofit/>
          </a:bodyPr>
          <a:lstStyle/>
          <a:p>
            <a:pPr indent="0" marL="0">
              <a:buNone/>
            </a:pPr>
            <a:r>
              <a:rPr lang="en-US" sz="1400" b="1" dirty="0">
                <a:solidFill>
                  <a:srgbClr val="A0AAB7"/>
                </a:solidFill>
                <a:latin typeface="Aptos" pitchFamily="34" charset="0"/>
                <a:ea typeface="Aptos" pitchFamily="34" charset="-122"/>
                <a:cs typeface="Aptos" pitchFamily="34" charset="-120"/>
              </a:rPr>
              <a:t>01</a:t>
            </a:r>
            <a:endParaRPr lang="en-US" sz="1400" dirty="0"/>
          </a:p>
        </p:txBody>
      </p:sp>
      <p:sp>
        <p:nvSpPr>
          <p:cNvPr id="9" name="Text 7"/>
          <p:cNvSpPr/>
          <p:nvPr/>
        </p:nvSpPr>
        <p:spPr>
          <a:xfrm>
            <a:off x="877824" y="3355848"/>
            <a:ext cx="2697480" cy="365760"/>
          </a:xfrm>
          <a:prstGeom prst="rect">
            <a:avLst/>
          </a:prstGeom>
          <a:noFill/>
          <a:ln/>
        </p:spPr>
        <p:txBody>
          <a:bodyPr wrap="square" lIns="0" tIns="0" rIns="0" bIns="0" rtlCol="0" anchor="ctr">
            <a:normAutofit/>
          </a:bodyPr>
          <a:lstStyle/>
          <a:p>
            <a:pPr indent="0" marL="0">
              <a:buNone/>
            </a:pPr>
            <a:r>
              <a:rPr lang="en-US" sz="2300" b="1" dirty="0">
                <a:solidFill>
                  <a:srgbClr val="111B2F"/>
                </a:solidFill>
                <a:latin typeface="Aptos" pitchFamily="34" charset="0"/>
                <a:ea typeface="Aptos" pitchFamily="34" charset="-122"/>
                <a:cs typeface="Aptos" pitchFamily="34" charset="-120"/>
              </a:rPr>
              <a:t>Paste the bug</a:t>
            </a:r>
            <a:endParaRPr lang="en-US" sz="2300" dirty="0"/>
          </a:p>
        </p:txBody>
      </p:sp>
      <p:sp>
        <p:nvSpPr>
          <p:cNvPr id="10" name="Text 8"/>
          <p:cNvSpPr/>
          <p:nvPr/>
        </p:nvSpPr>
        <p:spPr>
          <a:xfrm>
            <a:off x="877824" y="3831336"/>
            <a:ext cx="2615184" cy="438912"/>
          </a:xfrm>
          <a:prstGeom prst="rect">
            <a:avLst/>
          </a:prstGeom>
          <a:noFill/>
          <a:ln/>
        </p:spPr>
        <p:txBody>
          <a:bodyPr wrap="square" lIns="0" tIns="0" rIns="0" bIns="0" rtlCol="0" anchor="ctr">
            <a:normAutofit/>
          </a:bodyPr>
          <a:lstStyle/>
          <a:p>
            <a:pPr indent="0" marL="0">
              <a:buNone/>
            </a:pPr>
            <a:r>
              <a:rPr lang="en-US" sz="1430" dirty="0">
                <a:solidFill>
                  <a:srgbClr val="56667F"/>
                </a:solidFill>
                <a:latin typeface="Aptos" pitchFamily="34" charset="0"/>
                <a:ea typeface="Aptos" pitchFamily="34" charset="-122"/>
                <a:cs typeface="Aptos" pitchFamily="34" charset="-120"/>
              </a:rPr>
              <a:t>A student asks an assistant to fix a crash.</a:t>
            </a:r>
            <a:endParaRPr lang="en-US" sz="1430" dirty="0"/>
          </a:p>
        </p:txBody>
      </p:sp>
      <p:sp>
        <p:nvSpPr>
          <p:cNvPr id="11" name="Text 9"/>
          <p:cNvSpPr/>
          <p:nvPr/>
        </p:nvSpPr>
        <p:spPr>
          <a:xfrm>
            <a:off x="3822192" y="3429000"/>
            <a:ext cx="329184" cy="320040"/>
          </a:xfrm>
          <a:prstGeom prst="rect">
            <a:avLst/>
          </a:prstGeom>
          <a:noFill/>
          <a:ln/>
        </p:spPr>
        <p:txBody>
          <a:bodyPr wrap="square" lIns="0" tIns="0" rIns="0" bIns="0" rtlCol="0" anchor="ctr">
            <a:normAutofit/>
          </a:bodyPr>
          <a:lstStyle/>
          <a:p>
            <a:pPr algn="ctr" indent="0" marL="0">
              <a:buNone/>
            </a:pPr>
            <a:r>
              <a:rPr lang="en-US" sz="2500" b="1" dirty="0">
                <a:solidFill>
                  <a:srgbClr val="AAB4C4"/>
                </a:solidFill>
                <a:latin typeface="Aptos" pitchFamily="34" charset="0"/>
                <a:ea typeface="Aptos" pitchFamily="34" charset="-122"/>
                <a:cs typeface="Aptos" pitchFamily="34" charset="-120"/>
              </a:rPr>
              <a:t>→</a:t>
            </a:r>
            <a:endParaRPr lang="en-US" sz="2500" dirty="0"/>
          </a:p>
        </p:txBody>
      </p:sp>
      <p:sp>
        <p:nvSpPr>
          <p:cNvPr id="12" name="Shape 10"/>
          <p:cNvSpPr/>
          <p:nvPr/>
        </p:nvSpPr>
        <p:spPr>
          <a:xfrm>
            <a:off x="4242816" y="2761488"/>
            <a:ext cx="3081528" cy="1700784"/>
          </a:xfrm>
          <a:prstGeom prst="roundRect">
            <a:avLst>
              <a:gd name="adj" fmla="val 8065"/>
            </a:avLst>
          </a:prstGeom>
          <a:solidFill>
            <a:srgbClr val="FFFFFF"/>
          </a:solidFill>
          <a:ln w="12700">
            <a:solidFill>
              <a:srgbClr val="FFFFFF">
                <a:alpha val="0"/>
              </a:srgbClr>
            </a:solidFill>
            <a:prstDash val="solid"/>
          </a:ln>
        </p:spPr>
      </p:sp>
      <p:sp>
        <p:nvSpPr>
          <p:cNvPr id="13" name="Text 11"/>
          <p:cNvSpPr/>
          <p:nvPr/>
        </p:nvSpPr>
        <p:spPr>
          <a:xfrm>
            <a:off x="4453128" y="2962656"/>
            <a:ext cx="594360" cy="301752"/>
          </a:xfrm>
          <a:prstGeom prst="rect">
            <a:avLst/>
          </a:prstGeom>
          <a:noFill/>
          <a:ln/>
        </p:spPr>
        <p:txBody>
          <a:bodyPr wrap="square" lIns="0" tIns="0" rIns="0" bIns="0" rtlCol="0" anchor="ctr">
            <a:normAutofit/>
          </a:bodyPr>
          <a:lstStyle/>
          <a:p>
            <a:pPr indent="0" marL="0">
              <a:buNone/>
            </a:pPr>
            <a:r>
              <a:rPr lang="en-US" sz="1400" b="1" dirty="0">
                <a:solidFill>
                  <a:srgbClr val="A0AAB7"/>
                </a:solidFill>
                <a:latin typeface="Aptos" pitchFamily="34" charset="0"/>
                <a:ea typeface="Aptos" pitchFamily="34" charset="-122"/>
                <a:cs typeface="Aptos" pitchFamily="34" charset="-120"/>
              </a:rPr>
              <a:t>02</a:t>
            </a:r>
            <a:endParaRPr lang="en-US" sz="1400" dirty="0"/>
          </a:p>
        </p:txBody>
      </p:sp>
      <p:sp>
        <p:nvSpPr>
          <p:cNvPr id="14" name="Text 12"/>
          <p:cNvSpPr/>
          <p:nvPr/>
        </p:nvSpPr>
        <p:spPr>
          <a:xfrm>
            <a:off x="4453128" y="3355848"/>
            <a:ext cx="2697480" cy="365760"/>
          </a:xfrm>
          <a:prstGeom prst="rect">
            <a:avLst/>
          </a:prstGeom>
          <a:noFill/>
          <a:ln/>
        </p:spPr>
        <p:txBody>
          <a:bodyPr wrap="square" lIns="0" tIns="0" rIns="0" bIns="0" rtlCol="0" anchor="ctr">
            <a:normAutofit/>
          </a:bodyPr>
          <a:lstStyle/>
          <a:p>
            <a:pPr indent="0" marL="0">
              <a:buNone/>
            </a:pPr>
            <a:r>
              <a:rPr lang="en-US" sz="2300" b="1" dirty="0">
                <a:solidFill>
                  <a:srgbClr val="111B2F"/>
                </a:solidFill>
                <a:latin typeface="Aptos" pitchFamily="34" charset="0"/>
                <a:ea typeface="Aptos" pitchFamily="34" charset="-122"/>
                <a:cs typeface="Aptos" pitchFamily="34" charset="-120"/>
              </a:rPr>
              <a:t>Copy the patch</a:t>
            </a:r>
            <a:endParaRPr lang="en-US" sz="2300" dirty="0"/>
          </a:p>
        </p:txBody>
      </p:sp>
      <p:sp>
        <p:nvSpPr>
          <p:cNvPr id="15" name="Text 13"/>
          <p:cNvSpPr/>
          <p:nvPr/>
        </p:nvSpPr>
        <p:spPr>
          <a:xfrm>
            <a:off x="4453128" y="3831336"/>
            <a:ext cx="2615184" cy="438912"/>
          </a:xfrm>
          <a:prstGeom prst="rect">
            <a:avLst/>
          </a:prstGeom>
          <a:noFill/>
          <a:ln/>
        </p:spPr>
        <p:txBody>
          <a:bodyPr wrap="square" lIns="0" tIns="0" rIns="0" bIns="0" rtlCol="0" anchor="ctr">
            <a:normAutofit/>
          </a:bodyPr>
          <a:lstStyle/>
          <a:p>
            <a:pPr indent="0" marL="0">
              <a:buNone/>
            </a:pPr>
            <a:r>
              <a:rPr lang="en-US" sz="1430" dirty="0">
                <a:solidFill>
                  <a:srgbClr val="56667F"/>
                </a:solidFill>
                <a:latin typeface="Aptos" pitchFamily="34" charset="0"/>
                <a:ea typeface="Aptos" pitchFamily="34" charset="-122"/>
                <a:cs typeface="Aptos" pitchFamily="34" charset="-120"/>
              </a:rPr>
              <a:t>The assistant gives working code immediately.</a:t>
            </a:r>
            <a:endParaRPr lang="en-US" sz="1430" dirty="0"/>
          </a:p>
        </p:txBody>
      </p:sp>
      <p:sp>
        <p:nvSpPr>
          <p:cNvPr id="16" name="Text 14"/>
          <p:cNvSpPr/>
          <p:nvPr/>
        </p:nvSpPr>
        <p:spPr>
          <a:xfrm>
            <a:off x="7397496" y="3429000"/>
            <a:ext cx="329184" cy="320040"/>
          </a:xfrm>
          <a:prstGeom prst="rect">
            <a:avLst/>
          </a:prstGeom>
          <a:noFill/>
          <a:ln/>
        </p:spPr>
        <p:txBody>
          <a:bodyPr wrap="square" lIns="0" tIns="0" rIns="0" bIns="0" rtlCol="0" anchor="ctr">
            <a:normAutofit/>
          </a:bodyPr>
          <a:lstStyle/>
          <a:p>
            <a:pPr algn="ctr" indent="0" marL="0">
              <a:buNone/>
            </a:pPr>
            <a:r>
              <a:rPr lang="en-US" sz="2500" b="1" dirty="0">
                <a:solidFill>
                  <a:srgbClr val="AAB4C4"/>
                </a:solidFill>
                <a:latin typeface="Aptos" pitchFamily="34" charset="0"/>
                <a:ea typeface="Aptos" pitchFamily="34" charset="-122"/>
                <a:cs typeface="Aptos" pitchFamily="34" charset="-120"/>
              </a:rPr>
              <a:t>→</a:t>
            </a:r>
            <a:endParaRPr lang="en-US" sz="2500" dirty="0"/>
          </a:p>
        </p:txBody>
      </p:sp>
      <p:sp>
        <p:nvSpPr>
          <p:cNvPr id="17" name="Shape 15"/>
          <p:cNvSpPr/>
          <p:nvPr/>
        </p:nvSpPr>
        <p:spPr>
          <a:xfrm>
            <a:off x="7818120" y="2761488"/>
            <a:ext cx="3081528" cy="1700784"/>
          </a:xfrm>
          <a:prstGeom prst="roundRect">
            <a:avLst>
              <a:gd name="adj" fmla="val 8065"/>
            </a:avLst>
          </a:prstGeom>
          <a:solidFill>
            <a:srgbClr val="FFFFFF"/>
          </a:solidFill>
          <a:ln w="12700">
            <a:solidFill>
              <a:srgbClr val="FFFFFF">
                <a:alpha val="0"/>
              </a:srgbClr>
            </a:solidFill>
            <a:prstDash val="solid"/>
          </a:ln>
        </p:spPr>
      </p:sp>
      <p:sp>
        <p:nvSpPr>
          <p:cNvPr id="18" name="Text 16"/>
          <p:cNvSpPr/>
          <p:nvPr/>
        </p:nvSpPr>
        <p:spPr>
          <a:xfrm>
            <a:off x="8028432" y="2962656"/>
            <a:ext cx="594360" cy="301752"/>
          </a:xfrm>
          <a:prstGeom prst="rect">
            <a:avLst/>
          </a:prstGeom>
          <a:noFill/>
          <a:ln/>
        </p:spPr>
        <p:txBody>
          <a:bodyPr wrap="square" lIns="0" tIns="0" rIns="0" bIns="0" rtlCol="0" anchor="ctr">
            <a:normAutofit/>
          </a:bodyPr>
          <a:lstStyle/>
          <a:p>
            <a:pPr indent="0" marL="0">
              <a:buNone/>
            </a:pPr>
            <a:r>
              <a:rPr lang="en-US" sz="1400" b="1" dirty="0">
                <a:solidFill>
                  <a:srgbClr val="A0AAB7"/>
                </a:solidFill>
                <a:latin typeface="Aptos" pitchFamily="34" charset="0"/>
                <a:ea typeface="Aptos" pitchFamily="34" charset="-122"/>
                <a:cs typeface="Aptos" pitchFamily="34" charset="-120"/>
              </a:rPr>
              <a:t>03</a:t>
            </a:r>
            <a:endParaRPr lang="en-US" sz="1400" dirty="0"/>
          </a:p>
        </p:txBody>
      </p:sp>
      <p:sp>
        <p:nvSpPr>
          <p:cNvPr id="19" name="Text 17"/>
          <p:cNvSpPr/>
          <p:nvPr/>
        </p:nvSpPr>
        <p:spPr>
          <a:xfrm>
            <a:off x="8028432" y="3355848"/>
            <a:ext cx="2697480" cy="365760"/>
          </a:xfrm>
          <a:prstGeom prst="rect">
            <a:avLst/>
          </a:prstGeom>
          <a:noFill/>
          <a:ln/>
        </p:spPr>
        <p:txBody>
          <a:bodyPr wrap="square" lIns="0" tIns="0" rIns="0" bIns="0" rtlCol="0" anchor="ctr">
            <a:normAutofit/>
          </a:bodyPr>
          <a:lstStyle/>
          <a:p>
            <a:pPr indent="0" marL="0">
              <a:buNone/>
            </a:pPr>
            <a:r>
              <a:rPr lang="en-US" sz="2300" b="1" dirty="0">
                <a:solidFill>
                  <a:srgbClr val="111B2F"/>
                </a:solidFill>
                <a:latin typeface="Aptos" pitchFamily="34" charset="0"/>
                <a:ea typeface="Aptos" pitchFamily="34" charset="-122"/>
                <a:cs typeface="Aptos" pitchFamily="34" charset="-120"/>
              </a:rPr>
              <a:t>Meet it again</a:t>
            </a:r>
            <a:endParaRPr lang="en-US" sz="2300" dirty="0"/>
          </a:p>
        </p:txBody>
      </p:sp>
      <p:sp>
        <p:nvSpPr>
          <p:cNvPr id="20" name="Text 18"/>
          <p:cNvSpPr/>
          <p:nvPr/>
        </p:nvSpPr>
        <p:spPr>
          <a:xfrm>
            <a:off x="8028432" y="3831336"/>
            <a:ext cx="2615184" cy="438912"/>
          </a:xfrm>
          <a:prstGeom prst="rect">
            <a:avLst/>
          </a:prstGeom>
          <a:noFill/>
          <a:ln/>
        </p:spPr>
        <p:txBody>
          <a:bodyPr wrap="square" lIns="0" tIns="0" rIns="0" bIns="0" rtlCol="0" anchor="ctr">
            <a:normAutofit/>
          </a:bodyPr>
          <a:lstStyle/>
          <a:p>
            <a:pPr indent="0" marL="0">
              <a:buNone/>
            </a:pPr>
            <a:r>
              <a:rPr lang="en-US" sz="1430" dirty="0">
                <a:solidFill>
                  <a:srgbClr val="56667F"/>
                </a:solidFill>
                <a:latin typeface="Aptos" pitchFamily="34" charset="0"/>
                <a:ea typeface="Aptos" pitchFamily="34" charset="-122"/>
                <a:cs typeface="Aptos" pitchFamily="34" charset="-120"/>
              </a:rPr>
              <a:t>The incorrect mental model is still there.</a:t>
            </a:r>
            <a:endParaRPr lang="en-US" sz="1430" dirty="0"/>
          </a:p>
        </p:txBody>
      </p:sp>
      <p:sp>
        <p:nvSpPr>
          <p:cNvPr id="21" name="Shape 19"/>
          <p:cNvSpPr/>
          <p:nvPr/>
        </p:nvSpPr>
        <p:spPr>
          <a:xfrm>
            <a:off x="649224" y="4910328"/>
            <a:ext cx="10881360" cy="777240"/>
          </a:xfrm>
          <a:prstGeom prst="roundRect">
            <a:avLst>
              <a:gd name="adj" fmla="val 17647"/>
            </a:avLst>
          </a:prstGeom>
          <a:solidFill>
            <a:srgbClr val="0C142B"/>
          </a:solidFill>
          <a:ln w="12700">
            <a:solidFill>
              <a:srgbClr val="0C142B">
                <a:alpha val="0"/>
              </a:srgbClr>
            </a:solidFill>
            <a:prstDash val="solid"/>
          </a:ln>
        </p:spPr>
      </p:sp>
      <p:sp>
        <p:nvSpPr>
          <p:cNvPr id="22" name="Shape 20"/>
          <p:cNvSpPr/>
          <p:nvPr/>
        </p:nvSpPr>
        <p:spPr>
          <a:xfrm>
            <a:off x="914400" y="5202936"/>
            <a:ext cx="182880" cy="182880"/>
          </a:xfrm>
          <a:prstGeom prst="ellipse">
            <a:avLst>
              <a:gd name="adj" fmla="val 75000"/>
            </a:avLst>
          </a:prstGeom>
          <a:solidFill>
            <a:srgbClr val="FFC94F"/>
          </a:solidFill>
          <a:ln w="12700">
            <a:solidFill>
              <a:srgbClr val="FFC94F">
                <a:alpha val="0"/>
              </a:srgbClr>
            </a:solidFill>
            <a:prstDash val="solid"/>
          </a:ln>
        </p:spPr>
      </p:sp>
      <p:sp>
        <p:nvSpPr>
          <p:cNvPr id="23" name="Text 21"/>
          <p:cNvSpPr/>
          <p:nvPr/>
        </p:nvSpPr>
        <p:spPr>
          <a:xfrm>
            <a:off x="1271016" y="5138928"/>
            <a:ext cx="9829800" cy="256032"/>
          </a:xfrm>
          <a:prstGeom prst="rect">
            <a:avLst/>
          </a:prstGeom>
          <a:noFill/>
          <a:ln/>
        </p:spPr>
        <p:txBody>
          <a:bodyPr wrap="square" lIns="0" tIns="0" rIns="0" bIns="0" rtlCol="0" anchor="ctr">
            <a:normAutofit/>
          </a:bodyPr>
          <a:lstStyle/>
          <a:p>
            <a:pPr indent="0" marL="0">
              <a:buNone/>
            </a:pPr>
            <a:r>
              <a:rPr lang="en-US" sz="1700" b="1" spc="18" kern="0" dirty="0">
                <a:solidFill>
                  <a:srgbClr val="FFFFFF"/>
                </a:solidFill>
                <a:latin typeface="Aptos" pitchFamily="34" charset="0"/>
                <a:ea typeface="Aptos" pitchFamily="34" charset="-122"/>
                <a:cs typeface="Aptos" pitchFamily="34" charset="-120"/>
              </a:rPr>
              <a:t>WHAT IF THE ASSISTANT ASKED THE RIGHT QUESTION BEFORE THE FIX?</a:t>
            </a:r>
            <a:endParaRPr lang="en-US" sz="1700" dirty="0"/>
          </a:p>
        </p:txBody>
      </p:sp>
      <p:sp>
        <p:nvSpPr>
          <p:cNvPr id="24" name="Text 22"/>
          <p:cNvSpPr/>
          <p:nvPr/>
        </p:nvSpPr>
        <p:spPr>
          <a:xfrm>
            <a:off x="621792" y="6519672"/>
            <a:ext cx="4937760" cy="164592"/>
          </a:xfrm>
          <a:prstGeom prst="rect">
            <a:avLst/>
          </a:prstGeom>
          <a:noFill/>
          <a:ln/>
        </p:spPr>
        <p:txBody>
          <a:bodyPr wrap="square" lIns="0" tIns="0" rIns="0" bIns="0" rtlCol="0" anchor="ctr">
            <a:normAutofit/>
          </a:bodyPr>
          <a:lstStyle/>
          <a:p>
            <a:pPr indent="0" marL="0">
              <a:buNone/>
            </a:pPr>
            <a:r>
              <a:rPr lang="en-US" sz="880" b="1" spc="100" kern="0" dirty="0">
                <a:solidFill>
                  <a:srgbClr val="93A0B1"/>
                </a:solidFill>
                <a:latin typeface="Aptos" pitchFamily="34" charset="0"/>
                <a:ea typeface="Aptos" pitchFamily="34" charset="-122"/>
                <a:cs typeface="Aptos" pitchFamily="34" charset="-120"/>
              </a:rPr>
              <a:t>DUCKTOBERFEST 2026  •  TEAM NEURALFORGE</a:t>
            </a:r>
            <a:endParaRPr lang="en-US" sz="880" dirty="0"/>
          </a:p>
        </p:txBody>
      </p:sp>
      <p:sp>
        <p:nvSpPr>
          <p:cNvPr id="25" name="Text 23"/>
          <p:cNvSpPr/>
          <p:nvPr/>
        </p:nvSpPr>
        <p:spPr>
          <a:xfrm>
            <a:off x="10853928" y="6510528"/>
            <a:ext cx="713232" cy="192024"/>
          </a:xfrm>
          <a:prstGeom prst="rect">
            <a:avLst/>
          </a:prstGeom>
          <a:noFill/>
          <a:ln/>
        </p:spPr>
        <p:txBody>
          <a:bodyPr wrap="square" lIns="0" tIns="0" rIns="0" bIns="0" rtlCol="0" anchor="ctr">
            <a:normAutofit/>
          </a:bodyPr>
          <a:lstStyle/>
          <a:p>
            <a:pPr algn="r" indent="0" marL="0">
              <a:buNone/>
            </a:pPr>
            <a:r>
              <a:rPr lang="en-US" sz="880" b="1" dirty="0">
                <a:solidFill>
                  <a:srgbClr val="93A0B1"/>
                </a:solidFill>
                <a:latin typeface="Aptos" pitchFamily="34" charset="0"/>
                <a:ea typeface="Aptos" pitchFamily="34" charset="-122"/>
                <a:cs typeface="Aptos" pitchFamily="34" charset="-120"/>
              </a:rPr>
              <a:t>02 / 06</a:t>
            </a:r>
            <a:endParaRPr lang="en-US" sz="8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142B"/>
        </a:solidFill>
      </p:bgPr>
    </p:bg>
    <p:spTree>
      <p:nvGrpSpPr>
        <p:cNvPr id="1" name=""/>
        <p:cNvGrpSpPr/>
        <p:nvPr/>
      </p:nvGrpSpPr>
      <p:grpSpPr>
        <a:xfrm>
          <a:off x="0" y="0"/>
          <a:ext cx="0" cy="0"/>
          <a:chOff x="0" y="0"/>
          <a:chExt cx="0" cy="0"/>
        </a:xfrm>
      </p:grpSpPr>
      <p:sp>
        <p:nvSpPr>
          <p:cNvPr id="2" name="Text 0"/>
          <p:cNvSpPr/>
          <p:nvPr/>
        </p:nvSpPr>
        <p:spPr>
          <a:xfrm>
            <a:off x="621792" y="292608"/>
            <a:ext cx="2377440" cy="274320"/>
          </a:xfrm>
          <a:prstGeom prst="rect">
            <a:avLst/>
          </a:prstGeom>
          <a:noFill/>
          <a:ln/>
        </p:spPr>
        <p:txBody>
          <a:bodyPr wrap="square" lIns="0" tIns="0" rIns="0" bIns="0" rtlCol="0" anchor="ctr">
            <a:normAutofit/>
          </a:bodyPr>
          <a:lstStyle/>
          <a:p>
            <a:pPr indent="0" marL="0">
              <a:buNone/>
            </a:pPr>
            <a:r>
              <a:rPr lang="en-US" sz="1200" b="1" spc="170" kern="0" dirty="0">
                <a:solidFill>
                  <a:srgbClr val="FFFFFF"/>
                </a:solidFill>
                <a:latin typeface="Aptos" pitchFamily="34" charset="0"/>
                <a:ea typeface="Aptos" pitchFamily="34" charset="-122"/>
                <a:cs typeface="Aptos" pitchFamily="34" charset="-120"/>
              </a:rPr>
              <a:t>DUCKTUTOR</a:t>
            </a:r>
            <a:endParaRPr lang="en-US" sz="1200" dirty="0"/>
          </a:p>
        </p:txBody>
      </p:sp>
      <p:sp>
        <p:nvSpPr>
          <p:cNvPr id="3" name="Text 1"/>
          <p:cNvSpPr/>
          <p:nvPr/>
        </p:nvSpPr>
        <p:spPr>
          <a:xfrm>
            <a:off x="9400032" y="292608"/>
            <a:ext cx="2103120" cy="274320"/>
          </a:xfrm>
          <a:prstGeom prst="rect">
            <a:avLst/>
          </a:prstGeom>
          <a:noFill/>
          <a:ln/>
        </p:spPr>
        <p:txBody>
          <a:bodyPr wrap="square" lIns="0" tIns="0" rIns="0" bIns="0" rtlCol="0" anchor="ctr">
            <a:normAutofit/>
          </a:bodyPr>
          <a:lstStyle/>
          <a:p>
            <a:pPr algn="r" indent="0" marL="0">
              <a:buNone/>
            </a:pPr>
            <a:r>
              <a:rPr lang="en-US" sz="950" b="1" spc="130" kern="0" dirty="0">
                <a:solidFill>
                  <a:srgbClr val="94A4C1"/>
                </a:solidFill>
                <a:latin typeface="Aptos" pitchFamily="34" charset="0"/>
                <a:ea typeface="Aptos" pitchFamily="34" charset="-122"/>
                <a:cs typeface="Aptos" pitchFamily="34" charset="-120"/>
              </a:rPr>
              <a:t>// THE METHOD</a:t>
            </a:r>
            <a:endParaRPr lang="en-US" sz="950" dirty="0"/>
          </a:p>
        </p:txBody>
      </p:sp>
      <p:sp>
        <p:nvSpPr>
          <p:cNvPr id="4" name="Shape 2"/>
          <p:cNvSpPr/>
          <p:nvPr/>
        </p:nvSpPr>
        <p:spPr>
          <a:xfrm>
            <a:off x="630936" y="713232"/>
            <a:ext cx="10927080" cy="0"/>
          </a:xfrm>
          <a:prstGeom prst="line">
            <a:avLst/>
          </a:prstGeom>
          <a:noFill/>
          <a:ln w="10160">
            <a:solidFill>
              <a:srgbClr val="273651"/>
            </a:solidFill>
            <a:prstDash val="solid"/>
          </a:ln>
        </p:spPr>
      </p:sp>
      <p:sp>
        <p:nvSpPr>
          <p:cNvPr id="5" name="Text 3"/>
          <p:cNvSpPr/>
          <p:nvPr/>
        </p:nvSpPr>
        <p:spPr>
          <a:xfrm>
            <a:off x="640080" y="987552"/>
            <a:ext cx="10881360" cy="621792"/>
          </a:xfrm>
          <a:prstGeom prst="rect">
            <a:avLst/>
          </a:prstGeom>
          <a:noFill/>
          <a:ln/>
        </p:spPr>
        <p:txBody>
          <a:bodyPr wrap="square" lIns="0" tIns="0" rIns="0" bIns="0" rtlCol="0" anchor="ctr">
            <a:normAutofit/>
          </a:bodyPr>
          <a:lstStyle/>
          <a:p>
            <a:pPr indent="0" marL="0">
              <a:buNone/>
            </a:pPr>
            <a:r>
              <a:rPr lang="en-US" sz="3550" b="1" dirty="0">
                <a:solidFill>
                  <a:srgbClr val="FFFFFF"/>
                </a:solidFill>
                <a:latin typeface="Aptos" pitchFamily="34" charset="0"/>
                <a:ea typeface="Aptos" pitchFamily="34" charset="-122"/>
                <a:cs typeface="Aptos" pitchFamily="34" charset="-120"/>
              </a:rPr>
              <a:t>A learning loop, not a one-shot answer.</a:t>
            </a:r>
            <a:endParaRPr lang="en-US" sz="3550" dirty="0"/>
          </a:p>
        </p:txBody>
      </p:sp>
      <p:sp>
        <p:nvSpPr>
          <p:cNvPr id="6" name="Text 4"/>
          <p:cNvSpPr/>
          <p:nvPr/>
        </p:nvSpPr>
        <p:spPr>
          <a:xfrm>
            <a:off x="649224" y="1728216"/>
            <a:ext cx="10515600" cy="420624"/>
          </a:xfrm>
          <a:prstGeom prst="rect">
            <a:avLst/>
          </a:prstGeom>
          <a:noFill/>
          <a:ln/>
        </p:spPr>
        <p:txBody>
          <a:bodyPr wrap="square" lIns="0" tIns="0" rIns="0" bIns="0" rtlCol="0" anchor="ctr">
            <a:normAutofit/>
          </a:bodyPr>
          <a:lstStyle/>
          <a:p>
            <a:pPr indent="0" marL="0">
              <a:buNone/>
            </a:pPr>
            <a:r>
              <a:rPr lang="en-US" sz="1820" dirty="0">
                <a:solidFill>
                  <a:srgbClr val="AABAD2"/>
                </a:solidFill>
                <a:latin typeface="Aptos" pitchFamily="34" charset="0"/>
                <a:ea typeface="Aptos" pitchFamily="34" charset="-122"/>
                <a:cs typeface="Aptos" pitchFamily="34" charset="-120"/>
              </a:rPr>
              <a:t>One session. Five connected actions. Real feedback at each step.</a:t>
            </a:r>
            <a:endParaRPr lang="en-US" sz="1820" dirty="0"/>
          </a:p>
        </p:txBody>
      </p:sp>
      <p:sp>
        <p:nvSpPr>
          <p:cNvPr id="7" name="Shape 5"/>
          <p:cNvSpPr/>
          <p:nvPr/>
        </p:nvSpPr>
        <p:spPr>
          <a:xfrm>
            <a:off x="630936" y="2834640"/>
            <a:ext cx="2057400" cy="1810512"/>
          </a:xfrm>
          <a:prstGeom prst="roundRect">
            <a:avLst>
              <a:gd name="adj" fmla="val 7576"/>
            </a:avLst>
          </a:prstGeom>
          <a:solidFill>
            <a:srgbClr val="182B4C"/>
          </a:solidFill>
          <a:ln w="12700">
            <a:solidFill>
              <a:srgbClr val="182B4C">
                <a:alpha val="0"/>
              </a:srgbClr>
            </a:solidFill>
            <a:prstDash val="solid"/>
          </a:ln>
        </p:spPr>
      </p:sp>
      <p:sp>
        <p:nvSpPr>
          <p:cNvPr id="8" name="Shape 6"/>
          <p:cNvSpPr/>
          <p:nvPr/>
        </p:nvSpPr>
        <p:spPr>
          <a:xfrm>
            <a:off x="804672" y="3054096"/>
            <a:ext cx="484632" cy="484632"/>
          </a:xfrm>
          <a:prstGeom prst="ellipse">
            <a:avLst>
              <a:gd name="adj" fmla="val 28302"/>
            </a:avLst>
          </a:prstGeom>
          <a:solidFill>
            <a:srgbClr val="66DBC9"/>
          </a:solidFill>
          <a:ln w="12700">
            <a:solidFill>
              <a:srgbClr val="66DBC9">
                <a:alpha val="0"/>
              </a:srgbClr>
            </a:solidFill>
            <a:prstDash val="solid"/>
          </a:ln>
        </p:spPr>
      </p:sp>
      <p:sp>
        <p:nvSpPr>
          <p:cNvPr id="9" name="Text 7"/>
          <p:cNvSpPr/>
          <p:nvPr/>
        </p:nvSpPr>
        <p:spPr>
          <a:xfrm>
            <a:off x="914400" y="3163824"/>
            <a:ext cx="274320" cy="201168"/>
          </a:xfrm>
          <a:prstGeom prst="rect">
            <a:avLst/>
          </a:prstGeom>
          <a:noFill/>
          <a:ln/>
        </p:spPr>
        <p:txBody>
          <a:bodyPr wrap="square" lIns="0" tIns="0" rIns="0" bIns="0" rtlCol="0" anchor="ctr">
            <a:normAutofit/>
          </a:bodyPr>
          <a:lstStyle/>
          <a:p>
            <a:pPr algn="ctr" indent="0" marL="0">
              <a:buNone/>
            </a:pPr>
            <a:r>
              <a:rPr lang="en-US" sz="1070" b="1" dirty="0">
                <a:solidFill>
                  <a:srgbClr val="111B2F"/>
                </a:solidFill>
                <a:latin typeface="Aptos" pitchFamily="34" charset="0"/>
                <a:ea typeface="Aptos" pitchFamily="34" charset="-122"/>
                <a:cs typeface="Aptos" pitchFamily="34" charset="-120"/>
              </a:rPr>
              <a:t>01</a:t>
            </a:r>
            <a:endParaRPr lang="en-US" sz="1070" dirty="0"/>
          </a:p>
        </p:txBody>
      </p:sp>
      <p:sp>
        <p:nvSpPr>
          <p:cNvPr id="10" name="Text 8"/>
          <p:cNvSpPr/>
          <p:nvPr/>
        </p:nvSpPr>
        <p:spPr>
          <a:xfrm>
            <a:off x="786384" y="3675888"/>
            <a:ext cx="1792224" cy="256032"/>
          </a:xfrm>
          <a:prstGeom prst="rect">
            <a:avLst/>
          </a:prstGeom>
          <a:noFill/>
          <a:ln/>
        </p:spPr>
        <p:txBody>
          <a:bodyPr wrap="square" lIns="0" tIns="0" rIns="0" bIns="0" rtlCol="0" anchor="ctr">
            <a:normAutofit/>
          </a:bodyPr>
          <a:lstStyle/>
          <a:p>
            <a:pPr indent="0" marL="0">
              <a:buNone/>
            </a:pPr>
            <a:r>
              <a:rPr lang="en-US" sz="1570" b="1" spc="40" kern="0" dirty="0">
                <a:solidFill>
                  <a:srgbClr val="FFFFFF"/>
                </a:solidFill>
                <a:latin typeface="Aptos" pitchFamily="34" charset="0"/>
                <a:ea typeface="Aptos" pitchFamily="34" charset="-122"/>
                <a:cs typeface="Aptos" pitchFamily="34" charset="-120"/>
              </a:rPr>
              <a:t>PREDICT</a:t>
            </a:r>
            <a:endParaRPr lang="en-US" sz="1570" dirty="0"/>
          </a:p>
        </p:txBody>
      </p:sp>
      <p:sp>
        <p:nvSpPr>
          <p:cNvPr id="11" name="Text 9"/>
          <p:cNvSpPr/>
          <p:nvPr/>
        </p:nvSpPr>
        <p:spPr>
          <a:xfrm>
            <a:off x="786384" y="4096512"/>
            <a:ext cx="1801368" cy="374904"/>
          </a:xfrm>
          <a:prstGeom prst="rect">
            <a:avLst/>
          </a:prstGeom>
          <a:noFill/>
          <a:ln/>
        </p:spPr>
        <p:txBody>
          <a:bodyPr wrap="square" lIns="0" tIns="0" rIns="0" bIns="0" rtlCol="0" anchor="ctr">
            <a:normAutofit/>
          </a:bodyPr>
          <a:lstStyle/>
          <a:p>
            <a:pPr indent="0" marL="0">
              <a:buNone/>
            </a:pPr>
            <a:r>
              <a:rPr lang="en-US" sz="1350" dirty="0">
                <a:solidFill>
                  <a:srgbClr val="B3C0D6"/>
                </a:solidFill>
                <a:latin typeface="Aptos" pitchFamily="34" charset="0"/>
                <a:ea typeface="Aptos" pitchFamily="34" charset="-122"/>
                <a:cs typeface="Aptos" pitchFamily="34" charset="-120"/>
              </a:rPr>
              <a:t>What do you expect?</a:t>
            </a:r>
            <a:endParaRPr lang="en-US" sz="1350" dirty="0"/>
          </a:p>
        </p:txBody>
      </p:sp>
      <p:sp>
        <p:nvSpPr>
          <p:cNvPr id="12" name="Text 10"/>
          <p:cNvSpPr/>
          <p:nvPr/>
        </p:nvSpPr>
        <p:spPr>
          <a:xfrm>
            <a:off x="2700223" y="3639312"/>
            <a:ext cx="182880" cy="411480"/>
          </a:xfrm>
          <a:prstGeom prst="rect">
            <a:avLst/>
          </a:prstGeom>
          <a:noFill/>
          <a:ln/>
        </p:spPr>
        <p:txBody>
          <a:bodyPr wrap="square" lIns="0" tIns="0" rIns="0" bIns="0" rtlCol="0" anchor="ctr">
            <a:normAutofit/>
          </a:bodyPr>
          <a:lstStyle/>
          <a:p>
            <a:pPr algn="ctr" indent="0" marL="0">
              <a:buNone/>
            </a:pPr>
            <a:r>
              <a:rPr lang="en-US" sz="2600" b="1" dirty="0">
                <a:solidFill>
                  <a:srgbClr val="FFC94F"/>
                </a:solidFill>
                <a:latin typeface="Aptos" pitchFamily="34" charset="0"/>
                <a:ea typeface="Aptos" pitchFamily="34" charset="-122"/>
                <a:cs typeface="Aptos" pitchFamily="34" charset="-120"/>
              </a:rPr>
              <a:t>›</a:t>
            </a:r>
            <a:endParaRPr lang="en-US" sz="2600" dirty="0"/>
          </a:p>
        </p:txBody>
      </p:sp>
      <p:sp>
        <p:nvSpPr>
          <p:cNvPr id="13" name="Shape 11"/>
          <p:cNvSpPr/>
          <p:nvPr/>
        </p:nvSpPr>
        <p:spPr>
          <a:xfrm>
            <a:off x="2834640" y="2834640"/>
            <a:ext cx="2057400" cy="1810512"/>
          </a:xfrm>
          <a:prstGeom prst="roundRect">
            <a:avLst>
              <a:gd name="adj" fmla="val 7576"/>
            </a:avLst>
          </a:prstGeom>
          <a:solidFill>
            <a:srgbClr val="182B4C"/>
          </a:solidFill>
          <a:ln w="12700">
            <a:solidFill>
              <a:srgbClr val="182B4C">
                <a:alpha val="0"/>
              </a:srgbClr>
            </a:solidFill>
            <a:prstDash val="solid"/>
          </a:ln>
        </p:spPr>
      </p:sp>
      <p:sp>
        <p:nvSpPr>
          <p:cNvPr id="14" name="Shape 12"/>
          <p:cNvSpPr/>
          <p:nvPr/>
        </p:nvSpPr>
        <p:spPr>
          <a:xfrm>
            <a:off x="3008376" y="3054096"/>
            <a:ext cx="484632" cy="484632"/>
          </a:xfrm>
          <a:prstGeom prst="ellipse">
            <a:avLst>
              <a:gd name="adj" fmla="val 28302"/>
            </a:avLst>
          </a:prstGeom>
          <a:solidFill>
            <a:srgbClr val="66DBC9"/>
          </a:solidFill>
          <a:ln w="12700">
            <a:solidFill>
              <a:srgbClr val="66DBC9">
                <a:alpha val="0"/>
              </a:srgbClr>
            </a:solidFill>
            <a:prstDash val="solid"/>
          </a:ln>
        </p:spPr>
      </p:sp>
      <p:sp>
        <p:nvSpPr>
          <p:cNvPr id="15" name="Text 13"/>
          <p:cNvSpPr/>
          <p:nvPr/>
        </p:nvSpPr>
        <p:spPr>
          <a:xfrm>
            <a:off x="3118104" y="3163824"/>
            <a:ext cx="274320" cy="201168"/>
          </a:xfrm>
          <a:prstGeom prst="rect">
            <a:avLst/>
          </a:prstGeom>
          <a:noFill/>
          <a:ln/>
        </p:spPr>
        <p:txBody>
          <a:bodyPr wrap="square" lIns="0" tIns="0" rIns="0" bIns="0" rtlCol="0" anchor="ctr">
            <a:normAutofit/>
          </a:bodyPr>
          <a:lstStyle/>
          <a:p>
            <a:pPr algn="ctr" indent="0" marL="0">
              <a:buNone/>
            </a:pPr>
            <a:r>
              <a:rPr lang="en-US" sz="1070" b="1" dirty="0">
                <a:solidFill>
                  <a:srgbClr val="111B2F"/>
                </a:solidFill>
                <a:latin typeface="Aptos" pitchFamily="34" charset="0"/>
                <a:ea typeface="Aptos" pitchFamily="34" charset="-122"/>
                <a:cs typeface="Aptos" pitchFamily="34" charset="-120"/>
              </a:rPr>
              <a:t>02</a:t>
            </a:r>
            <a:endParaRPr lang="en-US" sz="1070" dirty="0"/>
          </a:p>
        </p:txBody>
      </p:sp>
      <p:sp>
        <p:nvSpPr>
          <p:cNvPr id="16" name="Text 14"/>
          <p:cNvSpPr/>
          <p:nvPr/>
        </p:nvSpPr>
        <p:spPr>
          <a:xfrm>
            <a:off x="2990088" y="3675888"/>
            <a:ext cx="1792224" cy="256032"/>
          </a:xfrm>
          <a:prstGeom prst="rect">
            <a:avLst/>
          </a:prstGeom>
          <a:noFill/>
          <a:ln/>
        </p:spPr>
        <p:txBody>
          <a:bodyPr wrap="square" lIns="0" tIns="0" rIns="0" bIns="0" rtlCol="0" anchor="ctr">
            <a:normAutofit/>
          </a:bodyPr>
          <a:lstStyle/>
          <a:p>
            <a:pPr indent="0" marL="0">
              <a:buNone/>
            </a:pPr>
            <a:r>
              <a:rPr lang="en-US" sz="1570" b="1" spc="40" kern="0" dirty="0">
                <a:solidFill>
                  <a:srgbClr val="FFFFFF"/>
                </a:solidFill>
                <a:latin typeface="Aptos" pitchFamily="34" charset="0"/>
                <a:ea typeface="Aptos" pitchFamily="34" charset="-122"/>
                <a:cs typeface="Aptos" pitchFamily="34" charset="-120"/>
              </a:rPr>
              <a:t>CALIBRATE</a:t>
            </a:r>
            <a:endParaRPr lang="en-US" sz="1570" dirty="0"/>
          </a:p>
        </p:txBody>
      </p:sp>
      <p:sp>
        <p:nvSpPr>
          <p:cNvPr id="17" name="Text 15"/>
          <p:cNvSpPr/>
          <p:nvPr/>
        </p:nvSpPr>
        <p:spPr>
          <a:xfrm>
            <a:off x="2990088" y="4096512"/>
            <a:ext cx="1801368" cy="374904"/>
          </a:xfrm>
          <a:prstGeom prst="rect">
            <a:avLst/>
          </a:prstGeom>
          <a:noFill/>
          <a:ln/>
        </p:spPr>
        <p:txBody>
          <a:bodyPr wrap="square" lIns="0" tIns="0" rIns="0" bIns="0" rtlCol="0" anchor="ctr">
            <a:normAutofit/>
          </a:bodyPr>
          <a:lstStyle/>
          <a:p>
            <a:pPr indent="0" marL="0">
              <a:buNone/>
            </a:pPr>
            <a:r>
              <a:rPr lang="en-US" sz="1350" dirty="0">
                <a:solidFill>
                  <a:srgbClr val="B3C0D6"/>
                </a:solidFill>
                <a:latin typeface="Aptos" pitchFamily="34" charset="0"/>
                <a:ea typeface="Aptos" pitchFamily="34" charset="-122"/>
                <a:cs typeface="Aptos" pitchFamily="34" charset="-120"/>
              </a:rPr>
              <a:t>How sure are you?</a:t>
            </a:r>
            <a:endParaRPr lang="en-US" sz="1350" dirty="0"/>
          </a:p>
        </p:txBody>
      </p:sp>
      <p:sp>
        <p:nvSpPr>
          <p:cNvPr id="18" name="Text 16"/>
          <p:cNvSpPr/>
          <p:nvPr/>
        </p:nvSpPr>
        <p:spPr>
          <a:xfrm>
            <a:off x="4903927" y="3639312"/>
            <a:ext cx="182880" cy="411480"/>
          </a:xfrm>
          <a:prstGeom prst="rect">
            <a:avLst/>
          </a:prstGeom>
          <a:noFill/>
          <a:ln/>
        </p:spPr>
        <p:txBody>
          <a:bodyPr wrap="square" lIns="0" tIns="0" rIns="0" bIns="0" rtlCol="0" anchor="ctr">
            <a:normAutofit/>
          </a:bodyPr>
          <a:lstStyle/>
          <a:p>
            <a:pPr algn="ctr" indent="0" marL="0">
              <a:buNone/>
            </a:pPr>
            <a:r>
              <a:rPr lang="en-US" sz="2600" b="1" dirty="0">
                <a:solidFill>
                  <a:srgbClr val="FFC94F"/>
                </a:solidFill>
                <a:latin typeface="Aptos" pitchFamily="34" charset="0"/>
                <a:ea typeface="Aptos" pitchFamily="34" charset="-122"/>
                <a:cs typeface="Aptos" pitchFamily="34" charset="-120"/>
              </a:rPr>
              <a:t>›</a:t>
            </a:r>
            <a:endParaRPr lang="en-US" sz="2600" dirty="0"/>
          </a:p>
        </p:txBody>
      </p:sp>
      <p:sp>
        <p:nvSpPr>
          <p:cNvPr id="19" name="Shape 17"/>
          <p:cNvSpPr/>
          <p:nvPr/>
        </p:nvSpPr>
        <p:spPr>
          <a:xfrm>
            <a:off x="5038344" y="2834640"/>
            <a:ext cx="2057400" cy="1810512"/>
          </a:xfrm>
          <a:prstGeom prst="roundRect">
            <a:avLst>
              <a:gd name="adj" fmla="val 7576"/>
            </a:avLst>
          </a:prstGeom>
          <a:solidFill>
            <a:srgbClr val="182B4C"/>
          </a:solidFill>
          <a:ln w="12700">
            <a:solidFill>
              <a:srgbClr val="182B4C">
                <a:alpha val="0"/>
              </a:srgbClr>
            </a:solidFill>
            <a:prstDash val="solid"/>
          </a:ln>
        </p:spPr>
      </p:sp>
      <p:sp>
        <p:nvSpPr>
          <p:cNvPr id="20" name="Shape 18"/>
          <p:cNvSpPr/>
          <p:nvPr/>
        </p:nvSpPr>
        <p:spPr>
          <a:xfrm>
            <a:off x="5212080" y="3054096"/>
            <a:ext cx="484632" cy="484632"/>
          </a:xfrm>
          <a:prstGeom prst="ellipse">
            <a:avLst>
              <a:gd name="adj" fmla="val 28302"/>
            </a:avLst>
          </a:prstGeom>
          <a:solidFill>
            <a:srgbClr val="FFC94F"/>
          </a:solidFill>
          <a:ln w="12700">
            <a:solidFill>
              <a:srgbClr val="FFC94F">
                <a:alpha val="0"/>
              </a:srgbClr>
            </a:solidFill>
            <a:prstDash val="solid"/>
          </a:ln>
        </p:spPr>
      </p:sp>
      <p:sp>
        <p:nvSpPr>
          <p:cNvPr id="21" name="Text 19"/>
          <p:cNvSpPr/>
          <p:nvPr/>
        </p:nvSpPr>
        <p:spPr>
          <a:xfrm>
            <a:off x="5321808" y="3163824"/>
            <a:ext cx="274320" cy="201168"/>
          </a:xfrm>
          <a:prstGeom prst="rect">
            <a:avLst/>
          </a:prstGeom>
          <a:noFill/>
          <a:ln/>
        </p:spPr>
        <p:txBody>
          <a:bodyPr wrap="square" lIns="0" tIns="0" rIns="0" bIns="0" rtlCol="0" anchor="ctr">
            <a:normAutofit/>
          </a:bodyPr>
          <a:lstStyle/>
          <a:p>
            <a:pPr algn="ctr" indent="0" marL="0">
              <a:buNone/>
            </a:pPr>
            <a:r>
              <a:rPr lang="en-US" sz="1070" b="1" dirty="0">
                <a:solidFill>
                  <a:srgbClr val="111B2F"/>
                </a:solidFill>
                <a:latin typeface="Aptos" pitchFamily="34" charset="0"/>
                <a:ea typeface="Aptos" pitchFamily="34" charset="-122"/>
                <a:cs typeface="Aptos" pitchFamily="34" charset="-120"/>
              </a:rPr>
              <a:t>03</a:t>
            </a:r>
            <a:endParaRPr lang="en-US" sz="1070" dirty="0"/>
          </a:p>
        </p:txBody>
      </p:sp>
      <p:sp>
        <p:nvSpPr>
          <p:cNvPr id="22" name="Text 20"/>
          <p:cNvSpPr/>
          <p:nvPr/>
        </p:nvSpPr>
        <p:spPr>
          <a:xfrm>
            <a:off x="5193792" y="3675888"/>
            <a:ext cx="1792224" cy="256032"/>
          </a:xfrm>
          <a:prstGeom prst="rect">
            <a:avLst/>
          </a:prstGeom>
          <a:noFill/>
          <a:ln/>
        </p:spPr>
        <p:txBody>
          <a:bodyPr wrap="square" lIns="0" tIns="0" rIns="0" bIns="0" rtlCol="0" anchor="ctr">
            <a:normAutofit/>
          </a:bodyPr>
          <a:lstStyle/>
          <a:p>
            <a:pPr indent="0" marL="0">
              <a:buNone/>
            </a:pPr>
            <a:r>
              <a:rPr lang="en-US" sz="1570" b="1" spc="40" kern="0" dirty="0">
                <a:solidFill>
                  <a:srgbClr val="FFFFFF"/>
                </a:solidFill>
                <a:latin typeface="Aptos" pitchFamily="34" charset="0"/>
                <a:ea typeface="Aptos" pitchFamily="34" charset="-122"/>
                <a:cs typeface="Aptos" pitchFamily="34" charset="-120"/>
              </a:rPr>
              <a:t>PROBE</a:t>
            </a:r>
            <a:endParaRPr lang="en-US" sz="1570" dirty="0"/>
          </a:p>
        </p:txBody>
      </p:sp>
      <p:sp>
        <p:nvSpPr>
          <p:cNvPr id="23" name="Text 21"/>
          <p:cNvSpPr/>
          <p:nvPr/>
        </p:nvSpPr>
        <p:spPr>
          <a:xfrm>
            <a:off x="5193792" y="4096512"/>
            <a:ext cx="1801368" cy="374904"/>
          </a:xfrm>
          <a:prstGeom prst="rect">
            <a:avLst/>
          </a:prstGeom>
          <a:noFill/>
          <a:ln/>
        </p:spPr>
        <p:txBody>
          <a:bodyPr wrap="square" lIns="0" tIns="0" rIns="0" bIns="0" rtlCol="0" anchor="ctr">
            <a:normAutofit/>
          </a:bodyPr>
          <a:lstStyle/>
          <a:p>
            <a:pPr indent="0" marL="0">
              <a:buNone/>
            </a:pPr>
            <a:r>
              <a:rPr lang="en-US" sz="1350" dirty="0">
                <a:solidFill>
                  <a:srgbClr val="B3C0D6"/>
                </a:solidFill>
                <a:latin typeface="Aptos" pitchFamily="34" charset="0"/>
                <a:ea typeface="Aptos" pitchFamily="34" charset="-122"/>
                <a:cs typeface="Aptos" pitchFamily="34" charset="-120"/>
              </a:rPr>
              <a:t>What does evidence say?</a:t>
            </a:r>
            <a:endParaRPr lang="en-US" sz="1350" dirty="0"/>
          </a:p>
        </p:txBody>
      </p:sp>
      <p:sp>
        <p:nvSpPr>
          <p:cNvPr id="24" name="Text 22"/>
          <p:cNvSpPr/>
          <p:nvPr/>
        </p:nvSpPr>
        <p:spPr>
          <a:xfrm>
            <a:off x="7107631" y="3639312"/>
            <a:ext cx="182880" cy="411480"/>
          </a:xfrm>
          <a:prstGeom prst="rect">
            <a:avLst/>
          </a:prstGeom>
          <a:noFill/>
          <a:ln/>
        </p:spPr>
        <p:txBody>
          <a:bodyPr wrap="square" lIns="0" tIns="0" rIns="0" bIns="0" rtlCol="0" anchor="ctr">
            <a:normAutofit/>
          </a:bodyPr>
          <a:lstStyle/>
          <a:p>
            <a:pPr algn="ctr" indent="0" marL="0">
              <a:buNone/>
            </a:pPr>
            <a:r>
              <a:rPr lang="en-US" sz="2600" b="1" dirty="0">
                <a:solidFill>
                  <a:srgbClr val="FFC94F"/>
                </a:solidFill>
                <a:latin typeface="Aptos" pitchFamily="34" charset="0"/>
                <a:ea typeface="Aptos" pitchFamily="34" charset="-122"/>
                <a:cs typeface="Aptos" pitchFamily="34" charset="-120"/>
              </a:rPr>
              <a:t>›</a:t>
            </a:r>
            <a:endParaRPr lang="en-US" sz="2600" dirty="0"/>
          </a:p>
        </p:txBody>
      </p:sp>
      <p:sp>
        <p:nvSpPr>
          <p:cNvPr id="25" name="Shape 23"/>
          <p:cNvSpPr/>
          <p:nvPr/>
        </p:nvSpPr>
        <p:spPr>
          <a:xfrm>
            <a:off x="7242048" y="2834640"/>
            <a:ext cx="2057400" cy="1810512"/>
          </a:xfrm>
          <a:prstGeom prst="roundRect">
            <a:avLst>
              <a:gd name="adj" fmla="val 7576"/>
            </a:avLst>
          </a:prstGeom>
          <a:solidFill>
            <a:srgbClr val="182B4C"/>
          </a:solidFill>
          <a:ln w="12700">
            <a:solidFill>
              <a:srgbClr val="182B4C">
                <a:alpha val="0"/>
              </a:srgbClr>
            </a:solidFill>
            <a:prstDash val="solid"/>
          </a:ln>
        </p:spPr>
      </p:sp>
      <p:sp>
        <p:nvSpPr>
          <p:cNvPr id="26" name="Shape 24"/>
          <p:cNvSpPr/>
          <p:nvPr/>
        </p:nvSpPr>
        <p:spPr>
          <a:xfrm>
            <a:off x="7415784" y="3054096"/>
            <a:ext cx="484632" cy="484632"/>
          </a:xfrm>
          <a:prstGeom prst="ellipse">
            <a:avLst>
              <a:gd name="adj" fmla="val 28302"/>
            </a:avLst>
          </a:prstGeom>
          <a:solidFill>
            <a:srgbClr val="66DBC9"/>
          </a:solidFill>
          <a:ln w="12700">
            <a:solidFill>
              <a:srgbClr val="66DBC9">
                <a:alpha val="0"/>
              </a:srgbClr>
            </a:solidFill>
            <a:prstDash val="solid"/>
          </a:ln>
        </p:spPr>
      </p:sp>
      <p:sp>
        <p:nvSpPr>
          <p:cNvPr id="27" name="Text 25"/>
          <p:cNvSpPr/>
          <p:nvPr/>
        </p:nvSpPr>
        <p:spPr>
          <a:xfrm>
            <a:off x="7525512" y="3163824"/>
            <a:ext cx="274320" cy="201168"/>
          </a:xfrm>
          <a:prstGeom prst="rect">
            <a:avLst/>
          </a:prstGeom>
          <a:noFill/>
          <a:ln/>
        </p:spPr>
        <p:txBody>
          <a:bodyPr wrap="square" lIns="0" tIns="0" rIns="0" bIns="0" rtlCol="0" anchor="ctr">
            <a:normAutofit/>
          </a:bodyPr>
          <a:lstStyle/>
          <a:p>
            <a:pPr algn="ctr" indent="0" marL="0">
              <a:buNone/>
            </a:pPr>
            <a:r>
              <a:rPr lang="en-US" sz="1070" b="1" dirty="0">
                <a:solidFill>
                  <a:srgbClr val="111B2F"/>
                </a:solidFill>
                <a:latin typeface="Aptos" pitchFamily="34" charset="0"/>
                <a:ea typeface="Aptos" pitchFamily="34" charset="-122"/>
                <a:cs typeface="Aptos" pitchFamily="34" charset="-120"/>
              </a:rPr>
              <a:t>04</a:t>
            </a:r>
            <a:endParaRPr lang="en-US" sz="1070" dirty="0"/>
          </a:p>
        </p:txBody>
      </p:sp>
      <p:sp>
        <p:nvSpPr>
          <p:cNvPr id="28" name="Text 26"/>
          <p:cNvSpPr/>
          <p:nvPr/>
        </p:nvSpPr>
        <p:spPr>
          <a:xfrm>
            <a:off x="7397496" y="3675888"/>
            <a:ext cx="1792224" cy="256032"/>
          </a:xfrm>
          <a:prstGeom prst="rect">
            <a:avLst/>
          </a:prstGeom>
          <a:noFill/>
          <a:ln/>
        </p:spPr>
        <p:txBody>
          <a:bodyPr wrap="square" lIns="0" tIns="0" rIns="0" bIns="0" rtlCol="0" anchor="ctr">
            <a:normAutofit/>
          </a:bodyPr>
          <a:lstStyle/>
          <a:p>
            <a:pPr indent="0" marL="0">
              <a:buNone/>
            </a:pPr>
            <a:r>
              <a:rPr lang="en-US" sz="1570" b="1" spc="40" kern="0" dirty="0">
                <a:solidFill>
                  <a:srgbClr val="FFFFFF"/>
                </a:solidFill>
                <a:latin typeface="Aptos" pitchFamily="34" charset="0"/>
                <a:ea typeface="Aptos" pitchFamily="34" charset="-122"/>
                <a:cs typeface="Aptos" pitchFamily="34" charset="-120"/>
              </a:rPr>
              <a:t>VERIFY</a:t>
            </a:r>
            <a:endParaRPr lang="en-US" sz="1570" dirty="0"/>
          </a:p>
        </p:txBody>
      </p:sp>
      <p:sp>
        <p:nvSpPr>
          <p:cNvPr id="29" name="Text 27"/>
          <p:cNvSpPr/>
          <p:nvPr/>
        </p:nvSpPr>
        <p:spPr>
          <a:xfrm>
            <a:off x="7397496" y="4096512"/>
            <a:ext cx="1801368" cy="374904"/>
          </a:xfrm>
          <a:prstGeom prst="rect">
            <a:avLst/>
          </a:prstGeom>
          <a:noFill/>
          <a:ln/>
        </p:spPr>
        <p:txBody>
          <a:bodyPr wrap="square" lIns="0" tIns="0" rIns="0" bIns="0" rtlCol="0" anchor="ctr">
            <a:normAutofit/>
          </a:bodyPr>
          <a:lstStyle/>
          <a:p>
            <a:pPr indent="0" marL="0">
              <a:buNone/>
            </a:pPr>
            <a:r>
              <a:rPr lang="en-US" sz="1350" dirty="0">
                <a:solidFill>
                  <a:srgbClr val="B3C0D6"/>
                </a:solidFill>
                <a:latin typeface="Aptos" pitchFamily="34" charset="0"/>
                <a:ea typeface="Aptos" pitchFamily="34" charset="-122"/>
                <a:cs typeface="Aptos" pitchFamily="34" charset="-120"/>
              </a:rPr>
              <a:t>Does your fix hold?</a:t>
            </a:r>
            <a:endParaRPr lang="en-US" sz="1350" dirty="0"/>
          </a:p>
        </p:txBody>
      </p:sp>
      <p:sp>
        <p:nvSpPr>
          <p:cNvPr id="30" name="Text 28"/>
          <p:cNvSpPr/>
          <p:nvPr/>
        </p:nvSpPr>
        <p:spPr>
          <a:xfrm>
            <a:off x="9311335" y="3639312"/>
            <a:ext cx="182880" cy="411480"/>
          </a:xfrm>
          <a:prstGeom prst="rect">
            <a:avLst/>
          </a:prstGeom>
          <a:noFill/>
          <a:ln/>
        </p:spPr>
        <p:txBody>
          <a:bodyPr wrap="square" lIns="0" tIns="0" rIns="0" bIns="0" rtlCol="0" anchor="ctr">
            <a:normAutofit/>
          </a:bodyPr>
          <a:lstStyle/>
          <a:p>
            <a:pPr algn="ctr" indent="0" marL="0">
              <a:buNone/>
            </a:pPr>
            <a:r>
              <a:rPr lang="en-US" sz="2600" b="1" dirty="0">
                <a:solidFill>
                  <a:srgbClr val="FFC94F"/>
                </a:solidFill>
                <a:latin typeface="Aptos" pitchFamily="34" charset="0"/>
                <a:ea typeface="Aptos" pitchFamily="34" charset="-122"/>
                <a:cs typeface="Aptos" pitchFamily="34" charset="-120"/>
              </a:rPr>
              <a:t>›</a:t>
            </a:r>
            <a:endParaRPr lang="en-US" sz="2600" dirty="0"/>
          </a:p>
        </p:txBody>
      </p:sp>
      <p:sp>
        <p:nvSpPr>
          <p:cNvPr id="31" name="Shape 29"/>
          <p:cNvSpPr/>
          <p:nvPr/>
        </p:nvSpPr>
        <p:spPr>
          <a:xfrm>
            <a:off x="9445752" y="2834640"/>
            <a:ext cx="2057400" cy="1810512"/>
          </a:xfrm>
          <a:prstGeom prst="roundRect">
            <a:avLst>
              <a:gd name="adj" fmla="val 7576"/>
            </a:avLst>
          </a:prstGeom>
          <a:solidFill>
            <a:srgbClr val="182B4C"/>
          </a:solidFill>
          <a:ln w="12700">
            <a:solidFill>
              <a:srgbClr val="182B4C">
                <a:alpha val="0"/>
              </a:srgbClr>
            </a:solidFill>
            <a:prstDash val="solid"/>
          </a:ln>
        </p:spPr>
      </p:sp>
      <p:sp>
        <p:nvSpPr>
          <p:cNvPr id="32" name="Shape 30"/>
          <p:cNvSpPr/>
          <p:nvPr/>
        </p:nvSpPr>
        <p:spPr>
          <a:xfrm>
            <a:off x="9619488" y="3054096"/>
            <a:ext cx="484632" cy="484632"/>
          </a:xfrm>
          <a:prstGeom prst="ellipse">
            <a:avLst>
              <a:gd name="adj" fmla="val 28302"/>
            </a:avLst>
          </a:prstGeom>
          <a:solidFill>
            <a:srgbClr val="66DBC9"/>
          </a:solidFill>
          <a:ln w="12700">
            <a:solidFill>
              <a:srgbClr val="66DBC9">
                <a:alpha val="0"/>
              </a:srgbClr>
            </a:solidFill>
            <a:prstDash val="solid"/>
          </a:ln>
        </p:spPr>
      </p:sp>
      <p:sp>
        <p:nvSpPr>
          <p:cNvPr id="33" name="Text 31"/>
          <p:cNvSpPr/>
          <p:nvPr/>
        </p:nvSpPr>
        <p:spPr>
          <a:xfrm>
            <a:off x="9729216" y="3163824"/>
            <a:ext cx="274320" cy="201168"/>
          </a:xfrm>
          <a:prstGeom prst="rect">
            <a:avLst/>
          </a:prstGeom>
          <a:noFill/>
          <a:ln/>
        </p:spPr>
        <p:txBody>
          <a:bodyPr wrap="square" lIns="0" tIns="0" rIns="0" bIns="0" rtlCol="0" anchor="ctr">
            <a:normAutofit/>
          </a:bodyPr>
          <a:lstStyle/>
          <a:p>
            <a:pPr algn="ctr" indent="0" marL="0">
              <a:buNone/>
            </a:pPr>
            <a:r>
              <a:rPr lang="en-US" sz="1070" b="1" dirty="0">
                <a:solidFill>
                  <a:srgbClr val="111B2F"/>
                </a:solidFill>
                <a:latin typeface="Aptos" pitchFamily="34" charset="0"/>
                <a:ea typeface="Aptos" pitchFamily="34" charset="-122"/>
                <a:cs typeface="Aptos" pitchFamily="34" charset="-120"/>
              </a:rPr>
              <a:t>05</a:t>
            </a:r>
            <a:endParaRPr lang="en-US" sz="1070" dirty="0"/>
          </a:p>
        </p:txBody>
      </p:sp>
      <p:sp>
        <p:nvSpPr>
          <p:cNvPr id="34" name="Text 32"/>
          <p:cNvSpPr/>
          <p:nvPr/>
        </p:nvSpPr>
        <p:spPr>
          <a:xfrm>
            <a:off x="9601200" y="3675888"/>
            <a:ext cx="1792224" cy="256032"/>
          </a:xfrm>
          <a:prstGeom prst="rect">
            <a:avLst/>
          </a:prstGeom>
          <a:noFill/>
          <a:ln/>
        </p:spPr>
        <p:txBody>
          <a:bodyPr wrap="square" lIns="0" tIns="0" rIns="0" bIns="0" rtlCol="0" anchor="ctr">
            <a:normAutofit/>
          </a:bodyPr>
          <a:lstStyle/>
          <a:p>
            <a:pPr indent="0" marL="0">
              <a:buNone/>
            </a:pPr>
            <a:r>
              <a:rPr lang="en-US" sz="1570" b="1" spc="40" kern="0" dirty="0">
                <a:solidFill>
                  <a:srgbClr val="FFFFFF"/>
                </a:solidFill>
                <a:latin typeface="Aptos" pitchFamily="34" charset="0"/>
                <a:ea typeface="Aptos" pitchFamily="34" charset="-122"/>
                <a:cs typeface="Aptos" pitchFamily="34" charset="-120"/>
              </a:rPr>
              <a:t>REMEMBER</a:t>
            </a:r>
            <a:endParaRPr lang="en-US" sz="1570" dirty="0"/>
          </a:p>
        </p:txBody>
      </p:sp>
      <p:sp>
        <p:nvSpPr>
          <p:cNvPr id="35" name="Text 33"/>
          <p:cNvSpPr/>
          <p:nvPr/>
        </p:nvSpPr>
        <p:spPr>
          <a:xfrm>
            <a:off x="9601200" y="4096512"/>
            <a:ext cx="1801368" cy="374904"/>
          </a:xfrm>
          <a:prstGeom prst="rect">
            <a:avLst/>
          </a:prstGeom>
          <a:noFill/>
          <a:ln/>
        </p:spPr>
        <p:txBody>
          <a:bodyPr wrap="square" lIns="0" tIns="0" rIns="0" bIns="0" rtlCol="0" anchor="ctr">
            <a:normAutofit/>
          </a:bodyPr>
          <a:lstStyle/>
          <a:p>
            <a:pPr indent="0" marL="0">
              <a:buNone/>
            </a:pPr>
            <a:r>
              <a:rPr lang="en-US" sz="1350" dirty="0">
                <a:solidFill>
                  <a:srgbClr val="B3C0D6"/>
                </a:solidFill>
                <a:latin typeface="Aptos" pitchFamily="34" charset="0"/>
                <a:ea typeface="Aptos" pitchFamily="34" charset="-122"/>
                <a:cs typeface="Aptos" pitchFamily="34" charset="-120"/>
              </a:rPr>
              <a:t>What did you learn?</a:t>
            </a:r>
            <a:endParaRPr lang="en-US" sz="1350" dirty="0"/>
          </a:p>
        </p:txBody>
      </p:sp>
      <p:sp>
        <p:nvSpPr>
          <p:cNvPr id="36" name="Shape 34"/>
          <p:cNvSpPr/>
          <p:nvPr/>
        </p:nvSpPr>
        <p:spPr>
          <a:xfrm>
            <a:off x="640080" y="5093208"/>
            <a:ext cx="5330952" cy="694944"/>
          </a:xfrm>
          <a:prstGeom prst="roundRect">
            <a:avLst>
              <a:gd name="adj" fmla="val 19737"/>
            </a:avLst>
          </a:prstGeom>
          <a:solidFill>
            <a:srgbClr val="223658"/>
          </a:solidFill>
          <a:ln w="12700">
            <a:solidFill>
              <a:srgbClr val="223658">
                <a:alpha val="0"/>
              </a:srgbClr>
            </a:solidFill>
            <a:prstDash val="solid"/>
          </a:ln>
        </p:spPr>
      </p:sp>
      <p:sp>
        <p:nvSpPr>
          <p:cNvPr id="37" name="Shape 35"/>
          <p:cNvSpPr/>
          <p:nvPr/>
        </p:nvSpPr>
        <p:spPr>
          <a:xfrm>
            <a:off x="6089904" y="5093208"/>
            <a:ext cx="5431536" cy="694944"/>
          </a:xfrm>
          <a:prstGeom prst="roundRect">
            <a:avLst>
              <a:gd name="adj" fmla="val 19737"/>
            </a:avLst>
          </a:prstGeom>
          <a:solidFill>
            <a:srgbClr val="223658"/>
          </a:solidFill>
          <a:ln w="12700">
            <a:solidFill>
              <a:srgbClr val="223658">
                <a:alpha val="0"/>
              </a:srgbClr>
            </a:solidFill>
            <a:prstDash val="solid"/>
          </a:ln>
        </p:spPr>
      </p:sp>
      <p:sp>
        <p:nvSpPr>
          <p:cNvPr id="38" name="Text 36"/>
          <p:cNvSpPr/>
          <p:nvPr/>
        </p:nvSpPr>
        <p:spPr>
          <a:xfrm>
            <a:off x="886968" y="5303520"/>
            <a:ext cx="4809744" cy="228600"/>
          </a:xfrm>
          <a:prstGeom prst="rect">
            <a:avLst/>
          </a:prstGeom>
          <a:noFill/>
          <a:ln/>
        </p:spPr>
        <p:txBody>
          <a:bodyPr wrap="square" lIns="0" tIns="0" rIns="0" bIns="0" rtlCol="0" anchor="ctr">
            <a:normAutofit/>
          </a:bodyPr>
          <a:lstStyle/>
          <a:p>
            <a:pPr indent="0" marL="0">
              <a:buNone/>
            </a:pPr>
            <a:r>
              <a:rPr lang="en-US" sz="1310" b="1" spc="80" kern="0" dirty="0">
                <a:solidFill>
                  <a:srgbClr val="66DBC9"/>
                </a:solidFill>
                <a:latin typeface="Aptos" pitchFamily="34" charset="0"/>
                <a:ea typeface="Aptos" pitchFamily="34" charset="-122"/>
                <a:cs typeface="Aptos" pitchFamily="34" charset="-120"/>
              </a:rPr>
              <a:t>CONFIDENCE CHANGES THE NEXT HINT</a:t>
            </a:r>
            <a:endParaRPr lang="en-US" sz="1310" dirty="0"/>
          </a:p>
        </p:txBody>
      </p:sp>
      <p:sp>
        <p:nvSpPr>
          <p:cNvPr id="39" name="Text 37"/>
          <p:cNvSpPr/>
          <p:nvPr/>
        </p:nvSpPr>
        <p:spPr>
          <a:xfrm>
            <a:off x="6336792" y="5303520"/>
            <a:ext cx="4956048" cy="228600"/>
          </a:xfrm>
          <a:prstGeom prst="rect">
            <a:avLst/>
          </a:prstGeom>
          <a:noFill/>
          <a:ln/>
        </p:spPr>
        <p:txBody>
          <a:bodyPr wrap="square" lIns="0" tIns="0" rIns="0" bIns="0" rtlCol="0" anchor="ctr">
            <a:normAutofit/>
          </a:bodyPr>
          <a:lstStyle/>
          <a:p>
            <a:pPr indent="0" marL="0">
              <a:buNone/>
            </a:pPr>
            <a:r>
              <a:rPr lang="en-US" sz="1300" b="1" spc="50" kern="0" dirty="0">
                <a:solidFill>
                  <a:srgbClr val="FFC94F"/>
                </a:solidFill>
                <a:latin typeface="Aptos" pitchFamily="34" charset="0"/>
                <a:ea typeface="Aptos" pitchFamily="34" charset="-122"/>
                <a:cs typeface="Aptos" pitchFamily="34" charset="-120"/>
              </a:rPr>
              <a:t>TESTS + COUNTEREXAMPLES CHECK THE FIX</a:t>
            </a:r>
            <a:endParaRPr lang="en-US" sz="1300" dirty="0"/>
          </a:p>
        </p:txBody>
      </p:sp>
      <p:sp>
        <p:nvSpPr>
          <p:cNvPr id="40" name="Text 38"/>
          <p:cNvSpPr/>
          <p:nvPr/>
        </p:nvSpPr>
        <p:spPr>
          <a:xfrm>
            <a:off x="621792" y="6519672"/>
            <a:ext cx="4937760" cy="164592"/>
          </a:xfrm>
          <a:prstGeom prst="rect">
            <a:avLst/>
          </a:prstGeom>
          <a:noFill/>
          <a:ln/>
        </p:spPr>
        <p:txBody>
          <a:bodyPr wrap="square" lIns="0" tIns="0" rIns="0" bIns="0" rtlCol="0" anchor="ctr">
            <a:normAutofit/>
          </a:bodyPr>
          <a:lstStyle/>
          <a:p>
            <a:pPr indent="0" marL="0">
              <a:buNone/>
            </a:pPr>
            <a:r>
              <a:rPr lang="en-US" sz="880" b="1" spc="100" kern="0" dirty="0">
                <a:solidFill>
                  <a:srgbClr val="788BA8"/>
                </a:solidFill>
                <a:latin typeface="Aptos" pitchFamily="34" charset="0"/>
                <a:ea typeface="Aptos" pitchFamily="34" charset="-122"/>
                <a:cs typeface="Aptos" pitchFamily="34" charset="-120"/>
              </a:rPr>
              <a:t>DUCKTOBERFEST 2026  •  TEAM NEURALFORGE</a:t>
            </a:r>
            <a:endParaRPr lang="en-US" sz="880" dirty="0"/>
          </a:p>
        </p:txBody>
      </p:sp>
      <p:sp>
        <p:nvSpPr>
          <p:cNvPr id="41" name="Text 39"/>
          <p:cNvSpPr/>
          <p:nvPr/>
        </p:nvSpPr>
        <p:spPr>
          <a:xfrm>
            <a:off x="10853928" y="6510528"/>
            <a:ext cx="713232" cy="192024"/>
          </a:xfrm>
          <a:prstGeom prst="rect">
            <a:avLst/>
          </a:prstGeom>
          <a:noFill/>
          <a:ln/>
        </p:spPr>
        <p:txBody>
          <a:bodyPr wrap="square" lIns="0" tIns="0" rIns="0" bIns="0" rtlCol="0" anchor="ctr">
            <a:normAutofit/>
          </a:bodyPr>
          <a:lstStyle/>
          <a:p>
            <a:pPr algn="r" indent="0" marL="0">
              <a:buNone/>
            </a:pPr>
            <a:r>
              <a:rPr lang="en-US" sz="880" b="1" dirty="0">
                <a:solidFill>
                  <a:srgbClr val="788BA8"/>
                </a:solidFill>
                <a:latin typeface="Aptos" pitchFamily="34" charset="0"/>
                <a:ea typeface="Aptos" pitchFamily="34" charset="-122"/>
                <a:cs typeface="Aptos" pitchFamily="34" charset="-120"/>
              </a:rPr>
              <a:t>03 / 06</a:t>
            </a:r>
            <a:endParaRPr lang="en-US" sz="8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7F1"/>
        </a:solidFill>
      </p:bgPr>
    </p:bg>
    <p:spTree>
      <p:nvGrpSpPr>
        <p:cNvPr id="1" name=""/>
        <p:cNvGrpSpPr/>
        <p:nvPr/>
      </p:nvGrpSpPr>
      <p:grpSpPr>
        <a:xfrm>
          <a:off x="0" y="0"/>
          <a:ext cx="0" cy="0"/>
          <a:chOff x="0" y="0"/>
          <a:chExt cx="0" cy="0"/>
        </a:xfrm>
      </p:grpSpPr>
      <p:sp>
        <p:nvSpPr>
          <p:cNvPr id="2" name="Text 0"/>
          <p:cNvSpPr/>
          <p:nvPr/>
        </p:nvSpPr>
        <p:spPr>
          <a:xfrm>
            <a:off x="621792" y="292608"/>
            <a:ext cx="2377440" cy="274320"/>
          </a:xfrm>
          <a:prstGeom prst="rect">
            <a:avLst/>
          </a:prstGeom>
          <a:noFill/>
          <a:ln/>
        </p:spPr>
        <p:txBody>
          <a:bodyPr wrap="square" lIns="0" tIns="0" rIns="0" bIns="0" rtlCol="0" anchor="ctr">
            <a:normAutofit/>
          </a:bodyPr>
          <a:lstStyle/>
          <a:p>
            <a:pPr indent="0" marL="0">
              <a:buNone/>
            </a:pPr>
            <a:r>
              <a:rPr lang="en-US" sz="1200" b="1" spc="170" kern="0" dirty="0">
                <a:solidFill>
                  <a:srgbClr val="111B2F"/>
                </a:solidFill>
                <a:latin typeface="Aptos" pitchFamily="34" charset="0"/>
                <a:ea typeface="Aptos" pitchFamily="34" charset="-122"/>
                <a:cs typeface="Aptos" pitchFamily="34" charset="-120"/>
              </a:rPr>
              <a:t>DUCKTUTOR</a:t>
            </a:r>
            <a:endParaRPr lang="en-US" sz="1200" dirty="0"/>
          </a:p>
        </p:txBody>
      </p:sp>
      <p:sp>
        <p:nvSpPr>
          <p:cNvPr id="3" name="Text 1"/>
          <p:cNvSpPr/>
          <p:nvPr/>
        </p:nvSpPr>
        <p:spPr>
          <a:xfrm>
            <a:off x="9400032" y="292608"/>
            <a:ext cx="2103120" cy="274320"/>
          </a:xfrm>
          <a:prstGeom prst="rect">
            <a:avLst/>
          </a:prstGeom>
          <a:noFill/>
          <a:ln/>
        </p:spPr>
        <p:txBody>
          <a:bodyPr wrap="square" lIns="0" tIns="0" rIns="0" bIns="0" rtlCol="0" anchor="ctr">
            <a:normAutofit/>
          </a:bodyPr>
          <a:lstStyle/>
          <a:p>
            <a:pPr algn="r" indent="0" marL="0">
              <a:buNone/>
            </a:pPr>
            <a:r>
              <a:rPr lang="en-US" sz="950" b="1" spc="130" kern="0" dirty="0">
                <a:solidFill>
                  <a:srgbClr val="61738B"/>
                </a:solidFill>
                <a:latin typeface="Aptos" pitchFamily="34" charset="0"/>
                <a:ea typeface="Aptos" pitchFamily="34" charset="-122"/>
                <a:cs typeface="Aptos" pitchFamily="34" charset="-120"/>
              </a:rPr>
              <a:t>// LIVE WALKTHROUGH</a:t>
            </a:r>
            <a:endParaRPr lang="en-US" sz="950" dirty="0"/>
          </a:p>
        </p:txBody>
      </p:sp>
      <p:sp>
        <p:nvSpPr>
          <p:cNvPr id="4" name="Shape 2"/>
          <p:cNvSpPr/>
          <p:nvPr/>
        </p:nvSpPr>
        <p:spPr>
          <a:xfrm>
            <a:off x="630936" y="713232"/>
            <a:ext cx="10927080" cy="0"/>
          </a:xfrm>
          <a:prstGeom prst="line">
            <a:avLst/>
          </a:prstGeom>
          <a:noFill/>
          <a:ln w="10160">
            <a:solidFill>
              <a:srgbClr val="DFE4E8"/>
            </a:solidFill>
            <a:prstDash val="solid"/>
          </a:ln>
        </p:spPr>
      </p:sp>
      <p:sp>
        <p:nvSpPr>
          <p:cNvPr id="5" name="Text 3"/>
          <p:cNvSpPr/>
          <p:nvPr/>
        </p:nvSpPr>
        <p:spPr>
          <a:xfrm>
            <a:off x="649224" y="969264"/>
            <a:ext cx="10936224" cy="557784"/>
          </a:xfrm>
          <a:prstGeom prst="rect">
            <a:avLst/>
          </a:prstGeom>
          <a:noFill/>
          <a:ln/>
        </p:spPr>
        <p:txBody>
          <a:bodyPr wrap="square" lIns="0" tIns="0" rIns="0" bIns="0" rtlCol="0" anchor="ctr">
            <a:normAutofit/>
          </a:bodyPr>
          <a:lstStyle/>
          <a:p>
            <a:pPr indent="0" marL="0">
              <a:buNone/>
            </a:pPr>
            <a:r>
              <a:rPr lang="en-US" sz="3400" b="1" dirty="0">
                <a:solidFill>
                  <a:srgbClr val="111B2F"/>
                </a:solidFill>
                <a:latin typeface="Aptos" pitchFamily="34" charset="0"/>
                <a:ea typeface="Aptos" pitchFamily="34" charset="-122"/>
                <a:cs typeface="Aptos" pitchFamily="34" charset="-120"/>
              </a:rPr>
              <a:t>Watch the learner find the mistake.</a:t>
            </a:r>
            <a:endParaRPr lang="en-US" sz="3400" dirty="0"/>
          </a:p>
        </p:txBody>
      </p:sp>
      <p:sp>
        <p:nvSpPr>
          <p:cNvPr id="6" name="Shape 4"/>
          <p:cNvSpPr/>
          <p:nvPr/>
        </p:nvSpPr>
        <p:spPr>
          <a:xfrm>
            <a:off x="658368" y="1691640"/>
            <a:ext cx="2212848" cy="301752"/>
          </a:xfrm>
          <a:prstGeom prst="roundRect">
            <a:avLst>
              <a:gd name="adj" fmla="val 45455"/>
            </a:avLst>
          </a:prstGeom>
          <a:solidFill>
            <a:srgbClr val="E9EBEE"/>
          </a:solidFill>
          <a:ln w="12700">
            <a:solidFill>
              <a:srgbClr val="E9EBEE">
                <a:alpha val="0"/>
              </a:srgbClr>
            </a:solidFill>
            <a:prstDash val="solid"/>
          </a:ln>
        </p:spPr>
      </p:sp>
      <p:sp>
        <p:nvSpPr>
          <p:cNvPr id="7" name="Text 5"/>
          <p:cNvSpPr/>
          <p:nvPr/>
        </p:nvSpPr>
        <p:spPr>
          <a:xfrm>
            <a:off x="777240" y="1741932"/>
            <a:ext cx="1975104" cy="196596"/>
          </a:xfrm>
          <a:prstGeom prst="rect">
            <a:avLst/>
          </a:prstGeom>
          <a:noFill/>
          <a:ln/>
        </p:spPr>
        <p:txBody>
          <a:bodyPr wrap="square" lIns="0" tIns="0" rIns="0" bIns="0" rtlCol="0" anchor="ctr">
            <a:normAutofit/>
          </a:bodyPr>
          <a:lstStyle/>
          <a:p>
            <a:pPr indent="0" marL="0">
              <a:buNone/>
            </a:pPr>
            <a:r>
              <a:rPr lang="en-US" sz="940" b="1" spc="115" kern="0" dirty="0">
                <a:solidFill>
                  <a:srgbClr val="667A91"/>
                </a:solidFill>
                <a:latin typeface="Aptos" pitchFamily="34" charset="0"/>
                <a:ea typeface="Aptos" pitchFamily="34" charset="-122"/>
                <a:cs typeface="Aptos" pitchFamily="34" charset="-120"/>
              </a:rPr>
              <a:t>ILLUSTRATIVE EXAMPLE</a:t>
            </a:r>
            <a:endParaRPr lang="en-US" sz="940" dirty="0"/>
          </a:p>
        </p:txBody>
      </p:sp>
      <p:sp>
        <p:nvSpPr>
          <p:cNvPr id="8" name="Shape 6"/>
          <p:cNvSpPr/>
          <p:nvPr/>
        </p:nvSpPr>
        <p:spPr>
          <a:xfrm>
            <a:off x="649224" y="2212848"/>
            <a:ext cx="5047488" cy="3483864"/>
          </a:xfrm>
          <a:prstGeom prst="roundRect">
            <a:avLst>
              <a:gd name="adj" fmla="val 3937"/>
            </a:avLst>
          </a:prstGeom>
          <a:solidFill>
            <a:srgbClr val="0C142B"/>
          </a:solidFill>
          <a:ln w="12700">
            <a:solidFill>
              <a:srgbClr val="0C142B">
                <a:alpha val="0"/>
              </a:srgbClr>
            </a:solidFill>
            <a:prstDash val="solid"/>
          </a:ln>
        </p:spPr>
      </p:sp>
      <p:sp>
        <p:nvSpPr>
          <p:cNvPr id="9" name="Shape 7"/>
          <p:cNvSpPr/>
          <p:nvPr/>
        </p:nvSpPr>
        <p:spPr>
          <a:xfrm>
            <a:off x="649224" y="2212848"/>
            <a:ext cx="5047488" cy="512064"/>
          </a:xfrm>
          <a:prstGeom prst="rect">
            <a:avLst>
              <a:gd name="adj" fmla="val 26786"/>
            </a:avLst>
          </a:prstGeom>
          <a:solidFill>
            <a:srgbClr val="22324E"/>
          </a:solidFill>
          <a:ln w="12700">
            <a:solidFill>
              <a:srgbClr val="22324E">
                <a:alpha val="0"/>
              </a:srgbClr>
            </a:solidFill>
            <a:prstDash val="solid"/>
          </a:ln>
        </p:spPr>
      </p:sp>
      <p:sp>
        <p:nvSpPr>
          <p:cNvPr id="10" name="Shape 8"/>
          <p:cNvSpPr/>
          <p:nvPr/>
        </p:nvSpPr>
        <p:spPr>
          <a:xfrm>
            <a:off x="923544" y="2404872"/>
            <a:ext cx="96012" cy="96012"/>
          </a:xfrm>
          <a:prstGeom prst="ellipse">
            <a:avLst>
              <a:gd name="adj" fmla="val 142857"/>
            </a:avLst>
          </a:prstGeom>
          <a:solidFill>
            <a:srgbClr val="FF7B88"/>
          </a:solidFill>
          <a:ln w="12700">
            <a:solidFill>
              <a:srgbClr val="FF7B88">
                <a:alpha val="0"/>
              </a:srgbClr>
            </a:solidFill>
            <a:prstDash val="solid"/>
          </a:ln>
        </p:spPr>
      </p:sp>
      <p:sp>
        <p:nvSpPr>
          <p:cNvPr id="11" name="Shape 9"/>
          <p:cNvSpPr/>
          <p:nvPr/>
        </p:nvSpPr>
        <p:spPr>
          <a:xfrm>
            <a:off x="1097280" y="2404872"/>
            <a:ext cx="96012" cy="96012"/>
          </a:xfrm>
          <a:prstGeom prst="ellipse">
            <a:avLst>
              <a:gd name="adj" fmla="val 142857"/>
            </a:avLst>
          </a:prstGeom>
          <a:solidFill>
            <a:srgbClr val="FFC94F"/>
          </a:solidFill>
          <a:ln w="12700">
            <a:solidFill>
              <a:srgbClr val="FFC94F">
                <a:alpha val="0"/>
              </a:srgbClr>
            </a:solidFill>
            <a:prstDash val="solid"/>
          </a:ln>
        </p:spPr>
      </p:sp>
      <p:sp>
        <p:nvSpPr>
          <p:cNvPr id="12" name="Shape 10"/>
          <p:cNvSpPr/>
          <p:nvPr/>
        </p:nvSpPr>
        <p:spPr>
          <a:xfrm>
            <a:off x="1271016" y="2404872"/>
            <a:ext cx="96012" cy="96012"/>
          </a:xfrm>
          <a:prstGeom prst="ellipse">
            <a:avLst>
              <a:gd name="adj" fmla="val 142857"/>
            </a:avLst>
          </a:prstGeom>
          <a:solidFill>
            <a:srgbClr val="66DBC9"/>
          </a:solidFill>
          <a:ln w="12700">
            <a:solidFill>
              <a:srgbClr val="66DBC9">
                <a:alpha val="0"/>
              </a:srgbClr>
            </a:solidFill>
            <a:prstDash val="solid"/>
          </a:ln>
        </p:spPr>
      </p:sp>
      <p:sp>
        <p:nvSpPr>
          <p:cNvPr id="13" name="Text 11"/>
          <p:cNvSpPr/>
          <p:nvPr/>
        </p:nvSpPr>
        <p:spPr>
          <a:xfrm>
            <a:off x="4279392" y="2386584"/>
            <a:ext cx="1170432" cy="173736"/>
          </a:xfrm>
          <a:prstGeom prst="rect">
            <a:avLst/>
          </a:prstGeom>
          <a:noFill/>
          <a:ln/>
        </p:spPr>
        <p:txBody>
          <a:bodyPr wrap="square" lIns="0" tIns="0" rIns="0" bIns="0" rtlCol="0" anchor="ctr">
            <a:normAutofit/>
          </a:bodyPr>
          <a:lstStyle/>
          <a:p>
            <a:pPr algn="r" indent="0" marL="0">
              <a:buNone/>
            </a:pPr>
            <a:r>
              <a:rPr lang="en-US" sz="1020" b="1" dirty="0">
                <a:solidFill>
                  <a:srgbClr val="A5B5CF"/>
                </a:solidFill>
                <a:latin typeface="Aptos" pitchFamily="34" charset="0"/>
                <a:ea typeface="Aptos" pitchFamily="34" charset="-122"/>
                <a:cs typeface="Aptos" pitchFamily="34" charset="-120"/>
              </a:rPr>
              <a:t>example.py</a:t>
            </a:r>
            <a:endParaRPr lang="en-US" sz="1020" dirty="0"/>
          </a:p>
        </p:txBody>
      </p:sp>
      <p:sp>
        <p:nvSpPr>
          <p:cNvPr id="14" name="Text 12"/>
          <p:cNvSpPr/>
          <p:nvPr/>
        </p:nvSpPr>
        <p:spPr>
          <a:xfrm>
            <a:off x="923544" y="2971800"/>
            <a:ext cx="228600" cy="274320"/>
          </a:xfrm>
          <a:prstGeom prst="rect">
            <a:avLst/>
          </a:prstGeom>
          <a:noFill/>
          <a:ln/>
        </p:spPr>
        <p:txBody>
          <a:bodyPr wrap="square" lIns="0" tIns="0" rIns="0" bIns="0" rtlCol="0" anchor="ctr">
            <a:normAutofit/>
          </a:bodyPr>
          <a:lstStyle/>
          <a:p>
            <a:pPr indent="0" marL="0">
              <a:buNone/>
            </a:pPr>
            <a:r>
              <a:rPr lang="en-US" sz="1400" dirty="0">
                <a:solidFill>
                  <a:srgbClr val="8492AF"/>
                </a:solidFill>
                <a:latin typeface="Aptos Mono" pitchFamily="34" charset="0"/>
                <a:ea typeface="Aptos Mono" pitchFamily="34" charset="-122"/>
                <a:cs typeface="Aptos Mono" pitchFamily="34" charset="-120"/>
              </a:rPr>
              <a:t>1</a:t>
            </a:r>
            <a:endParaRPr lang="en-US" sz="1400" dirty="0"/>
          </a:p>
        </p:txBody>
      </p:sp>
      <p:sp>
        <p:nvSpPr>
          <p:cNvPr id="15" name="Text 13"/>
          <p:cNvSpPr/>
          <p:nvPr/>
        </p:nvSpPr>
        <p:spPr>
          <a:xfrm>
            <a:off x="923544" y="3429000"/>
            <a:ext cx="228600" cy="274320"/>
          </a:xfrm>
          <a:prstGeom prst="rect">
            <a:avLst/>
          </a:prstGeom>
          <a:noFill/>
          <a:ln/>
        </p:spPr>
        <p:txBody>
          <a:bodyPr wrap="square" lIns="0" tIns="0" rIns="0" bIns="0" rtlCol="0" anchor="ctr">
            <a:normAutofit/>
          </a:bodyPr>
          <a:lstStyle/>
          <a:p>
            <a:pPr indent="0" marL="0">
              <a:buNone/>
            </a:pPr>
            <a:r>
              <a:rPr lang="en-US" sz="1400" dirty="0">
                <a:solidFill>
                  <a:srgbClr val="8492AF"/>
                </a:solidFill>
                <a:latin typeface="Aptos Mono" pitchFamily="34" charset="0"/>
                <a:ea typeface="Aptos Mono" pitchFamily="34" charset="-122"/>
                <a:cs typeface="Aptos Mono" pitchFamily="34" charset="-120"/>
              </a:rPr>
              <a:t>2</a:t>
            </a:r>
            <a:endParaRPr lang="en-US" sz="1400" dirty="0"/>
          </a:p>
        </p:txBody>
      </p:sp>
      <p:sp>
        <p:nvSpPr>
          <p:cNvPr id="16" name="Text 14"/>
          <p:cNvSpPr/>
          <p:nvPr/>
        </p:nvSpPr>
        <p:spPr>
          <a:xfrm>
            <a:off x="923544" y="3886200"/>
            <a:ext cx="228600" cy="274320"/>
          </a:xfrm>
          <a:prstGeom prst="rect">
            <a:avLst/>
          </a:prstGeom>
          <a:noFill/>
          <a:ln/>
        </p:spPr>
        <p:txBody>
          <a:bodyPr wrap="square" lIns="0" tIns="0" rIns="0" bIns="0" rtlCol="0" anchor="ctr">
            <a:normAutofit/>
          </a:bodyPr>
          <a:lstStyle/>
          <a:p>
            <a:pPr indent="0" marL="0">
              <a:buNone/>
            </a:pPr>
            <a:r>
              <a:rPr lang="en-US" sz="1400" dirty="0">
                <a:solidFill>
                  <a:srgbClr val="8492AF"/>
                </a:solidFill>
                <a:latin typeface="Aptos Mono" pitchFamily="34" charset="0"/>
                <a:ea typeface="Aptos Mono" pitchFamily="34" charset="-122"/>
                <a:cs typeface="Aptos Mono" pitchFamily="34" charset="-120"/>
              </a:rPr>
              <a:t>3</a:t>
            </a:r>
            <a:endParaRPr lang="en-US" sz="1400" dirty="0"/>
          </a:p>
        </p:txBody>
      </p:sp>
      <p:sp>
        <p:nvSpPr>
          <p:cNvPr id="17" name="Text 15"/>
          <p:cNvSpPr/>
          <p:nvPr/>
        </p:nvSpPr>
        <p:spPr>
          <a:xfrm>
            <a:off x="1380744" y="2953512"/>
            <a:ext cx="4005072" cy="310896"/>
          </a:xfrm>
          <a:prstGeom prst="rect">
            <a:avLst/>
          </a:prstGeom>
          <a:noFill/>
          <a:ln/>
        </p:spPr>
        <p:txBody>
          <a:bodyPr wrap="square" lIns="0" tIns="0" rIns="0" bIns="0" rtlCol="0" anchor="ctr">
            <a:normAutofit/>
          </a:bodyPr>
          <a:lstStyle/>
          <a:p>
            <a:pPr indent="0" marL="0">
              <a:buNone/>
            </a:pPr>
            <a:r>
              <a:rPr lang="en-US" sz="1900" dirty="0">
                <a:solidFill>
                  <a:srgbClr val="E9EFFB"/>
                </a:solidFill>
                <a:latin typeface="Aptos Mono" pitchFamily="34" charset="0"/>
                <a:ea typeface="Aptos Mono" pitchFamily="34" charset="-122"/>
                <a:cs typeface="Aptos Mono" pitchFamily="34" charset="-120"/>
              </a:rPr>
              <a:t>nums = [10, 20, 30]</a:t>
            </a:r>
            <a:endParaRPr lang="en-US" sz="1900" dirty="0"/>
          </a:p>
        </p:txBody>
      </p:sp>
      <p:sp>
        <p:nvSpPr>
          <p:cNvPr id="18" name="Shape 16"/>
          <p:cNvSpPr/>
          <p:nvPr/>
        </p:nvSpPr>
        <p:spPr>
          <a:xfrm>
            <a:off x="1325880" y="3364992"/>
            <a:ext cx="4142232" cy="448056"/>
          </a:xfrm>
          <a:prstGeom prst="roundRect">
            <a:avLst>
              <a:gd name="adj" fmla="val 30612"/>
            </a:avLst>
          </a:prstGeom>
          <a:solidFill>
            <a:srgbClr val="493C3D"/>
          </a:solidFill>
          <a:ln w="12700">
            <a:solidFill>
              <a:srgbClr val="493C3D">
                <a:alpha val="0"/>
              </a:srgbClr>
            </a:solidFill>
            <a:prstDash val="solid"/>
          </a:ln>
        </p:spPr>
      </p:sp>
      <p:sp>
        <p:nvSpPr>
          <p:cNvPr id="19" name="Text 17"/>
          <p:cNvSpPr/>
          <p:nvPr/>
        </p:nvSpPr>
        <p:spPr>
          <a:xfrm>
            <a:off x="1380744" y="3429000"/>
            <a:ext cx="4050792" cy="274320"/>
          </a:xfrm>
          <a:prstGeom prst="rect">
            <a:avLst/>
          </a:prstGeom>
          <a:noFill/>
          <a:ln/>
        </p:spPr>
        <p:txBody>
          <a:bodyPr wrap="square" lIns="0" tIns="0" rIns="0" bIns="0" rtlCol="0" anchor="ctr">
            <a:normAutofit/>
          </a:bodyPr>
          <a:lstStyle/>
          <a:p>
            <a:pPr indent="0" marL="0">
              <a:buNone/>
            </a:pPr>
            <a:r>
              <a:rPr lang="en-US" sz="1665" dirty="0">
                <a:solidFill>
                  <a:srgbClr val="FFD58C"/>
                </a:solidFill>
                <a:latin typeface="Aptos Mono" pitchFamily="34" charset="0"/>
                <a:ea typeface="Aptos Mono" pitchFamily="34" charset="-122"/>
                <a:cs typeface="Aptos Mono" pitchFamily="34" charset="-120"/>
              </a:rPr>
              <a:t>for i in range(len(nums) + 1):</a:t>
            </a:r>
            <a:endParaRPr lang="en-US" sz="1665" dirty="0"/>
          </a:p>
        </p:txBody>
      </p:sp>
      <p:sp>
        <p:nvSpPr>
          <p:cNvPr id="20" name="Text 18"/>
          <p:cNvSpPr/>
          <p:nvPr/>
        </p:nvSpPr>
        <p:spPr>
          <a:xfrm>
            <a:off x="1380744" y="3895344"/>
            <a:ext cx="3995928" cy="329184"/>
          </a:xfrm>
          <a:prstGeom prst="rect">
            <a:avLst/>
          </a:prstGeom>
          <a:noFill/>
          <a:ln/>
        </p:spPr>
        <p:txBody>
          <a:bodyPr wrap="square" lIns="0" tIns="0" rIns="0" bIns="0" rtlCol="0" anchor="ctr">
            <a:normAutofit/>
          </a:bodyPr>
          <a:lstStyle/>
          <a:p>
            <a:pPr indent="0" marL="0">
              <a:buNone/>
            </a:pPr>
            <a:r>
              <a:rPr lang="en-US" sz="1900" dirty="0">
                <a:solidFill>
                  <a:srgbClr val="E9EFFB"/>
                </a:solidFill>
                <a:latin typeface="Aptos Mono" pitchFamily="34" charset="0"/>
                <a:ea typeface="Aptos Mono" pitchFamily="34" charset="-122"/>
                <a:cs typeface="Aptos Mono" pitchFamily="34" charset="-120"/>
              </a:rPr>
              <a:t>    print(nums[i])</a:t>
            </a:r>
            <a:endParaRPr lang="en-US" sz="1900" dirty="0"/>
          </a:p>
        </p:txBody>
      </p:sp>
      <p:sp>
        <p:nvSpPr>
          <p:cNvPr id="21" name="Shape 19"/>
          <p:cNvSpPr/>
          <p:nvPr/>
        </p:nvSpPr>
        <p:spPr>
          <a:xfrm>
            <a:off x="1252728" y="4407408"/>
            <a:ext cx="4050792" cy="0"/>
          </a:xfrm>
          <a:prstGeom prst="line">
            <a:avLst/>
          </a:prstGeom>
          <a:noFill/>
          <a:ln w="10160">
            <a:solidFill>
              <a:srgbClr val="384C6D"/>
            </a:solidFill>
            <a:prstDash val="solid"/>
          </a:ln>
        </p:spPr>
      </p:sp>
      <p:sp>
        <p:nvSpPr>
          <p:cNvPr id="22" name="Text 20"/>
          <p:cNvSpPr/>
          <p:nvPr/>
        </p:nvSpPr>
        <p:spPr>
          <a:xfrm>
            <a:off x="1344168" y="4672584"/>
            <a:ext cx="3968496" cy="338328"/>
          </a:xfrm>
          <a:prstGeom prst="rect">
            <a:avLst/>
          </a:prstGeom>
          <a:noFill/>
          <a:ln/>
        </p:spPr>
        <p:txBody>
          <a:bodyPr wrap="square" lIns="0" tIns="0" rIns="0" bIns="0" rtlCol="0" anchor="ctr">
            <a:normAutofit/>
          </a:bodyPr>
          <a:lstStyle/>
          <a:p>
            <a:pPr indent="0" marL="0">
              <a:buNone/>
            </a:pPr>
            <a:r>
              <a:rPr lang="en-US" sz="1800" b="1" dirty="0">
                <a:solidFill>
                  <a:srgbClr val="FFFFFF"/>
                </a:solidFill>
                <a:latin typeface="Aptos" pitchFamily="34" charset="0"/>
                <a:ea typeface="Aptos" pitchFamily="34" charset="-122"/>
                <a:cs typeface="Aptos" pitchFamily="34" charset="-120"/>
              </a:rPr>
              <a:t>The bug is not the interesting part.</a:t>
            </a:r>
            <a:endParaRPr lang="en-US" sz="1800" dirty="0"/>
          </a:p>
        </p:txBody>
      </p:sp>
      <p:sp>
        <p:nvSpPr>
          <p:cNvPr id="23" name="Text 21"/>
          <p:cNvSpPr/>
          <p:nvPr/>
        </p:nvSpPr>
        <p:spPr>
          <a:xfrm>
            <a:off x="1344168" y="5111496"/>
            <a:ext cx="4059936" cy="274320"/>
          </a:xfrm>
          <a:prstGeom prst="rect">
            <a:avLst/>
          </a:prstGeom>
          <a:noFill/>
          <a:ln/>
        </p:spPr>
        <p:txBody>
          <a:bodyPr wrap="square" lIns="0" tIns="0" rIns="0" bIns="0" rtlCol="0" anchor="ctr">
            <a:normAutofit/>
          </a:bodyPr>
          <a:lstStyle/>
          <a:p>
            <a:pPr indent="0" marL="0">
              <a:buNone/>
            </a:pPr>
            <a:r>
              <a:rPr lang="en-US" sz="1240" dirty="0">
                <a:solidFill>
                  <a:srgbClr val="AEBAD2"/>
                </a:solidFill>
                <a:latin typeface="Aptos" pitchFamily="34" charset="0"/>
                <a:ea typeface="Aptos" pitchFamily="34" charset="-122"/>
                <a:cs typeface="Aptos" pitchFamily="34" charset="-120"/>
              </a:rPr>
              <a:t>The question is: what value does i reach?</a:t>
            </a:r>
            <a:endParaRPr lang="en-US" sz="1240" dirty="0"/>
          </a:p>
        </p:txBody>
      </p:sp>
      <p:sp>
        <p:nvSpPr>
          <p:cNvPr id="24" name="Shape 22"/>
          <p:cNvSpPr/>
          <p:nvPr/>
        </p:nvSpPr>
        <p:spPr>
          <a:xfrm>
            <a:off x="6080760" y="2240280"/>
            <a:ext cx="5431536" cy="667512"/>
          </a:xfrm>
          <a:prstGeom prst="roundRect">
            <a:avLst>
              <a:gd name="adj" fmla="val 20548"/>
            </a:avLst>
          </a:prstGeom>
          <a:solidFill>
            <a:srgbClr val="FFFFFF"/>
          </a:solidFill>
          <a:ln w="12700">
            <a:solidFill>
              <a:srgbClr val="FFFFFF">
                <a:alpha val="0"/>
              </a:srgbClr>
            </a:solidFill>
            <a:prstDash val="solid"/>
          </a:ln>
        </p:spPr>
      </p:sp>
      <p:sp>
        <p:nvSpPr>
          <p:cNvPr id="25" name="Shape 23"/>
          <p:cNvSpPr/>
          <p:nvPr/>
        </p:nvSpPr>
        <p:spPr>
          <a:xfrm>
            <a:off x="6236208" y="2395728"/>
            <a:ext cx="365760" cy="365760"/>
          </a:xfrm>
          <a:prstGeom prst="ellipse">
            <a:avLst>
              <a:gd name="adj" fmla="val 37500"/>
            </a:avLst>
          </a:prstGeom>
          <a:solidFill>
            <a:srgbClr val="DDF6EF"/>
          </a:solidFill>
          <a:ln w="12700">
            <a:solidFill>
              <a:srgbClr val="DDF6EF">
                <a:alpha val="0"/>
              </a:srgbClr>
            </a:solidFill>
            <a:prstDash val="solid"/>
          </a:ln>
        </p:spPr>
      </p:sp>
      <p:sp>
        <p:nvSpPr>
          <p:cNvPr id="26" name="Text 24"/>
          <p:cNvSpPr/>
          <p:nvPr/>
        </p:nvSpPr>
        <p:spPr>
          <a:xfrm>
            <a:off x="6364224" y="2468880"/>
            <a:ext cx="109728" cy="146304"/>
          </a:xfrm>
          <a:prstGeom prst="rect">
            <a:avLst/>
          </a:prstGeom>
          <a:noFill/>
          <a:ln/>
        </p:spPr>
        <p:txBody>
          <a:bodyPr wrap="square" lIns="0" tIns="0" rIns="0" bIns="0" rtlCol="0" anchor="ctr">
            <a:normAutofit/>
          </a:bodyPr>
          <a:lstStyle/>
          <a:p>
            <a:pPr algn="ctr" indent="0" marL="0">
              <a:buNone/>
            </a:pPr>
            <a:r>
              <a:rPr lang="en-US" sz="1150" b="1" dirty="0">
                <a:solidFill>
                  <a:srgbClr val="111B2F"/>
                </a:solidFill>
                <a:latin typeface="Aptos" pitchFamily="34" charset="0"/>
                <a:ea typeface="Aptos" pitchFamily="34" charset="-122"/>
                <a:cs typeface="Aptos" pitchFamily="34" charset="-120"/>
              </a:rPr>
              <a:t>1</a:t>
            </a:r>
            <a:endParaRPr lang="en-US" sz="1150" dirty="0"/>
          </a:p>
        </p:txBody>
      </p:sp>
      <p:sp>
        <p:nvSpPr>
          <p:cNvPr id="27" name="Text 25"/>
          <p:cNvSpPr/>
          <p:nvPr/>
        </p:nvSpPr>
        <p:spPr>
          <a:xfrm>
            <a:off x="6757416" y="2350008"/>
            <a:ext cx="4498848" cy="164592"/>
          </a:xfrm>
          <a:prstGeom prst="rect">
            <a:avLst/>
          </a:prstGeom>
          <a:noFill/>
          <a:ln/>
        </p:spPr>
        <p:txBody>
          <a:bodyPr wrap="square" lIns="0" tIns="0" rIns="0" bIns="0" rtlCol="0" anchor="ctr">
            <a:normAutofit/>
          </a:bodyPr>
          <a:lstStyle/>
          <a:p>
            <a:pPr indent="0" marL="0">
              <a:buNone/>
            </a:pPr>
            <a:r>
              <a:rPr lang="en-US" sz="980" b="1" spc="80" kern="0" dirty="0">
                <a:solidFill>
                  <a:srgbClr val="586C82"/>
                </a:solidFill>
                <a:latin typeface="Aptos" pitchFamily="34" charset="0"/>
                <a:ea typeface="Aptos" pitchFamily="34" charset="-122"/>
                <a:cs typeface="Aptos" pitchFamily="34" charset="-120"/>
              </a:rPr>
              <a:t>PREDICTION</a:t>
            </a:r>
            <a:endParaRPr lang="en-US" sz="980" dirty="0"/>
          </a:p>
        </p:txBody>
      </p:sp>
      <p:sp>
        <p:nvSpPr>
          <p:cNvPr id="28" name="Text 26"/>
          <p:cNvSpPr/>
          <p:nvPr/>
        </p:nvSpPr>
        <p:spPr>
          <a:xfrm>
            <a:off x="6757416" y="2578608"/>
            <a:ext cx="4608576" cy="228600"/>
          </a:xfrm>
          <a:prstGeom prst="rect">
            <a:avLst/>
          </a:prstGeom>
          <a:noFill/>
          <a:ln/>
        </p:spPr>
        <p:txBody>
          <a:bodyPr wrap="square" lIns="0" tIns="0" rIns="0" bIns="0" rtlCol="0" anchor="ctr">
            <a:normAutofit/>
          </a:bodyPr>
          <a:lstStyle/>
          <a:p>
            <a:pPr indent="0" marL="0">
              <a:buNone/>
            </a:pPr>
            <a:r>
              <a:rPr lang="en-US" sz="1210" dirty="0">
                <a:solidFill>
                  <a:srgbClr val="111B2F"/>
                </a:solidFill>
                <a:latin typeface="Aptos" pitchFamily="34" charset="0"/>
                <a:ea typeface="Aptos" pitchFamily="34" charset="-122"/>
                <a:cs typeface="Aptos" pitchFamily="34" charset="-120"/>
              </a:rPr>
              <a:t>“It prints all three values.”   Confidence: 4/5</a:t>
            </a:r>
            <a:endParaRPr lang="en-US" sz="1210" dirty="0"/>
          </a:p>
        </p:txBody>
      </p:sp>
      <p:sp>
        <p:nvSpPr>
          <p:cNvPr id="29" name="Shape 27"/>
          <p:cNvSpPr/>
          <p:nvPr/>
        </p:nvSpPr>
        <p:spPr>
          <a:xfrm>
            <a:off x="6080760" y="3054096"/>
            <a:ext cx="5431536" cy="667512"/>
          </a:xfrm>
          <a:prstGeom prst="roundRect">
            <a:avLst>
              <a:gd name="adj" fmla="val 20548"/>
            </a:avLst>
          </a:prstGeom>
          <a:solidFill>
            <a:srgbClr val="FFFFFF"/>
          </a:solidFill>
          <a:ln w="12700">
            <a:solidFill>
              <a:srgbClr val="FFFFFF">
                <a:alpha val="0"/>
              </a:srgbClr>
            </a:solidFill>
            <a:prstDash val="solid"/>
          </a:ln>
        </p:spPr>
      </p:sp>
      <p:sp>
        <p:nvSpPr>
          <p:cNvPr id="30" name="Shape 28"/>
          <p:cNvSpPr/>
          <p:nvPr/>
        </p:nvSpPr>
        <p:spPr>
          <a:xfrm>
            <a:off x="6236208" y="3209544"/>
            <a:ext cx="365760" cy="365760"/>
          </a:xfrm>
          <a:prstGeom prst="ellipse">
            <a:avLst>
              <a:gd name="adj" fmla="val 37500"/>
            </a:avLst>
          </a:prstGeom>
          <a:solidFill>
            <a:srgbClr val="DDF6EF"/>
          </a:solidFill>
          <a:ln w="12700">
            <a:solidFill>
              <a:srgbClr val="DDF6EF">
                <a:alpha val="0"/>
              </a:srgbClr>
            </a:solidFill>
            <a:prstDash val="solid"/>
          </a:ln>
        </p:spPr>
      </p:sp>
      <p:sp>
        <p:nvSpPr>
          <p:cNvPr id="31" name="Text 29"/>
          <p:cNvSpPr/>
          <p:nvPr/>
        </p:nvSpPr>
        <p:spPr>
          <a:xfrm>
            <a:off x="6364224" y="3282696"/>
            <a:ext cx="109728" cy="146304"/>
          </a:xfrm>
          <a:prstGeom prst="rect">
            <a:avLst/>
          </a:prstGeom>
          <a:noFill/>
          <a:ln/>
        </p:spPr>
        <p:txBody>
          <a:bodyPr wrap="square" lIns="0" tIns="0" rIns="0" bIns="0" rtlCol="0" anchor="ctr">
            <a:normAutofit/>
          </a:bodyPr>
          <a:lstStyle/>
          <a:p>
            <a:pPr algn="ctr" indent="0" marL="0">
              <a:buNone/>
            </a:pPr>
            <a:r>
              <a:rPr lang="en-US" sz="1150" b="1" dirty="0">
                <a:solidFill>
                  <a:srgbClr val="111B2F"/>
                </a:solidFill>
                <a:latin typeface="Aptos" pitchFamily="34" charset="0"/>
                <a:ea typeface="Aptos" pitchFamily="34" charset="-122"/>
                <a:cs typeface="Aptos" pitchFamily="34" charset="-120"/>
              </a:rPr>
              <a:t>2</a:t>
            </a:r>
            <a:endParaRPr lang="en-US" sz="1150" dirty="0"/>
          </a:p>
        </p:txBody>
      </p:sp>
      <p:sp>
        <p:nvSpPr>
          <p:cNvPr id="32" name="Text 30"/>
          <p:cNvSpPr/>
          <p:nvPr/>
        </p:nvSpPr>
        <p:spPr>
          <a:xfrm>
            <a:off x="6757416" y="3163824"/>
            <a:ext cx="4498848" cy="164592"/>
          </a:xfrm>
          <a:prstGeom prst="rect">
            <a:avLst/>
          </a:prstGeom>
          <a:noFill/>
          <a:ln/>
        </p:spPr>
        <p:txBody>
          <a:bodyPr wrap="square" lIns="0" tIns="0" rIns="0" bIns="0" rtlCol="0" anchor="ctr">
            <a:normAutofit/>
          </a:bodyPr>
          <a:lstStyle/>
          <a:p>
            <a:pPr indent="0" marL="0">
              <a:buNone/>
            </a:pPr>
            <a:r>
              <a:rPr lang="en-US" sz="980" b="1" spc="80" kern="0" dirty="0">
                <a:solidFill>
                  <a:srgbClr val="586C82"/>
                </a:solidFill>
                <a:latin typeface="Aptos" pitchFamily="34" charset="0"/>
                <a:ea typeface="Aptos" pitchFamily="34" charset="-122"/>
                <a:cs typeface="Aptos" pitchFamily="34" charset="-120"/>
              </a:rPr>
              <a:t>QUESTION</a:t>
            </a:r>
            <a:endParaRPr lang="en-US" sz="980" dirty="0"/>
          </a:p>
        </p:txBody>
      </p:sp>
      <p:sp>
        <p:nvSpPr>
          <p:cNvPr id="33" name="Text 31"/>
          <p:cNvSpPr/>
          <p:nvPr/>
        </p:nvSpPr>
        <p:spPr>
          <a:xfrm>
            <a:off x="6757416" y="3392424"/>
            <a:ext cx="4608576" cy="228600"/>
          </a:xfrm>
          <a:prstGeom prst="rect">
            <a:avLst/>
          </a:prstGeom>
          <a:noFill/>
          <a:ln/>
        </p:spPr>
        <p:txBody>
          <a:bodyPr wrap="square" lIns="0" tIns="0" rIns="0" bIns="0" rtlCol="0" anchor="ctr">
            <a:normAutofit/>
          </a:bodyPr>
          <a:lstStyle/>
          <a:p>
            <a:pPr indent="0" marL="0">
              <a:buNone/>
            </a:pPr>
            <a:r>
              <a:rPr lang="en-US" sz="1210" dirty="0">
                <a:solidFill>
                  <a:srgbClr val="111B2F"/>
                </a:solidFill>
                <a:latin typeface="Aptos" pitchFamily="34" charset="0"/>
                <a:ea typeface="Aptos" pitchFamily="34" charset="-122"/>
                <a:cs typeface="Aptos" pitchFamily="34" charset="-120"/>
              </a:rPr>
              <a:t>“What is the final index produced by range?”</a:t>
            </a:r>
            <a:endParaRPr lang="en-US" sz="1210" dirty="0"/>
          </a:p>
        </p:txBody>
      </p:sp>
      <p:sp>
        <p:nvSpPr>
          <p:cNvPr id="34" name="Shape 32"/>
          <p:cNvSpPr/>
          <p:nvPr/>
        </p:nvSpPr>
        <p:spPr>
          <a:xfrm>
            <a:off x="6080760" y="3867912"/>
            <a:ext cx="5431536" cy="667512"/>
          </a:xfrm>
          <a:prstGeom prst="roundRect">
            <a:avLst>
              <a:gd name="adj" fmla="val 20548"/>
            </a:avLst>
          </a:prstGeom>
          <a:solidFill>
            <a:srgbClr val="FFFFFF"/>
          </a:solidFill>
          <a:ln w="12700">
            <a:solidFill>
              <a:srgbClr val="FFFFFF">
                <a:alpha val="0"/>
              </a:srgbClr>
            </a:solidFill>
            <a:prstDash val="solid"/>
          </a:ln>
        </p:spPr>
      </p:sp>
      <p:sp>
        <p:nvSpPr>
          <p:cNvPr id="35" name="Shape 33"/>
          <p:cNvSpPr/>
          <p:nvPr/>
        </p:nvSpPr>
        <p:spPr>
          <a:xfrm>
            <a:off x="6236208" y="4023360"/>
            <a:ext cx="365760" cy="365760"/>
          </a:xfrm>
          <a:prstGeom prst="ellipse">
            <a:avLst>
              <a:gd name="adj" fmla="val 37500"/>
            </a:avLst>
          </a:prstGeom>
          <a:solidFill>
            <a:srgbClr val="FFC94F"/>
          </a:solidFill>
          <a:ln w="12700">
            <a:solidFill>
              <a:srgbClr val="FFC94F">
                <a:alpha val="0"/>
              </a:srgbClr>
            </a:solidFill>
            <a:prstDash val="solid"/>
          </a:ln>
        </p:spPr>
      </p:sp>
      <p:sp>
        <p:nvSpPr>
          <p:cNvPr id="36" name="Text 34"/>
          <p:cNvSpPr/>
          <p:nvPr/>
        </p:nvSpPr>
        <p:spPr>
          <a:xfrm>
            <a:off x="6364224" y="4096512"/>
            <a:ext cx="109728" cy="146304"/>
          </a:xfrm>
          <a:prstGeom prst="rect">
            <a:avLst/>
          </a:prstGeom>
          <a:noFill/>
          <a:ln/>
        </p:spPr>
        <p:txBody>
          <a:bodyPr wrap="square" lIns="0" tIns="0" rIns="0" bIns="0" rtlCol="0" anchor="ctr">
            <a:normAutofit/>
          </a:bodyPr>
          <a:lstStyle/>
          <a:p>
            <a:pPr algn="ctr" indent="0" marL="0">
              <a:buNone/>
            </a:pPr>
            <a:r>
              <a:rPr lang="en-US" sz="1150" b="1" dirty="0">
                <a:solidFill>
                  <a:srgbClr val="111B2F"/>
                </a:solidFill>
                <a:latin typeface="Aptos" pitchFamily="34" charset="0"/>
                <a:ea typeface="Aptos" pitchFamily="34" charset="-122"/>
                <a:cs typeface="Aptos" pitchFamily="34" charset="-120"/>
              </a:rPr>
              <a:t>3</a:t>
            </a:r>
            <a:endParaRPr lang="en-US" sz="1150" dirty="0"/>
          </a:p>
        </p:txBody>
      </p:sp>
      <p:sp>
        <p:nvSpPr>
          <p:cNvPr id="37" name="Text 35"/>
          <p:cNvSpPr/>
          <p:nvPr/>
        </p:nvSpPr>
        <p:spPr>
          <a:xfrm>
            <a:off x="6757416" y="3977640"/>
            <a:ext cx="4498848" cy="164592"/>
          </a:xfrm>
          <a:prstGeom prst="rect">
            <a:avLst/>
          </a:prstGeom>
          <a:noFill/>
          <a:ln/>
        </p:spPr>
        <p:txBody>
          <a:bodyPr wrap="square" lIns="0" tIns="0" rIns="0" bIns="0" rtlCol="0" anchor="ctr">
            <a:normAutofit/>
          </a:bodyPr>
          <a:lstStyle/>
          <a:p>
            <a:pPr indent="0" marL="0">
              <a:buNone/>
            </a:pPr>
            <a:r>
              <a:rPr lang="en-US" sz="980" b="1" spc="80" kern="0" dirty="0">
                <a:solidFill>
                  <a:srgbClr val="586C82"/>
                </a:solidFill>
                <a:latin typeface="Aptos" pitchFamily="34" charset="0"/>
                <a:ea typeface="Aptos" pitchFamily="34" charset="-122"/>
                <a:cs typeface="Aptos" pitchFamily="34" charset="-120"/>
              </a:rPr>
              <a:t>EVIDENCE</a:t>
            </a:r>
            <a:endParaRPr lang="en-US" sz="980" dirty="0"/>
          </a:p>
        </p:txBody>
      </p:sp>
      <p:sp>
        <p:nvSpPr>
          <p:cNvPr id="38" name="Text 36"/>
          <p:cNvSpPr/>
          <p:nvPr/>
        </p:nvSpPr>
        <p:spPr>
          <a:xfrm>
            <a:off x="6757416" y="4206240"/>
            <a:ext cx="4608576" cy="228600"/>
          </a:xfrm>
          <a:prstGeom prst="rect">
            <a:avLst/>
          </a:prstGeom>
          <a:noFill/>
          <a:ln/>
        </p:spPr>
        <p:txBody>
          <a:bodyPr wrap="square" lIns="0" tIns="0" rIns="0" bIns="0" rtlCol="0" anchor="ctr">
            <a:normAutofit/>
          </a:bodyPr>
          <a:lstStyle/>
          <a:p>
            <a:pPr indent="0" marL="0">
              <a:buNone/>
            </a:pPr>
            <a:r>
              <a:rPr lang="en-US" sz="1210" b="1" dirty="0">
                <a:solidFill>
                  <a:srgbClr val="111B2F"/>
                </a:solidFill>
                <a:latin typeface="Aptos" pitchFamily="34" charset="0"/>
                <a:ea typeface="Aptos" pitchFamily="34" charset="-122"/>
                <a:cs typeface="Aptos" pitchFamily="34" charset="-120"/>
              </a:rPr>
              <a:t>An IndexError challenges the prediction.</a:t>
            </a:r>
            <a:endParaRPr lang="en-US" sz="1210" dirty="0"/>
          </a:p>
        </p:txBody>
      </p:sp>
      <p:sp>
        <p:nvSpPr>
          <p:cNvPr id="39" name="Shape 37"/>
          <p:cNvSpPr/>
          <p:nvPr/>
        </p:nvSpPr>
        <p:spPr>
          <a:xfrm>
            <a:off x="6080760" y="4681728"/>
            <a:ext cx="5431536" cy="667512"/>
          </a:xfrm>
          <a:prstGeom prst="roundRect">
            <a:avLst>
              <a:gd name="adj" fmla="val 20548"/>
            </a:avLst>
          </a:prstGeom>
          <a:solidFill>
            <a:srgbClr val="FFFFFF"/>
          </a:solidFill>
          <a:ln w="12700">
            <a:solidFill>
              <a:srgbClr val="FFFFFF">
                <a:alpha val="0"/>
              </a:srgbClr>
            </a:solidFill>
            <a:prstDash val="solid"/>
          </a:ln>
        </p:spPr>
      </p:sp>
      <p:sp>
        <p:nvSpPr>
          <p:cNvPr id="40" name="Shape 38"/>
          <p:cNvSpPr/>
          <p:nvPr/>
        </p:nvSpPr>
        <p:spPr>
          <a:xfrm>
            <a:off x="6236208" y="4837176"/>
            <a:ext cx="365760" cy="365760"/>
          </a:xfrm>
          <a:prstGeom prst="ellipse">
            <a:avLst>
              <a:gd name="adj" fmla="val 37500"/>
            </a:avLst>
          </a:prstGeom>
          <a:solidFill>
            <a:srgbClr val="DDF6EF"/>
          </a:solidFill>
          <a:ln w="12700">
            <a:solidFill>
              <a:srgbClr val="DDF6EF">
                <a:alpha val="0"/>
              </a:srgbClr>
            </a:solidFill>
            <a:prstDash val="solid"/>
          </a:ln>
        </p:spPr>
      </p:sp>
      <p:sp>
        <p:nvSpPr>
          <p:cNvPr id="41" name="Text 39"/>
          <p:cNvSpPr/>
          <p:nvPr/>
        </p:nvSpPr>
        <p:spPr>
          <a:xfrm>
            <a:off x="6364224" y="4910328"/>
            <a:ext cx="109728" cy="146304"/>
          </a:xfrm>
          <a:prstGeom prst="rect">
            <a:avLst/>
          </a:prstGeom>
          <a:noFill/>
          <a:ln/>
        </p:spPr>
        <p:txBody>
          <a:bodyPr wrap="square" lIns="0" tIns="0" rIns="0" bIns="0" rtlCol="0" anchor="ctr">
            <a:normAutofit/>
          </a:bodyPr>
          <a:lstStyle/>
          <a:p>
            <a:pPr algn="ctr" indent="0" marL="0">
              <a:buNone/>
            </a:pPr>
            <a:r>
              <a:rPr lang="en-US" sz="1150" b="1" dirty="0">
                <a:solidFill>
                  <a:srgbClr val="111B2F"/>
                </a:solidFill>
                <a:latin typeface="Aptos" pitchFamily="34" charset="0"/>
                <a:ea typeface="Aptos" pitchFamily="34" charset="-122"/>
                <a:cs typeface="Aptos" pitchFamily="34" charset="-120"/>
              </a:rPr>
              <a:t>4</a:t>
            </a:r>
            <a:endParaRPr lang="en-US" sz="1150" dirty="0"/>
          </a:p>
        </p:txBody>
      </p:sp>
      <p:sp>
        <p:nvSpPr>
          <p:cNvPr id="42" name="Text 40"/>
          <p:cNvSpPr/>
          <p:nvPr/>
        </p:nvSpPr>
        <p:spPr>
          <a:xfrm>
            <a:off x="6757416" y="4791456"/>
            <a:ext cx="4498848" cy="164592"/>
          </a:xfrm>
          <a:prstGeom prst="rect">
            <a:avLst/>
          </a:prstGeom>
          <a:noFill/>
          <a:ln/>
        </p:spPr>
        <p:txBody>
          <a:bodyPr wrap="square" lIns="0" tIns="0" rIns="0" bIns="0" rtlCol="0" anchor="ctr">
            <a:normAutofit/>
          </a:bodyPr>
          <a:lstStyle/>
          <a:p>
            <a:pPr indent="0" marL="0">
              <a:buNone/>
            </a:pPr>
            <a:r>
              <a:rPr lang="en-US" sz="980" b="1" spc="80" kern="0" dirty="0">
                <a:solidFill>
                  <a:srgbClr val="586C82"/>
                </a:solidFill>
                <a:latin typeface="Aptos" pitchFamily="34" charset="0"/>
                <a:ea typeface="Aptos" pitchFamily="34" charset="-122"/>
                <a:cs typeface="Aptos" pitchFamily="34" charset="-120"/>
              </a:rPr>
              <a:t>REFLECTION</a:t>
            </a:r>
            <a:endParaRPr lang="en-US" sz="980" dirty="0"/>
          </a:p>
        </p:txBody>
      </p:sp>
      <p:sp>
        <p:nvSpPr>
          <p:cNvPr id="43" name="Text 41"/>
          <p:cNvSpPr/>
          <p:nvPr/>
        </p:nvSpPr>
        <p:spPr>
          <a:xfrm>
            <a:off x="6757416" y="5020056"/>
            <a:ext cx="4608576" cy="228600"/>
          </a:xfrm>
          <a:prstGeom prst="rect">
            <a:avLst/>
          </a:prstGeom>
          <a:noFill/>
          <a:ln/>
        </p:spPr>
        <p:txBody>
          <a:bodyPr wrap="square" lIns="0" tIns="0" rIns="0" bIns="0" rtlCol="0" anchor="ctr">
            <a:normAutofit/>
          </a:bodyPr>
          <a:lstStyle/>
          <a:p>
            <a:pPr indent="0" marL="0">
              <a:buNone/>
            </a:pPr>
            <a:r>
              <a:rPr lang="en-US" sz="1210" dirty="0">
                <a:solidFill>
                  <a:srgbClr val="111B2F"/>
                </a:solidFill>
                <a:latin typeface="Aptos" pitchFamily="34" charset="0"/>
                <a:ea typeface="Aptos" pitchFamily="34" charset="-122"/>
                <a:cs typeface="Aptos" pitchFamily="34" charset="-120"/>
              </a:rPr>
              <a:t>Learner fixes the loop; tests verify the result.</a:t>
            </a:r>
            <a:endParaRPr lang="en-US" sz="1210" dirty="0"/>
          </a:p>
        </p:txBody>
      </p:sp>
      <p:sp>
        <p:nvSpPr>
          <p:cNvPr id="44" name="Text 42"/>
          <p:cNvSpPr/>
          <p:nvPr/>
        </p:nvSpPr>
        <p:spPr>
          <a:xfrm>
            <a:off x="6190488" y="5733288"/>
            <a:ext cx="5221224" cy="201168"/>
          </a:xfrm>
          <a:prstGeom prst="rect">
            <a:avLst/>
          </a:prstGeom>
          <a:noFill/>
          <a:ln/>
        </p:spPr>
        <p:txBody>
          <a:bodyPr wrap="square" lIns="0" tIns="0" rIns="0" bIns="0" rtlCol="0" anchor="ctr">
            <a:normAutofit/>
          </a:bodyPr>
          <a:lstStyle/>
          <a:p>
            <a:pPr indent="0" marL="0">
              <a:buNone/>
            </a:pPr>
            <a:r>
              <a:rPr lang="en-US" sz="1120" b="1" spc="23" kern="0" dirty="0">
                <a:solidFill>
                  <a:srgbClr val="6E7D93"/>
                </a:solidFill>
                <a:latin typeface="Aptos" pitchFamily="34" charset="0"/>
                <a:ea typeface="Aptos" pitchFamily="34" charset="-122"/>
                <a:cs typeface="Aptos" pitchFamily="34" charset="-120"/>
              </a:rPr>
              <a:t>DEMO: PREDICT  →  QUESTION  →  TEST  →  REPAIR</a:t>
            </a:r>
            <a:endParaRPr lang="en-US" sz="1120" dirty="0"/>
          </a:p>
        </p:txBody>
      </p:sp>
      <p:sp>
        <p:nvSpPr>
          <p:cNvPr id="45" name="Text 43"/>
          <p:cNvSpPr/>
          <p:nvPr/>
        </p:nvSpPr>
        <p:spPr>
          <a:xfrm>
            <a:off x="621792" y="6519672"/>
            <a:ext cx="4937760" cy="164592"/>
          </a:xfrm>
          <a:prstGeom prst="rect">
            <a:avLst/>
          </a:prstGeom>
          <a:noFill/>
          <a:ln/>
        </p:spPr>
        <p:txBody>
          <a:bodyPr wrap="square" lIns="0" tIns="0" rIns="0" bIns="0" rtlCol="0" anchor="ctr">
            <a:normAutofit/>
          </a:bodyPr>
          <a:lstStyle/>
          <a:p>
            <a:pPr indent="0" marL="0">
              <a:buNone/>
            </a:pPr>
            <a:r>
              <a:rPr lang="en-US" sz="880" b="1" spc="100" kern="0" dirty="0">
                <a:solidFill>
                  <a:srgbClr val="93A0B1"/>
                </a:solidFill>
                <a:latin typeface="Aptos" pitchFamily="34" charset="0"/>
                <a:ea typeface="Aptos" pitchFamily="34" charset="-122"/>
                <a:cs typeface="Aptos" pitchFamily="34" charset="-120"/>
              </a:rPr>
              <a:t>DUCKTOBERFEST 2026  •  TEAM NEURALFORGE</a:t>
            </a:r>
            <a:endParaRPr lang="en-US" sz="880" dirty="0"/>
          </a:p>
        </p:txBody>
      </p:sp>
      <p:sp>
        <p:nvSpPr>
          <p:cNvPr id="46" name="Text 44"/>
          <p:cNvSpPr/>
          <p:nvPr/>
        </p:nvSpPr>
        <p:spPr>
          <a:xfrm>
            <a:off x="10853928" y="6510528"/>
            <a:ext cx="713232" cy="192024"/>
          </a:xfrm>
          <a:prstGeom prst="rect">
            <a:avLst/>
          </a:prstGeom>
          <a:noFill/>
          <a:ln/>
        </p:spPr>
        <p:txBody>
          <a:bodyPr wrap="square" lIns="0" tIns="0" rIns="0" bIns="0" rtlCol="0" anchor="ctr">
            <a:normAutofit/>
          </a:bodyPr>
          <a:lstStyle/>
          <a:p>
            <a:pPr algn="r" indent="0" marL="0">
              <a:buNone/>
            </a:pPr>
            <a:r>
              <a:rPr lang="en-US" sz="880" b="1" dirty="0">
                <a:solidFill>
                  <a:srgbClr val="93A0B1"/>
                </a:solidFill>
                <a:latin typeface="Aptos" pitchFamily="34" charset="0"/>
                <a:ea typeface="Aptos" pitchFamily="34" charset="-122"/>
                <a:cs typeface="Aptos" pitchFamily="34" charset="-120"/>
              </a:rPr>
              <a:t>04 / 06</a:t>
            </a:r>
            <a:endParaRPr lang="en-US" sz="8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142B"/>
        </a:solidFill>
      </p:bgPr>
    </p:bg>
    <p:spTree>
      <p:nvGrpSpPr>
        <p:cNvPr id="1" name=""/>
        <p:cNvGrpSpPr/>
        <p:nvPr/>
      </p:nvGrpSpPr>
      <p:grpSpPr>
        <a:xfrm>
          <a:off x="0" y="0"/>
          <a:ext cx="0" cy="0"/>
          <a:chOff x="0" y="0"/>
          <a:chExt cx="0" cy="0"/>
        </a:xfrm>
      </p:grpSpPr>
      <p:sp>
        <p:nvSpPr>
          <p:cNvPr id="2" name="Text 0"/>
          <p:cNvSpPr/>
          <p:nvPr/>
        </p:nvSpPr>
        <p:spPr>
          <a:xfrm>
            <a:off x="621792" y="292608"/>
            <a:ext cx="2377440" cy="274320"/>
          </a:xfrm>
          <a:prstGeom prst="rect">
            <a:avLst/>
          </a:prstGeom>
          <a:noFill/>
          <a:ln/>
        </p:spPr>
        <p:txBody>
          <a:bodyPr wrap="square" lIns="0" tIns="0" rIns="0" bIns="0" rtlCol="0" anchor="ctr">
            <a:normAutofit/>
          </a:bodyPr>
          <a:lstStyle/>
          <a:p>
            <a:pPr indent="0" marL="0">
              <a:buNone/>
            </a:pPr>
            <a:r>
              <a:rPr lang="en-US" sz="1200" b="1" spc="170" kern="0" dirty="0">
                <a:solidFill>
                  <a:srgbClr val="FFFFFF"/>
                </a:solidFill>
                <a:latin typeface="Aptos" pitchFamily="34" charset="0"/>
                <a:ea typeface="Aptos" pitchFamily="34" charset="-122"/>
                <a:cs typeface="Aptos" pitchFamily="34" charset="-120"/>
              </a:rPr>
              <a:t>DUCKTUTOR</a:t>
            </a:r>
            <a:endParaRPr lang="en-US" sz="1200" dirty="0"/>
          </a:p>
        </p:txBody>
      </p:sp>
      <p:sp>
        <p:nvSpPr>
          <p:cNvPr id="3" name="Text 1"/>
          <p:cNvSpPr/>
          <p:nvPr/>
        </p:nvSpPr>
        <p:spPr>
          <a:xfrm>
            <a:off x="9400032" y="292608"/>
            <a:ext cx="2103120" cy="274320"/>
          </a:xfrm>
          <a:prstGeom prst="rect">
            <a:avLst/>
          </a:prstGeom>
          <a:noFill/>
          <a:ln/>
        </p:spPr>
        <p:txBody>
          <a:bodyPr wrap="square" lIns="0" tIns="0" rIns="0" bIns="0" rtlCol="0" anchor="ctr">
            <a:normAutofit/>
          </a:bodyPr>
          <a:lstStyle/>
          <a:p>
            <a:pPr algn="r" indent="0" marL="0">
              <a:buNone/>
            </a:pPr>
            <a:r>
              <a:rPr lang="en-US" sz="950" b="1" spc="130" kern="0" dirty="0">
                <a:solidFill>
                  <a:srgbClr val="94A4C1"/>
                </a:solidFill>
                <a:latin typeface="Aptos" pitchFamily="34" charset="0"/>
                <a:ea typeface="Aptos" pitchFamily="34" charset="-122"/>
                <a:cs typeface="Aptos" pitchFamily="34" charset="-120"/>
              </a:rPr>
              <a:t>// THE BUILD</a:t>
            </a:r>
            <a:endParaRPr lang="en-US" sz="950" dirty="0"/>
          </a:p>
        </p:txBody>
      </p:sp>
      <p:sp>
        <p:nvSpPr>
          <p:cNvPr id="4" name="Shape 2"/>
          <p:cNvSpPr/>
          <p:nvPr/>
        </p:nvSpPr>
        <p:spPr>
          <a:xfrm>
            <a:off x="630936" y="713232"/>
            <a:ext cx="10927080" cy="0"/>
          </a:xfrm>
          <a:prstGeom prst="line">
            <a:avLst/>
          </a:prstGeom>
          <a:noFill/>
          <a:ln w="10160">
            <a:solidFill>
              <a:srgbClr val="273651"/>
            </a:solidFill>
            <a:prstDash val="solid"/>
          </a:ln>
        </p:spPr>
      </p:sp>
      <p:sp>
        <p:nvSpPr>
          <p:cNvPr id="5" name="Text 3"/>
          <p:cNvSpPr/>
          <p:nvPr/>
        </p:nvSpPr>
        <p:spPr>
          <a:xfrm>
            <a:off x="640080" y="969264"/>
            <a:ext cx="10972800" cy="640080"/>
          </a:xfrm>
          <a:prstGeom prst="rect">
            <a:avLst/>
          </a:prstGeom>
          <a:noFill/>
          <a:ln/>
        </p:spPr>
        <p:txBody>
          <a:bodyPr wrap="square" lIns="0" tIns="0" rIns="0" bIns="0" rtlCol="0" anchor="ctr">
            <a:normAutofit/>
          </a:bodyPr>
          <a:lstStyle/>
          <a:p>
            <a:pPr indent="0" marL="0">
              <a:buNone/>
            </a:pPr>
            <a:r>
              <a:rPr lang="en-US" sz="3320" b="1" dirty="0">
                <a:solidFill>
                  <a:srgbClr val="FFFFFF"/>
                </a:solidFill>
                <a:latin typeface="Aptos" pitchFamily="34" charset="0"/>
                <a:ea typeface="Aptos" pitchFamily="34" charset="-122"/>
                <a:cs typeface="Aptos" pitchFamily="34" charset="-120"/>
              </a:rPr>
              <a:t>Gemma is the tutor—not a decorative API.</a:t>
            </a:r>
            <a:endParaRPr lang="en-US" sz="3320" dirty="0"/>
          </a:p>
        </p:txBody>
      </p:sp>
      <p:sp>
        <p:nvSpPr>
          <p:cNvPr id="6" name="Text 4"/>
          <p:cNvSpPr/>
          <p:nvPr/>
        </p:nvSpPr>
        <p:spPr>
          <a:xfrm>
            <a:off x="649224" y="1719072"/>
            <a:ext cx="10735056" cy="365760"/>
          </a:xfrm>
          <a:prstGeom prst="rect">
            <a:avLst/>
          </a:prstGeom>
          <a:noFill/>
          <a:ln/>
        </p:spPr>
        <p:txBody>
          <a:bodyPr wrap="square" lIns="0" tIns="0" rIns="0" bIns="0" rtlCol="0" anchor="ctr">
            <a:normAutofit/>
          </a:bodyPr>
          <a:lstStyle/>
          <a:p>
            <a:pPr indent="0" marL="0">
              <a:buNone/>
            </a:pPr>
            <a:r>
              <a:rPr lang="en-US" sz="1800" dirty="0">
                <a:solidFill>
                  <a:srgbClr val="AFBED4"/>
                </a:solidFill>
                <a:latin typeface="Aptos" pitchFamily="34" charset="0"/>
                <a:ea typeface="Aptos" pitchFamily="34" charset="-122"/>
                <a:cs typeface="Aptos" pitchFamily="34" charset="-120"/>
              </a:rPr>
              <a:t>A functional prototype with a stateful pedagogy layer.</a:t>
            </a:r>
            <a:endParaRPr lang="en-US" sz="1800" dirty="0"/>
          </a:p>
        </p:txBody>
      </p:sp>
      <p:sp>
        <p:nvSpPr>
          <p:cNvPr id="7" name="Shape 5"/>
          <p:cNvSpPr/>
          <p:nvPr/>
        </p:nvSpPr>
        <p:spPr>
          <a:xfrm>
            <a:off x="658368" y="2606040"/>
            <a:ext cx="3218688" cy="1938528"/>
          </a:xfrm>
          <a:prstGeom prst="roundRect">
            <a:avLst>
              <a:gd name="adj" fmla="val 7075"/>
            </a:avLst>
          </a:prstGeom>
          <a:solidFill>
            <a:srgbClr val="1C2C4B"/>
          </a:solidFill>
          <a:ln w="12700">
            <a:solidFill>
              <a:srgbClr val="1C2C4B">
                <a:alpha val="0"/>
              </a:srgbClr>
            </a:solidFill>
            <a:prstDash val="solid"/>
          </a:ln>
        </p:spPr>
      </p:sp>
      <p:sp>
        <p:nvSpPr>
          <p:cNvPr id="8" name="Shape 6"/>
          <p:cNvSpPr/>
          <p:nvPr/>
        </p:nvSpPr>
        <p:spPr>
          <a:xfrm>
            <a:off x="841248" y="2880360"/>
            <a:ext cx="45720" cy="393192"/>
          </a:xfrm>
          <a:prstGeom prst="rect">
            <a:avLst>
              <a:gd name="adj" fmla="val 300000"/>
            </a:avLst>
          </a:prstGeom>
          <a:solidFill>
            <a:srgbClr val="66DBC9"/>
          </a:solidFill>
          <a:ln w="12700">
            <a:solidFill>
              <a:srgbClr val="66DBC9">
                <a:alpha val="0"/>
              </a:srgbClr>
            </a:solidFill>
            <a:prstDash val="solid"/>
          </a:ln>
        </p:spPr>
      </p:sp>
      <p:sp>
        <p:nvSpPr>
          <p:cNvPr id="9" name="Text 7"/>
          <p:cNvSpPr/>
          <p:nvPr/>
        </p:nvSpPr>
        <p:spPr>
          <a:xfrm>
            <a:off x="1024128" y="2852928"/>
            <a:ext cx="2651760" cy="420624"/>
          </a:xfrm>
          <a:prstGeom prst="rect">
            <a:avLst/>
          </a:prstGeom>
          <a:noFill/>
          <a:ln/>
        </p:spPr>
        <p:txBody>
          <a:bodyPr wrap="square" lIns="0" tIns="0" rIns="0" bIns="0" rtlCol="0" anchor="ctr">
            <a:normAutofit/>
          </a:bodyPr>
          <a:lstStyle/>
          <a:p>
            <a:pPr indent="0" marL="0">
              <a:buNone/>
            </a:pPr>
            <a:r>
              <a:rPr lang="en-US" sz="1440" b="1" spc="55" kern="0" dirty="0">
                <a:solidFill>
                  <a:srgbClr val="66DBC9"/>
                </a:solidFill>
                <a:latin typeface="Aptos" pitchFamily="34" charset="0"/>
                <a:ea typeface="Aptos" pitchFamily="34" charset="-122"/>
                <a:cs typeface="Aptos" pitchFamily="34" charset="-120"/>
              </a:rPr>
              <a:t>LEARNER EXPERIENCE</a:t>
            </a:r>
            <a:endParaRPr lang="en-US" sz="1440" dirty="0"/>
          </a:p>
        </p:txBody>
      </p:sp>
      <p:sp>
        <p:nvSpPr>
          <p:cNvPr id="10" name="Text 8"/>
          <p:cNvSpPr/>
          <p:nvPr/>
        </p:nvSpPr>
        <p:spPr>
          <a:xfrm>
            <a:off x="996696" y="3547872"/>
            <a:ext cx="2578608" cy="649224"/>
          </a:xfrm>
          <a:prstGeom prst="rect">
            <a:avLst/>
          </a:prstGeom>
          <a:noFill/>
          <a:ln/>
        </p:spPr>
        <p:txBody>
          <a:bodyPr wrap="square" lIns="0" tIns="0" rIns="0" bIns="0" rtlCol="0" anchor="ctr">
            <a:normAutofit/>
          </a:bodyPr>
          <a:lstStyle/>
          <a:p>
            <a:pPr indent="0" marL="0">
              <a:buNone/>
            </a:pPr>
            <a:r>
              <a:rPr lang="en-US" sz="1540" dirty="0">
                <a:solidFill>
                  <a:srgbClr val="FFFFFF"/>
                </a:solidFill>
                <a:latin typeface="Aptos" pitchFamily="34" charset="0"/>
                <a:ea typeface="Aptos" pitchFamily="34" charset="-122"/>
                <a:cs typeface="Aptos" pitchFamily="34" charset="-120"/>
              </a:rPr>
              <a:t>Streamlit app</a:t>
            </a:r>
            <a:endParaRPr lang="en-US" sz="1540" dirty="0"/>
          </a:p>
          <a:p>
            <a:pPr indent="0" marL="0">
              <a:buNone/>
            </a:pPr>
            <a:r>
              <a:rPr lang="en-US" sz="1540" dirty="0">
                <a:solidFill>
                  <a:srgbClr val="FFFFFF"/>
                </a:solidFill>
                <a:latin typeface="Aptos" pitchFamily="34" charset="0"/>
                <a:ea typeface="Aptos" pitchFamily="34" charset="-122"/>
                <a:cs typeface="Aptos" pitchFamily="34" charset="-120"/>
              </a:rPr>
              <a:t>Own-code workspace + exercises</a:t>
            </a:r>
            <a:endParaRPr lang="en-US" sz="1540" dirty="0"/>
          </a:p>
        </p:txBody>
      </p:sp>
      <p:sp>
        <p:nvSpPr>
          <p:cNvPr id="11" name="Text 9"/>
          <p:cNvSpPr/>
          <p:nvPr/>
        </p:nvSpPr>
        <p:spPr>
          <a:xfrm>
            <a:off x="3922776" y="3300984"/>
            <a:ext cx="502920" cy="420624"/>
          </a:xfrm>
          <a:prstGeom prst="rect">
            <a:avLst/>
          </a:prstGeom>
          <a:noFill/>
          <a:ln/>
        </p:spPr>
        <p:txBody>
          <a:bodyPr wrap="square" lIns="0" tIns="0" rIns="0" bIns="0" rtlCol="0" anchor="ctr">
            <a:normAutofit/>
          </a:bodyPr>
          <a:lstStyle/>
          <a:p>
            <a:pPr algn="ctr" indent="0" marL="0">
              <a:buNone/>
            </a:pPr>
            <a:r>
              <a:rPr lang="en-US" sz="2700" b="1" dirty="0">
                <a:solidFill>
                  <a:srgbClr val="FFC94F"/>
                </a:solidFill>
                <a:latin typeface="Aptos" pitchFamily="34" charset="0"/>
                <a:ea typeface="Aptos" pitchFamily="34" charset="-122"/>
                <a:cs typeface="Aptos" pitchFamily="34" charset="-120"/>
              </a:rPr>
              <a:t>→</a:t>
            </a:r>
            <a:endParaRPr lang="en-US" sz="2700" dirty="0"/>
          </a:p>
        </p:txBody>
      </p:sp>
      <p:sp>
        <p:nvSpPr>
          <p:cNvPr id="12" name="Shape 10"/>
          <p:cNvSpPr/>
          <p:nvPr/>
        </p:nvSpPr>
        <p:spPr>
          <a:xfrm>
            <a:off x="4443984" y="2606040"/>
            <a:ext cx="3218688" cy="1938528"/>
          </a:xfrm>
          <a:prstGeom prst="roundRect">
            <a:avLst>
              <a:gd name="adj" fmla="val 7075"/>
            </a:avLst>
          </a:prstGeom>
          <a:solidFill>
            <a:srgbClr val="1C2C4B"/>
          </a:solidFill>
          <a:ln w="12700">
            <a:solidFill>
              <a:srgbClr val="1C2C4B">
                <a:alpha val="0"/>
              </a:srgbClr>
            </a:solidFill>
            <a:prstDash val="solid"/>
          </a:ln>
        </p:spPr>
      </p:sp>
      <p:sp>
        <p:nvSpPr>
          <p:cNvPr id="13" name="Shape 11"/>
          <p:cNvSpPr/>
          <p:nvPr/>
        </p:nvSpPr>
        <p:spPr>
          <a:xfrm>
            <a:off x="4626864" y="2880360"/>
            <a:ext cx="45720" cy="393192"/>
          </a:xfrm>
          <a:prstGeom prst="rect">
            <a:avLst>
              <a:gd name="adj" fmla="val 300000"/>
            </a:avLst>
          </a:prstGeom>
          <a:solidFill>
            <a:srgbClr val="FFC94F"/>
          </a:solidFill>
          <a:ln w="12700">
            <a:solidFill>
              <a:srgbClr val="FFC94F">
                <a:alpha val="0"/>
              </a:srgbClr>
            </a:solidFill>
            <a:prstDash val="solid"/>
          </a:ln>
        </p:spPr>
      </p:sp>
      <p:sp>
        <p:nvSpPr>
          <p:cNvPr id="14" name="Text 12"/>
          <p:cNvSpPr/>
          <p:nvPr/>
        </p:nvSpPr>
        <p:spPr>
          <a:xfrm>
            <a:off x="4809744" y="2852928"/>
            <a:ext cx="2651760" cy="420624"/>
          </a:xfrm>
          <a:prstGeom prst="rect">
            <a:avLst/>
          </a:prstGeom>
          <a:noFill/>
          <a:ln/>
        </p:spPr>
        <p:txBody>
          <a:bodyPr wrap="square" lIns="0" tIns="0" rIns="0" bIns="0" rtlCol="0" anchor="ctr">
            <a:normAutofit/>
          </a:bodyPr>
          <a:lstStyle/>
          <a:p>
            <a:pPr indent="0" marL="0">
              <a:buNone/>
            </a:pPr>
            <a:r>
              <a:rPr lang="en-US" sz="1440" b="1" spc="55" kern="0" dirty="0">
                <a:solidFill>
                  <a:srgbClr val="FFC94F"/>
                </a:solidFill>
                <a:latin typeface="Aptos" pitchFamily="34" charset="0"/>
                <a:ea typeface="Aptos" pitchFamily="34" charset="-122"/>
                <a:cs typeface="Aptos" pitchFamily="34" charset="-120"/>
              </a:rPr>
              <a:t>TUTORING ORCHESTRATION</a:t>
            </a:r>
            <a:endParaRPr lang="en-US" sz="1440" dirty="0"/>
          </a:p>
        </p:txBody>
      </p:sp>
      <p:sp>
        <p:nvSpPr>
          <p:cNvPr id="15" name="Text 13"/>
          <p:cNvSpPr/>
          <p:nvPr/>
        </p:nvSpPr>
        <p:spPr>
          <a:xfrm>
            <a:off x="4782312" y="3547872"/>
            <a:ext cx="2578608" cy="649224"/>
          </a:xfrm>
          <a:prstGeom prst="rect">
            <a:avLst/>
          </a:prstGeom>
          <a:noFill/>
          <a:ln/>
        </p:spPr>
        <p:txBody>
          <a:bodyPr wrap="square" lIns="0" tIns="0" rIns="0" bIns="0" rtlCol="0" anchor="ctr">
            <a:normAutofit/>
          </a:bodyPr>
          <a:lstStyle/>
          <a:p>
            <a:pPr indent="0" marL="0">
              <a:buNone/>
            </a:pPr>
            <a:r>
              <a:rPr lang="en-US" sz="1540" dirty="0">
                <a:solidFill>
                  <a:srgbClr val="FFFFFF"/>
                </a:solidFill>
                <a:latin typeface="Aptos" pitchFamily="34" charset="0"/>
                <a:ea typeface="Aptos" pitchFamily="34" charset="-122"/>
                <a:cs typeface="Aptos" pitchFamily="34" charset="-120"/>
              </a:rPr>
              <a:t>Session state, hints, confidence</a:t>
            </a:r>
            <a:endParaRPr lang="en-US" sz="1540" dirty="0"/>
          </a:p>
          <a:p>
            <a:pPr indent="0" marL="0">
              <a:buNone/>
            </a:pPr>
            <a:r>
              <a:rPr lang="en-US" sz="1540" dirty="0">
                <a:solidFill>
                  <a:srgbClr val="FFFFFF"/>
                </a:solidFill>
                <a:latin typeface="Aptos" pitchFamily="34" charset="0"/>
                <a:ea typeface="Aptos" pitchFamily="34" charset="-122"/>
                <a:cs typeface="Aptos" pitchFamily="34" charset="-120"/>
              </a:rPr>
              <a:t>Predictions + learning notes</a:t>
            </a:r>
            <a:endParaRPr lang="en-US" sz="1540" dirty="0"/>
          </a:p>
        </p:txBody>
      </p:sp>
      <p:sp>
        <p:nvSpPr>
          <p:cNvPr id="16" name="Text 14"/>
          <p:cNvSpPr/>
          <p:nvPr/>
        </p:nvSpPr>
        <p:spPr>
          <a:xfrm>
            <a:off x="7708392" y="3300984"/>
            <a:ext cx="502920" cy="420624"/>
          </a:xfrm>
          <a:prstGeom prst="rect">
            <a:avLst/>
          </a:prstGeom>
          <a:noFill/>
          <a:ln/>
        </p:spPr>
        <p:txBody>
          <a:bodyPr wrap="square" lIns="0" tIns="0" rIns="0" bIns="0" rtlCol="0" anchor="ctr">
            <a:normAutofit/>
          </a:bodyPr>
          <a:lstStyle/>
          <a:p>
            <a:pPr algn="ctr" indent="0" marL="0">
              <a:buNone/>
            </a:pPr>
            <a:r>
              <a:rPr lang="en-US" sz="2700" b="1" dirty="0">
                <a:solidFill>
                  <a:srgbClr val="FFC94F"/>
                </a:solidFill>
                <a:latin typeface="Aptos" pitchFamily="34" charset="0"/>
                <a:ea typeface="Aptos" pitchFamily="34" charset="-122"/>
                <a:cs typeface="Aptos" pitchFamily="34" charset="-120"/>
              </a:rPr>
              <a:t>→</a:t>
            </a:r>
            <a:endParaRPr lang="en-US" sz="2700" dirty="0"/>
          </a:p>
        </p:txBody>
      </p:sp>
      <p:sp>
        <p:nvSpPr>
          <p:cNvPr id="17" name="Shape 15"/>
          <p:cNvSpPr/>
          <p:nvPr/>
        </p:nvSpPr>
        <p:spPr>
          <a:xfrm>
            <a:off x="8229600" y="2606040"/>
            <a:ext cx="3300984" cy="1938528"/>
          </a:xfrm>
          <a:prstGeom prst="roundRect">
            <a:avLst>
              <a:gd name="adj" fmla="val 7075"/>
            </a:avLst>
          </a:prstGeom>
          <a:solidFill>
            <a:srgbClr val="1C2C4B"/>
          </a:solidFill>
          <a:ln w="12700">
            <a:solidFill>
              <a:srgbClr val="1C2C4B">
                <a:alpha val="0"/>
              </a:srgbClr>
            </a:solidFill>
            <a:prstDash val="solid"/>
          </a:ln>
        </p:spPr>
      </p:sp>
      <p:sp>
        <p:nvSpPr>
          <p:cNvPr id="18" name="Shape 16"/>
          <p:cNvSpPr/>
          <p:nvPr/>
        </p:nvSpPr>
        <p:spPr>
          <a:xfrm>
            <a:off x="8412480" y="2880360"/>
            <a:ext cx="45720" cy="393192"/>
          </a:xfrm>
          <a:prstGeom prst="rect">
            <a:avLst>
              <a:gd name="adj" fmla="val 300000"/>
            </a:avLst>
          </a:prstGeom>
          <a:solidFill>
            <a:srgbClr val="DDD8FF"/>
          </a:solidFill>
          <a:ln w="12700">
            <a:solidFill>
              <a:srgbClr val="DDD8FF">
                <a:alpha val="0"/>
              </a:srgbClr>
            </a:solidFill>
            <a:prstDash val="solid"/>
          </a:ln>
        </p:spPr>
      </p:sp>
      <p:sp>
        <p:nvSpPr>
          <p:cNvPr id="19" name="Text 17"/>
          <p:cNvSpPr/>
          <p:nvPr/>
        </p:nvSpPr>
        <p:spPr>
          <a:xfrm>
            <a:off x="8595360" y="2852928"/>
            <a:ext cx="2734056" cy="420624"/>
          </a:xfrm>
          <a:prstGeom prst="rect">
            <a:avLst/>
          </a:prstGeom>
          <a:noFill/>
          <a:ln/>
        </p:spPr>
        <p:txBody>
          <a:bodyPr wrap="square" lIns="0" tIns="0" rIns="0" bIns="0" rtlCol="0" anchor="ctr">
            <a:normAutofit/>
          </a:bodyPr>
          <a:lstStyle/>
          <a:p>
            <a:pPr indent="0" marL="0">
              <a:buNone/>
            </a:pPr>
            <a:r>
              <a:rPr lang="en-US" sz="1440" b="1" spc="55" kern="0" dirty="0">
                <a:solidFill>
                  <a:srgbClr val="DDD8FF"/>
                </a:solidFill>
                <a:latin typeface="Aptos" pitchFamily="34" charset="0"/>
                <a:ea typeface="Aptos" pitchFamily="34" charset="-122"/>
                <a:cs typeface="Aptos" pitchFamily="34" charset="-120"/>
              </a:rPr>
              <a:t>CORE INTELLIGENCE</a:t>
            </a:r>
            <a:endParaRPr lang="en-US" sz="1440" dirty="0"/>
          </a:p>
        </p:txBody>
      </p:sp>
      <p:sp>
        <p:nvSpPr>
          <p:cNvPr id="20" name="Text 18"/>
          <p:cNvSpPr/>
          <p:nvPr/>
        </p:nvSpPr>
        <p:spPr>
          <a:xfrm>
            <a:off x="8567928" y="3547872"/>
            <a:ext cx="2660904" cy="649224"/>
          </a:xfrm>
          <a:prstGeom prst="rect">
            <a:avLst/>
          </a:prstGeom>
          <a:noFill/>
          <a:ln/>
        </p:spPr>
        <p:txBody>
          <a:bodyPr wrap="square" lIns="0" tIns="0" rIns="0" bIns="0" rtlCol="0" anchor="ctr">
            <a:normAutofit/>
          </a:bodyPr>
          <a:lstStyle/>
          <a:p>
            <a:pPr indent="0" marL="0">
              <a:buNone/>
            </a:pPr>
            <a:r>
              <a:rPr lang="en-US" sz="1540" dirty="0">
                <a:solidFill>
                  <a:srgbClr val="FFFFFF"/>
                </a:solidFill>
                <a:latin typeface="Aptos" pitchFamily="34" charset="0"/>
                <a:ea typeface="Aptos" pitchFamily="34" charset="-122"/>
                <a:cs typeface="Aptos" pitchFamily="34" charset="-120"/>
              </a:rPr>
              <a:t>Hosted Gemma 4 26B A4B</a:t>
            </a:r>
            <a:endParaRPr lang="en-US" sz="1540" dirty="0"/>
          </a:p>
          <a:p>
            <a:pPr indent="0" marL="0">
              <a:buNone/>
            </a:pPr>
            <a:r>
              <a:rPr lang="en-US" sz="1540" dirty="0">
                <a:solidFill>
                  <a:srgbClr val="FFFFFF"/>
                </a:solidFill>
                <a:latin typeface="Aptos" pitchFamily="34" charset="0"/>
                <a:ea typeface="Aptos" pitchFamily="34" charset="-122"/>
                <a:cs typeface="Aptos" pitchFamily="34" charset="-120"/>
              </a:rPr>
              <a:t>31B model optional</a:t>
            </a:r>
            <a:endParaRPr lang="en-US" sz="1540" dirty="0"/>
          </a:p>
        </p:txBody>
      </p:sp>
      <p:sp>
        <p:nvSpPr>
          <p:cNvPr id="21" name="Shape 19"/>
          <p:cNvSpPr/>
          <p:nvPr/>
        </p:nvSpPr>
        <p:spPr>
          <a:xfrm>
            <a:off x="649224" y="4965192"/>
            <a:ext cx="5340096" cy="694944"/>
          </a:xfrm>
          <a:prstGeom prst="roundRect">
            <a:avLst>
              <a:gd name="adj" fmla="val 19737"/>
            </a:avLst>
          </a:prstGeom>
          <a:solidFill>
            <a:srgbClr val="203755"/>
          </a:solidFill>
          <a:ln w="12700">
            <a:solidFill>
              <a:srgbClr val="203755">
                <a:alpha val="0"/>
              </a:srgbClr>
            </a:solidFill>
            <a:prstDash val="solid"/>
          </a:ln>
        </p:spPr>
      </p:sp>
      <p:sp>
        <p:nvSpPr>
          <p:cNvPr id="22" name="Shape 20"/>
          <p:cNvSpPr/>
          <p:nvPr/>
        </p:nvSpPr>
        <p:spPr>
          <a:xfrm>
            <a:off x="6126480" y="4965192"/>
            <a:ext cx="5404104" cy="694944"/>
          </a:xfrm>
          <a:prstGeom prst="roundRect">
            <a:avLst>
              <a:gd name="adj" fmla="val 19737"/>
            </a:avLst>
          </a:prstGeom>
          <a:solidFill>
            <a:srgbClr val="203755"/>
          </a:solidFill>
          <a:ln w="12700">
            <a:solidFill>
              <a:srgbClr val="203755">
                <a:alpha val="0"/>
              </a:srgbClr>
            </a:solidFill>
            <a:prstDash val="solid"/>
          </a:ln>
        </p:spPr>
      </p:sp>
      <p:sp>
        <p:nvSpPr>
          <p:cNvPr id="23" name="Text 21"/>
          <p:cNvSpPr/>
          <p:nvPr/>
        </p:nvSpPr>
        <p:spPr>
          <a:xfrm>
            <a:off x="877824" y="5157216"/>
            <a:ext cx="4937760" cy="310896"/>
          </a:xfrm>
          <a:prstGeom prst="rect">
            <a:avLst/>
          </a:prstGeom>
          <a:noFill/>
          <a:ln/>
        </p:spPr>
        <p:txBody>
          <a:bodyPr wrap="square" lIns="0" tIns="0" rIns="0" bIns="0" rtlCol="0" anchor="ctr">
            <a:normAutofit/>
          </a:bodyPr>
          <a:lstStyle/>
          <a:p>
            <a:pPr indent="0" marL="0">
              <a:buNone/>
            </a:pPr>
            <a:r>
              <a:rPr lang="en-US" sz="2000" b="1" dirty="0">
                <a:solidFill>
                  <a:srgbClr val="FFFFFF"/>
                </a:solidFill>
                <a:latin typeface="Aptos" pitchFamily="34" charset="0"/>
                <a:ea typeface="Aptos" pitchFamily="34" charset="-122"/>
                <a:cs typeface="Aptos" pitchFamily="34" charset="-120"/>
              </a:rPr>
              <a:t>58 software checks passing</a:t>
            </a:r>
            <a:endParaRPr lang="en-US" sz="2000" dirty="0"/>
          </a:p>
        </p:txBody>
      </p:sp>
      <p:sp>
        <p:nvSpPr>
          <p:cNvPr id="24" name="Text 22"/>
          <p:cNvSpPr/>
          <p:nvPr/>
        </p:nvSpPr>
        <p:spPr>
          <a:xfrm>
            <a:off x="6336792" y="5184648"/>
            <a:ext cx="4983480" cy="256032"/>
          </a:xfrm>
          <a:prstGeom prst="rect">
            <a:avLst/>
          </a:prstGeom>
          <a:noFill/>
          <a:ln/>
        </p:spPr>
        <p:txBody>
          <a:bodyPr wrap="square" lIns="0" tIns="0" rIns="0" bIns="0" rtlCol="0" anchor="ctr">
            <a:normAutofit/>
          </a:bodyPr>
          <a:lstStyle/>
          <a:p>
            <a:pPr indent="0" marL="0">
              <a:buNone/>
            </a:pPr>
            <a:r>
              <a:rPr lang="en-US" sz="1690" b="1" dirty="0">
                <a:solidFill>
                  <a:srgbClr val="66DBC9"/>
                </a:solidFill>
                <a:latin typeface="Aptos" pitchFamily="34" charset="0"/>
                <a:ea typeface="Aptos" pitchFamily="34" charset="-122"/>
                <a:cs typeface="Aptos" pitchFamily="34" charset="-120"/>
              </a:rPr>
              <a:t>32 live teaching scenarios prepared*</a:t>
            </a:r>
            <a:endParaRPr lang="en-US" sz="1690" dirty="0"/>
          </a:p>
        </p:txBody>
      </p:sp>
      <p:sp>
        <p:nvSpPr>
          <p:cNvPr id="25" name="Text 23"/>
          <p:cNvSpPr/>
          <p:nvPr/>
        </p:nvSpPr>
        <p:spPr>
          <a:xfrm>
            <a:off x="658368" y="5870448"/>
            <a:ext cx="10917936" cy="265176"/>
          </a:xfrm>
          <a:prstGeom prst="rect">
            <a:avLst/>
          </a:prstGeom>
          <a:noFill/>
          <a:ln/>
        </p:spPr>
        <p:txBody>
          <a:bodyPr wrap="square" lIns="0" tIns="0" rIns="0" bIns="0" rtlCol="0" anchor="ctr">
            <a:normAutofit/>
          </a:bodyPr>
          <a:lstStyle/>
          <a:p>
            <a:pPr indent="0" marL="0">
              <a:buNone/>
            </a:pPr>
            <a:r>
              <a:rPr lang="en-US" sz="1060" dirty="0">
                <a:solidFill>
                  <a:srgbClr val="8FA0BE"/>
                </a:solidFill>
                <a:latin typeface="Aptos" pitchFamily="34" charset="0"/>
                <a:ea typeface="Aptos" pitchFamily="34" charset="-122"/>
                <a:cs typeface="Aptos" pitchFamily="34" charset="-120"/>
              </a:rPr>
              <a:t>* Not a claim of measured tutoring accuracy; scenario batch still needs execution.</a:t>
            </a:r>
            <a:endParaRPr lang="en-US" sz="1060" dirty="0"/>
          </a:p>
        </p:txBody>
      </p:sp>
      <p:sp>
        <p:nvSpPr>
          <p:cNvPr id="26" name="Text 24"/>
          <p:cNvSpPr/>
          <p:nvPr/>
        </p:nvSpPr>
        <p:spPr>
          <a:xfrm>
            <a:off x="621792" y="6519672"/>
            <a:ext cx="4937760" cy="164592"/>
          </a:xfrm>
          <a:prstGeom prst="rect">
            <a:avLst/>
          </a:prstGeom>
          <a:noFill/>
          <a:ln/>
        </p:spPr>
        <p:txBody>
          <a:bodyPr wrap="square" lIns="0" tIns="0" rIns="0" bIns="0" rtlCol="0" anchor="ctr">
            <a:normAutofit/>
          </a:bodyPr>
          <a:lstStyle/>
          <a:p>
            <a:pPr indent="0" marL="0">
              <a:buNone/>
            </a:pPr>
            <a:r>
              <a:rPr lang="en-US" sz="880" b="1" spc="100" kern="0" dirty="0">
                <a:solidFill>
                  <a:srgbClr val="788BA8"/>
                </a:solidFill>
                <a:latin typeface="Aptos" pitchFamily="34" charset="0"/>
                <a:ea typeface="Aptos" pitchFamily="34" charset="-122"/>
                <a:cs typeface="Aptos" pitchFamily="34" charset="-120"/>
              </a:rPr>
              <a:t>DUCKTOBERFEST 2026  •  TEAM NEURALFORGE</a:t>
            </a:r>
            <a:endParaRPr lang="en-US" sz="880" dirty="0"/>
          </a:p>
        </p:txBody>
      </p:sp>
      <p:sp>
        <p:nvSpPr>
          <p:cNvPr id="27" name="Text 25"/>
          <p:cNvSpPr/>
          <p:nvPr/>
        </p:nvSpPr>
        <p:spPr>
          <a:xfrm>
            <a:off x="10853928" y="6510528"/>
            <a:ext cx="713232" cy="192024"/>
          </a:xfrm>
          <a:prstGeom prst="rect">
            <a:avLst/>
          </a:prstGeom>
          <a:noFill/>
          <a:ln/>
        </p:spPr>
        <p:txBody>
          <a:bodyPr wrap="square" lIns="0" tIns="0" rIns="0" bIns="0" rtlCol="0" anchor="ctr">
            <a:normAutofit/>
          </a:bodyPr>
          <a:lstStyle/>
          <a:p>
            <a:pPr algn="r" indent="0" marL="0">
              <a:buNone/>
            </a:pPr>
            <a:r>
              <a:rPr lang="en-US" sz="880" b="1" dirty="0">
                <a:solidFill>
                  <a:srgbClr val="788BA8"/>
                </a:solidFill>
                <a:latin typeface="Aptos" pitchFamily="34" charset="0"/>
                <a:ea typeface="Aptos" pitchFamily="34" charset="-122"/>
                <a:cs typeface="Aptos" pitchFamily="34" charset="-120"/>
              </a:rPr>
              <a:t>05 / 06</a:t>
            </a:r>
            <a:endParaRPr lang="en-US" sz="8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C94F"/>
        </a:solidFill>
      </p:bgPr>
    </p:bg>
    <p:spTree>
      <p:nvGrpSpPr>
        <p:cNvPr id="1" name=""/>
        <p:cNvGrpSpPr/>
        <p:nvPr/>
      </p:nvGrpSpPr>
      <p:grpSpPr>
        <a:xfrm>
          <a:off x="0" y="0"/>
          <a:ext cx="0" cy="0"/>
          <a:chOff x="0" y="0"/>
          <a:chExt cx="0" cy="0"/>
        </a:xfrm>
      </p:grpSpPr>
      <p:sp>
        <p:nvSpPr>
          <p:cNvPr id="2" name="Shape 0"/>
          <p:cNvSpPr/>
          <p:nvPr/>
        </p:nvSpPr>
        <p:spPr>
          <a:xfrm>
            <a:off x="8394192" y="45720"/>
            <a:ext cx="3703320" cy="3703320"/>
          </a:xfrm>
          <a:prstGeom prst="ellipse">
            <a:avLst>
              <a:gd name="adj" fmla="val 3704"/>
            </a:avLst>
          </a:prstGeom>
          <a:solidFill>
            <a:srgbClr val="FFD66E"/>
          </a:solidFill>
          <a:ln w="12700">
            <a:solidFill>
              <a:srgbClr val="FFD66E">
                <a:alpha val="0"/>
              </a:srgbClr>
            </a:solidFill>
            <a:prstDash val="solid"/>
          </a:ln>
        </p:spPr>
      </p:sp>
      <p:sp>
        <p:nvSpPr>
          <p:cNvPr id="3" name="Shape 1"/>
          <p:cNvSpPr/>
          <p:nvPr/>
        </p:nvSpPr>
        <p:spPr>
          <a:xfrm>
            <a:off x="9089136" y="310896"/>
            <a:ext cx="2825496" cy="2825496"/>
          </a:xfrm>
          <a:prstGeom prst="ellipse">
            <a:avLst>
              <a:gd name="adj" fmla="val 4854"/>
            </a:avLst>
          </a:prstGeom>
          <a:solidFill>
            <a:srgbClr val="FFE19B"/>
          </a:solidFill>
          <a:ln w="12700">
            <a:solidFill>
              <a:srgbClr val="FFE19B">
                <a:alpha val="0"/>
              </a:srgbClr>
            </a:solidFill>
            <a:prstDash val="solid"/>
          </a:ln>
        </p:spPr>
      </p:sp>
      <p:sp>
        <p:nvSpPr>
          <p:cNvPr id="4" name="Text 2"/>
          <p:cNvSpPr/>
          <p:nvPr/>
        </p:nvSpPr>
        <p:spPr>
          <a:xfrm>
            <a:off x="694944" y="640080"/>
            <a:ext cx="2971800" cy="310896"/>
          </a:xfrm>
          <a:prstGeom prst="rect">
            <a:avLst/>
          </a:prstGeom>
          <a:noFill/>
          <a:ln/>
        </p:spPr>
        <p:txBody>
          <a:bodyPr wrap="square" lIns="0" tIns="0" rIns="0" bIns="0" rtlCol="0" anchor="ctr">
            <a:normAutofit/>
          </a:bodyPr>
          <a:lstStyle/>
          <a:p>
            <a:pPr indent="0" marL="0">
              <a:buNone/>
            </a:pPr>
            <a:r>
              <a:rPr lang="en-US" sz="1300" b="1" spc="210" kern="0" dirty="0">
                <a:solidFill>
                  <a:srgbClr val="111B2F"/>
                </a:solidFill>
                <a:latin typeface="Aptos" pitchFamily="34" charset="0"/>
                <a:ea typeface="Aptos" pitchFamily="34" charset="-122"/>
                <a:cs typeface="Aptos" pitchFamily="34" charset="-120"/>
              </a:rPr>
              <a:t>THE BIG IDEA</a:t>
            </a:r>
            <a:endParaRPr lang="en-US" sz="1300" dirty="0"/>
          </a:p>
        </p:txBody>
      </p:sp>
      <p:sp>
        <p:nvSpPr>
          <p:cNvPr id="5" name="Text 3"/>
          <p:cNvSpPr/>
          <p:nvPr/>
        </p:nvSpPr>
        <p:spPr>
          <a:xfrm>
            <a:off x="667512" y="1298448"/>
            <a:ext cx="9802368" cy="1929384"/>
          </a:xfrm>
          <a:prstGeom prst="rect">
            <a:avLst/>
          </a:prstGeom>
          <a:noFill/>
          <a:ln/>
        </p:spPr>
        <p:txBody>
          <a:bodyPr wrap="square" lIns="0" tIns="0" rIns="0" bIns="0" rtlCol="0" anchor="ctr">
            <a:normAutofit/>
          </a:bodyPr>
          <a:lstStyle/>
          <a:p>
            <a:pPr indent="0" marL="0">
              <a:buNone/>
            </a:pPr>
            <a:r>
              <a:rPr lang="en-US" sz="5500" b="1" spc="-160" kern="0" dirty="0">
                <a:solidFill>
                  <a:srgbClr val="0C142B"/>
                </a:solidFill>
                <a:latin typeface="Aptos" pitchFamily="34" charset="0"/>
                <a:ea typeface="Aptos" pitchFamily="34" charset="-122"/>
                <a:cs typeface="Aptos" pitchFamily="34" charset="-120"/>
              </a:rPr>
              <a:t>Aha! beats</a:t>
            </a:r>
            <a:endParaRPr lang="en-US" sz="5500" dirty="0"/>
          </a:p>
          <a:p>
            <a:pPr indent="0" marL="0">
              <a:buNone/>
            </a:pPr>
            <a:r>
              <a:rPr lang="en-US" sz="5500" b="1" spc="-160" kern="0" dirty="0">
                <a:solidFill>
                  <a:srgbClr val="0C142B"/>
                </a:solidFill>
                <a:latin typeface="Aptos" pitchFamily="34" charset="0"/>
                <a:ea typeface="Aptos" pitchFamily="34" charset="-122"/>
                <a:cs typeface="Aptos" pitchFamily="34" charset="-120"/>
              </a:rPr>
              <a:t>autocomplete.</a:t>
            </a:r>
            <a:endParaRPr lang="en-US" sz="5500" dirty="0"/>
          </a:p>
        </p:txBody>
      </p:sp>
      <p:sp>
        <p:nvSpPr>
          <p:cNvPr id="6" name="Shape 4"/>
          <p:cNvSpPr/>
          <p:nvPr/>
        </p:nvSpPr>
        <p:spPr>
          <a:xfrm>
            <a:off x="704088" y="3730752"/>
            <a:ext cx="6272784" cy="0"/>
          </a:xfrm>
          <a:prstGeom prst="line">
            <a:avLst/>
          </a:prstGeom>
          <a:noFill/>
          <a:ln w="15240">
            <a:solidFill>
              <a:srgbClr val="0C142B"/>
            </a:solidFill>
            <a:prstDash val="solid"/>
          </a:ln>
        </p:spPr>
      </p:sp>
      <p:sp>
        <p:nvSpPr>
          <p:cNvPr id="7" name="Text 5"/>
          <p:cNvSpPr/>
          <p:nvPr/>
        </p:nvSpPr>
        <p:spPr>
          <a:xfrm>
            <a:off x="694944" y="3941064"/>
            <a:ext cx="5650992" cy="347472"/>
          </a:xfrm>
          <a:prstGeom prst="rect">
            <a:avLst/>
          </a:prstGeom>
          <a:noFill/>
          <a:ln/>
        </p:spPr>
        <p:txBody>
          <a:bodyPr wrap="square" lIns="0" tIns="0" rIns="0" bIns="0" rtlCol="0" anchor="ctr">
            <a:normAutofit/>
          </a:bodyPr>
          <a:lstStyle/>
          <a:p>
            <a:pPr indent="0" marL="0">
              <a:buNone/>
            </a:pPr>
            <a:r>
              <a:rPr lang="en-US" sz="1950" b="1" dirty="0">
                <a:solidFill>
                  <a:srgbClr val="0C142B"/>
                </a:solidFill>
                <a:latin typeface="Aptos" pitchFamily="34" charset="0"/>
                <a:ea typeface="Aptos" pitchFamily="34" charset="-122"/>
                <a:cs typeface="Aptos" pitchFamily="34" charset="-120"/>
              </a:rPr>
              <a:t>Confidence-aware questions.</a:t>
            </a:r>
            <a:endParaRPr lang="en-US" sz="1950" dirty="0"/>
          </a:p>
        </p:txBody>
      </p:sp>
      <p:sp>
        <p:nvSpPr>
          <p:cNvPr id="8" name="Text 6"/>
          <p:cNvSpPr/>
          <p:nvPr/>
        </p:nvSpPr>
        <p:spPr>
          <a:xfrm>
            <a:off x="694944" y="4389120"/>
            <a:ext cx="8476488" cy="329184"/>
          </a:xfrm>
          <a:prstGeom prst="rect">
            <a:avLst/>
          </a:prstGeom>
          <a:noFill/>
          <a:ln/>
        </p:spPr>
        <p:txBody>
          <a:bodyPr wrap="square" lIns="0" tIns="0" rIns="0" bIns="0" rtlCol="0" anchor="ctr">
            <a:normAutofit/>
          </a:bodyPr>
          <a:lstStyle/>
          <a:p>
            <a:pPr indent="0" marL="0">
              <a:buNone/>
            </a:pPr>
            <a:r>
              <a:rPr lang="en-US" sz="1800" dirty="0">
                <a:solidFill>
                  <a:srgbClr val="0C142B"/>
                </a:solidFill>
                <a:latin typeface="Aptos" pitchFamily="34" charset="0"/>
                <a:ea typeface="Aptos" pitchFamily="34" charset="-122"/>
                <a:cs typeface="Aptos" pitchFamily="34" charset="-120"/>
              </a:rPr>
              <a:t>Evidence-backed fixes. Learning that carries forward.</a:t>
            </a:r>
            <a:endParaRPr lang="en-US" sz="1800" dirty="0"/>
          </a:p>
        </p:txBody>
      </p:sp>
      <p:sp>
        <p:nvSpPr>
          <p:cNvPr id="9" name="Shape 7"/>
          <p:cNvSpPr/>
          <p:nvPr/>
        </p:nvSpPr>
        <p:spPr>
          <a:xfrm>
            <a:off x="667512" y="5175504"/>
            <a:ext cx="6931152" cy="685800"/>
          </a:xfrm>
          <a:prstGeom prst="roundRect">
            <a:avLst>
              <a:gd name="adj" fmla="val 20000"/>
            </a:avLst>
          </a:prstGeom>
          <a:solidFill>
            <a:srgbClr val="0C142B"/>
          </a:solidFill>
          <a:ln w="12700">
            <a:solidFill>
              <a:srgbClr val="0C142B">
                <a:alpha val="0"/>
              </a:srgbClr>
            </a:solidFill>
            <a:prstDash val="solid"/>
          </a:ln>
        </p:spPr>
      </p:sp>
      <p:sp>
        <p:nvSpPr>
          <p:cNvPr id="10" name="Text 8"/>
          <p:cNvSpPr/>
          <p:nvPr/>
        </p:nvSpPr>
        <p:spPr>
          <a:xfrm>
            <a:off x="941832" y="5358384"/>
            <a:ext cx="6382512" cy="274320"/>
          </a:xfrm>
          <a:prstGeom prst="rect">
            <a:avLst/>
          </a:prstGeom>
          <a:noFill/>
          <a:ln/>
        </p:spPr>
        <p:txBody>
          <a:bodyPr wrap="square" lIns="0" tIns="0" rIns="0" bIns="0" rtlCol="0" anchor="ctr">
            <a:normAutofit/>
          </a:bodyPr>
          <a:lstStyle/>
          <a:p>
            <a:pPr indent="0" marL="0">
              <a:buNone/>
            </a:pPr>
            <a:r>
              <a:rPr lang="en-US" sz="2130" b="1" dirty="0">
                <a:solidFill>
                  <a:srgbClr val="FFFFFF"/>
                </a:solidFill>
                <a:latin typeface="Aptos" pitchFamily="34" charset="0"/>
                <a:ea typeface="Aptos" pitchFamily="34" charset="-122"/>
                <a:cs typeface="Aptos" pitchFamily="34" charset="-120"/>
              </a:rPr>
              <a:t>The learner owns the solution.</a:t>
            </a:r>
            <a:endParaRPr lang="en-US" sz="2130" dirty="0"/>
          </a:p>
        </p:txBody>
      </p:sp>
      <p:sp>
        <p:nvSpPr>
          <p:cNvPr id="11" name="Shape 9"/>
          <p:cNvSpPr/>
          <p:nvPr/>
        </p:nvSpPr>
        <p:spPr>
          <a:xfrm>
            <a:off x="9079992" y="4257446"/>
            <a:ext cx="1865376" cy="1302106"/>
          </a:xfrm>
          <a:prstGeom prst="ellipse">
            <a:avLst>
              <a:gd name="adj" fmla="val 10534"/>
            </a:avLst>
          </a:prstGeom>
          <a:solidFill>
            <a:srgbClr val="FFC94F"/>
          </a:solidFill>
          <a:ln w="12700">
            <a:solidFill>
              <a:srgbClr val="FFC94F">
                <a:alpha val="0"/>
              </a:srgbClr>
            </a:solidFill>
            <a:prstDash val="solid"/>
          </a:ln>
        </p:spPr>
      </p:sp>
      <p:sp>
        <p:nvSpPr>
          <p:cNvPr id="12" name="Shape 10"/>
          <p:cNvSpPr/>
          <p:nvPr/>
        </p:nvSpPr>
        <p:spPr>
          <a:xfrm>
            <a:off x="8889797" y="3584448"/>
            <a:ext cx="1404518" cy="1404518"/>
          </a:xfrm>
          <a:prstGeom prst="ellipse">
            <a:avLst>
              <a:gd name="adj" fmla="val 9766"/>
            </a:avLst>
          </a:prstGeom>
          <a:solidFill>
            <a:srgbClr val="FFC94F"/>
          </a:solidFill>
          <a:ln w="12700">
            <a:solidFill>
              <a:srgbClr val="FFC94F">
                <a:alpha val="0"/>
              </a:srgbClr>
            </a:solidFill>
            <a:prstDash val="solid"/>
          </a:ln>
        </p:spPr>
      </p:sp>
      <p:sp>
        <p:nvSpPr>
          <p:cNvPr id="13" name="Shape 11"/>
          <p:cNvSpPr/>
          <p:nvPr/>
        </p:nvSpPr>
        <p:spPr>
          <a:xfrm>
            <a:off x="9752990" y="4440326"/>
            <a:ext cx="819302" cy="651053"/>
          </a:xfrm>
          <a:prstGeom prst="ellipse">
            <a:avLst>
              <a:gd name="adj" fmla="val 21067"/>
            </a:avLst>
          </a:prstGeom>
          <a:solidFill>
            <a:srgbClr val="F4B83B"/>
          </a:solidFill>
          <a:ln w="12700">
            <a:solidFill>
              <a:srgbClr val="F4B83B">
                <a:alpha val="0"/>
              </a:srgbClr>
            </a:solidFill>
            <a:prstDash val="solid"/>
          </a:ln>
        </p:spPr>
      </p:sp>
      <p:sp>
        <p:nvSpPr>
          <p:cNvPr id="14" name="Shape 12"/>
          <p:cNvSpPr/>
          <p:nvPr/>
        </p:nvSpPr>
        <p:spPr>
          <a:xfrm>
            <a:off x="9079992" y="4074566"/>
            <a:ext cx="204826" cy="131674"/>
          </a:xfrm>
          <a:prstGeom prst="ellipse">
            <a:avLst>
              <a:gd name="adj" fmla="val 104166"/>
            </a:avLst>
          </a:prstGeom>
          <a:solidFill>
            <a:srgbClr val="F3934C"/>
          </a:solidFill>
          <a:ln w="12700">
            <a:solidFill>
              <a:srgbClr val="F3934C">
                <a:alpha val="0"/>
              </a:srgbClr>
            </a:solidFill>
            <a:prstDash val="solid"/>
          </a:ln>
        </p:spPr>
      </p:sp>
      <p:sp>
        <p:nvSpPr>
          <p:cNvPr id="15" name="Shape 13"/>
          <p:cNvSpPr/>
          <p:nvPr/>
        </p:nvSpPr>
        <p:spPr>
          <a:xfrm>
            <a:off x="9701784" y="4016045"/>
            <a:ext cx="95098" cy="95098"/>
          </a:xfrm>
          <a:prstGeom prst="ellipse">
            <a:avLst>
              <a:gd name="adj" fmla="val 144230"/>
            </a:avLst>
          </a:prstGeom>
          <a:solidFill>
            <a:srgbClr val="111B2F"/>
          </a:solidFill>
          <a:ln w="12700">
            <a:solidFill>
              <a:srgbClr val="111B2F">
                <a:alpha val="0"/>
              </a:srgbClr>
            </a:solidFill>
            <a:prstDash val="solid"/>
          </a:ln>
        </p:spPr>
      </p:sp>
      <p:sp>
        <p:nvSpPr>
          <p:cNvPr id="16" name="Shape 14"/>
          <p:cNvSpPr/>
          <p:nvPr/>
        </p:nvSpPr>
        <p:spPr>
          <a:xfrm>
            <a:off x="9731045" y="4027018"/>
            <a:ext cx="29261" cy="29261"/>
          </a:xfrm>
          <a:prstGeom prst="ellipse">
            <a:avLst>
              <a:gd name="adj" fmla="val 468747"/>
            </a:avLst>
          </a:prstGeom>
          <a:solidFill>
            <a:srgbClr val="FFFFFF"/>
          </a:solidFill>
          <a:ln w="12700">
            <a:solidFill>
              <a:srgbClr val="FFFFFF">
                <a:alpha val="0"/>
              </a:srgbClr>
            </a:solidFill>
            <a:prstDash val="solid"/>
          </a:ln>
        </p:spPr>
      </p:sp>
      <p:sp>
        <p:nvSpPr>
          <p:cNvPr id="17" name="Shape 15"/>
          <p:cNvSpPr/>
          <p:nvPr/>
        </p:nvSpPr>
        <p:spPr>
          <a:xfrm rot="16200000">
            <a:off x="8626450" y="4257446"/>
            <a:ext cx="453542" cy="270662"/>
          </a:xfrm>
          <a:prstGeom prst="triangle">
            <a:avLst>
              <a:gd name="adj" fmla="val 50676"/>
            </a:avLst>
          </a:prstGeom>
          <a:solidFill>
            <a:srgbClr val="F39A44"/>
          </a:solidFill>
          <a:ln w="12700">
            <a:solidFill>
              <a:srgbClr val="F39A44">
                <a:alpha val="0"/>
              </a:srgbClr>
            </a:solidFill>
            <a:prstDash val="solid"/>
          </a:ln>
        </p:spPr>
      </p:sp>
      <p:sp>
        <p:nvSpPr>
          <p:cNvPr id="18" name="Shape 16"/>
          <p:cNvSpPr/>
          <p:nvPr/>
        </p:nvSpPr>
        <p:spPr>
          <a:xfrm>
            <a:off x="10689336" y="4674413"/>
            <a:ext cx="329184" cy="380390"/>
          </a:xfrm>
          <a:prstGeom prst="ellipse">
            <a:avLst>
              <a:gd name="adj" fmla="val 41667"/>
            </a:avLst>
          </a:prstGeom>
          <a:solidFill>
            <a:srgbClr val="FFC94F"/>
          </a:solidFill>
          <a:ln w="12700">
            <a:solidFill>
              <a:srgbClr val="FFC94F">
                <a:alpha val="0"/>
              </a:srgbClr>
            </a:solidFill>
            <a:prstDash val="solid"/>
          </a:ln>
        </p:spPr>
      </p:sp>
      <p:sp>
        <p:nvSpPr>
          <p:cNvPr id="19" name="Text 17"/>
          <p:cNvSpPr/>
          <p:nvPr/>
        </p:nvSpPr>
        <p:spPr>
          <a:xfrm>
            <a:off x="694944" y="6455664"/>
            <a:ext cx="6876288" cy="192024"/>
          </a:xfrm>
          <a:prstGeom prst="rect">
            <a:avLst/>
          </a:prstGeom>
          <a:noFill/>
          <a:ln/>
        </p:spPr>
        <p:txBody>
          <a:bodyPr wrap="square" lIns="0" tIns="0" rIns="0" bIns="0" rtlCol="0" anchor="ctr">
            <a:normAutofit/>
          </a:bodyPr>
          <a:lstStyle/>
          <a:p>
            <a:pPr indent="0" marL="0">
              <a:buNone/>
            </a:pPr>
            <a:r>
              <a:rPr lang="en-US" sz="1050" b="1" spc="120" kern="0" dirty="0">
                <a:solidFill>
                  <a:srgbClr val="0C142B"/>
                </a:solidFill>
                <a:latin typeface="Aptos" pitchFamily="34" charset="0"/>
                <a:ea typeface="Aptos" pitchFamily="34" charset="-122"/>
                <a:cs typeface="Aptos" pitchFamily="34" charset="-120"/>
              </a:rPr>
              <a:t>DUCKTUTOR  /  TEAM NEURALFORGE</a:t>
            </a:r>
            <a:endParaRPr lang="en-US" sz="1050" dirty="0"/>
          </a:p>
        </p:txBody>
      </p:sp>
      <p:sp>
        <p:nvSpPr>
          <p:cNvPr id="20" name="Text 18"/>
          <p:cNvSpPr/>
          <p:nvPr/>
        </p:nvSpPr>
        <p:spPr>
          <a:xfrm>
            <a:off x="9902952" y="6455664"/>
            <a:ext cx="1572768" cy="192024"/>
          </a:xfrm>
          <a:prstGeom prst="rect">
            <a:avLst/>
          </a:prstGeom>
          <a:noFill/>
          <a:ln/>
        </p:spPr>
        <p:txBody>
          <a:bodyPr wrap="square" lIns="0" tIns="0" rIns="0" bIns="0" rtlCol="0" anchor="ctr">
            <a:normAutofit/>
          </a:bodyPr>
          <a:lstStyle/>
          <a:p>
            <a:pPr algn="r" indent="0" marL="0">
              <a:buNone/>
            </a:pPr>
            <a:r>
              <a:rPr lang="en-US" sz="1050" b="1" spc="120" kern="0" dirty="0">
                <a:solidFill>
                  <a:srgbClr val="0C142B"/>
                </a:solidFill>
                <a:latin typeface="Aptos" pitchFamily="34" charset="0"/>
                <a:ea typeface="Aptos" pitchFamily="34" charset="-122"/>
                <a:cs typeface="Aptos" pitchFamily="34" charset="-120"/>
              </a:rPr>
              <a:t>THANK YOU</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Team NeuralForge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DuckTutor | A debugging tutor powered by Gemma 4</dc:title>
  <dc:subject>DuckTutor — Ducktoberfest 2026 four-minute pitch</dc:subject>
  <dc:creator>Team NeuralForge</dc:creator>
  <cp:lastModifiedBy>Team NeuralForge</cp:lastModifiedBy>
  <cp:revision>1</cp:revision>
  <dcterms:created xsi:type="dcterms:W3CDTF">2026-10-11T11:34:47Z</dcterms:created>
  <dcterms:modified xsi:type="dcterms:W3CDTF">2026-10-11T11:34:47Z</dcterms:modified>
</cp:coreProperties>
</file>