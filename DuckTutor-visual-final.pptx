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91fa9ad18d84e34" /><Relationship Type="http://schemas.openxmlformats.org/officeDocument/2006/relationships/extended-properties" Target="/docProps/app.xml" Id="R6a6c4d9f0b384962" /><Relationship Type="http://schemas.openxmlformats.org/officeDocument/2006/relationships/officeDocument" Target="/ppt/presentation.xml" Id="Rc9aa2f5ab6c44a05" /></Relationships>
</file>

<file path=ppt/presentation.xml><?xml version="1.0" encoding="utf-8"?>
<p:presentation xmlns:p="http://schemas.openxmlformats.org/presentationml/2006/main">
  <p:sldMasterIdLst>
    <p:sldMasterId xmlns:r="http://schemas.openxmlformats.org/officeDocument/2006/relationships" id="2147483648" r:id="R7e545ffe08074d3a"/>
  </p:sldMasterIdLst>
  <p:notesMasterIdLst>
    <p:notesMasterId xmlns:r="http://schemas.openxmlformats.org/officeDocument/2006/relationships" r:id="R7223a7fab66a412b"/>
  </p:notesMasterIdLst>
  <p:sldIdLst>
    <p:sldId xmlns:r="http://schemas.openxmlformats.org/officeDocument/2006/relationships" id="256" r:id="R77d60bf7c87e44a3"/>
    <p:sldId xmlns:r="http://schemas.openxmlformats.org/officeDocument/2006/relationships" id="257" r:id="R824dd2fe1b004f6a"/>
    <p:sldId xmlns:r="http://schemas.openxmlformats.org/officeDocument/2006/relationships" id="258" r:id="R1d29f405dbdf43f1"/>
    <p:sldId xmlns:r="http://schemas.openxmlformats.org/officeDocument/2006/relationships" id="259" r:id="R1d3024f691f640b2"/>
    <p:sldId xmlns:r="http://schemas.openxmlformats.org/officeDocument/2006/relationships" id="260" r:id="R8f5c6979033846bf"/>
    <p:sldId xmlns:r="http://schemas.openxmlformats.org/officeDocument/2006/relationships" id="261" r:id="R2f0201fa64194a2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2f372b7a07c4cc8" /><Relationship Type="http://schemas.openxmlformats.org/officeDocument/2006/relationships/slideMaster" Target="/ppt/slideMasters/slideMaster1.xml" Id="R7e545ffe08074d3a" /><Relationship Type="http://schemas.openxmlformats.org/officeDocument/2006/relationships/notesMaster" Target="/ppt/notesMasters/notesMaster1.xml" Id="R7223a7fab66a412b" /><Relationship Type="http://schemas.openxmlformats.org/officeDocument/2006/relationships/presProps" Target="/ppt/presProps.xml" Id="Rd8677a38d9464afe" /><Relationship Type="http://schemas.openxmlformats.org/officeDocument/2006/relationships/tableStyles" Target="/ppt/tableStyles.xml" Id="Rbd715742d5334c7c" /><Relationship Type="http://schemas.openxmlformats.org/officeDocument/2006/relationships/slide" Target="/ppt/slides/slide1.xml" Id="R77d60bf7c87e44a3" /><Relationship Type="http://schemas.openxmlformats.org/officeDocument/2006/relationships/slide" Target="/ppt/slides/slide2.xml" Id="R824dd2fe1b004f6a" /><Relationship Type="http://schemas.openxmlformats.org/officeDocument/2006/relationships/slide" Target="/ppt/slides/slide3.xml" Id="R1d29f405dbdf43f1" /><Relationship Type="http://schemas.openxmlformats.org/officeDocument/2006/relationships/slide" Target="/ppt/slides/slide4.xml" Id="R1d3024f691f640b2" /><Relationship Type="http://schemas.openxmlformats.org/officeDocument/2006/relationships/slide" Target="/ppt/slides/slide5.xml" Id="R8f5c6979033846bf" /><Relationship Type="http://schemas.openxmlformats.org/officeDocument/2006/relationships/slide" Target="/ppt/slides/slide6.xml" Id="R2f0201fa64194a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9cd61444234e1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e5de9ff8fdf4647" /><Relationship Type="http://schemas.openxmlformats.org/officeDocument/2006/relationships/notesMaster" Target="/ppt/notesMasters/notesMaster1.xml" Id="R9f4f185585a54b2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9d804e70b9401b" /><Relationship Type="http://schemas.openxmlformats.org/officeDocument/2006/relationships/notesMaster" Target="/ppt/notesMasters/notesMaster1.xml" Id="R9bf5420aea7d428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2a23f96bab486f" /><Relationship Type="http://schemas.openxmlformats.org/officeDocument/2006/relationships/notesMaster" Target="/ppt/notesMasters/notesMaster1.xml" Id="R886fe18b135d4d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d03e58e58094dba" /><Relationship Type="http://schemas.openxmlformats.org/officeDocument/2006/relationships/notesMaster" Target="/ppt/notesMasters/notesMaster1.xml" Id="Ra9b13f373893440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73601b9974f4e9f" /><Relationship Type="http://schemas.openxmlformats.org/officeDocument/2006/relationships/notesMaster" Target="/ppt/notesMasters/notesMaster1.xml" Id="Rb9277dfd3dc24f38"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bc69f69ec949d3" /><Relationship Type="http://schemas.openxmlformats.org/officeDocument/2006/relationships/notesMaster" Target="/ppt/notesMasters/notesMaster1.xml" Id="R1d963957db2440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a:t>
            </a:r>
          </a:p>
          <a:p xmlns:a="http://schemas.openxmlformats.org/drawingml/2006/main">
            <a:r>
              <a:t/>
            </a:r>
          </a:p>
          <a:p xmlns:a="http://schemas.openxmlformats.org/drawingml/2006/main">
            <a:r>
              <a:t>Getting a program to work does not always mean you understand why it works. DuckTutor helps learners explain their reasoning, investigate mistakes, and make their own corrections. It combines open code conversations with structured practice, powered by Gemma.</a:t>
            </a:r>
          </a:p>
          <a:p xmlns:a="http://schemas.openxmlformats.org/drawingml/2006/main">
            <a:r>
              <a:t/>
            </a:r>
          </a:p>
          <a:p xmlns:a="http://schemas.openxmlformats.org/drawingml/2006/main">
            <a:r>
              <a:t>Sources: DuckTutor 0.3.0 project files, /Users/eldanizarifzada/Downloads/team-neuralforge-master/README.md. Accessed 11 October 2026. Visual: original illustration generated with the built-in image generation tool.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0:20–1:00</a:t>
            </a:r>
          </a:p>
          <a:p xmlns:a="http://schemas.openxmlformats.org/drawingml/2006/main">
            <a:r>
              <a:t/>
            </a:r>
          </a:p>
          <a:p xmlns:a="http://schemas.openxmlformats.org/drawingml/2006/main">
            <a:r>
              <a:t>The main workspace starts with the learner’s own problem. Here, snapshot and labels refer to the same list, so appending through one name changes what the other name sees. The learner can ask why, add their intended goal, and discuss what they tried. They can also ask a concept question without code, across the languages listed here. Every request uses the latest revision. Earlier pasted output stays attached to its earlier version until the learner updates or reconfirms it. This workspace analyzes code. It does not execute submissions or claim they passed tests.</a:t>
            </a:r>
          </a:p>
          <a:p xmlns:a="http://schemas.openxmlformats.org/drawingml/2006/main">
            <a:r>
              <a:t/>
            </a:r>
          </a:p>
          <a:p xmlns:a="http://schemas.openxmlformats.org/drawingml/2006/main">
            <a:r>
              <a:t>Sources: DuckTutor 0.3.0 project files, /Users/eldanizarifzada/Downloads/team-neuralforge-master/README.md; /Users/eldanizarifzada/Downloads/team-neuralforge-master/core.py; /Users/eldanizarifzada/Downloads/team-neuralforge-master/workspace_ui.py. Accessed 11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1:00–1:45</a:t>
            </a:r>
          </a:p>
          <a:p xmlns:a="http://schemas.openxmlformats.org/drawingml/2006/main">
            <a:r>
              <a:t/>
            </a:r>
          </a:p>
          <a:p xmlns:a="http://schemas.openxmlformats.org/drawingml/2006/main">
            <a:r>
              <a:t>This illustrative exchange shows the teaching pattern we want. If the learner does not understand a term, the duck can explain it directly with a small unrelated example, then offer a useful next question. In practice, the learner also records a prediction and confidence, giving the tutor context for its guidance. Correct reasoning should be acknowledged, including a correct prediction of buggy behavior. Learners can request stronger hints. Exact or very similar repeated questions trigger a repair attempt. Response checks aim to avoid revealing the final correction. Practice also has an explicit solution reveal, and records when the learner uses it.</a:t>
            </a:r>
          </a:p>
          <a:p xmlns:a="http://schemas.openxmlformats.org/drawingml/2006/main">
            <a:r>
              <a:t/>
            </a:r>
          </a:p>
          <a:p xmlns:a="http://schemas.openxmlformats.org/drawingml/2006/main">
            <a:r>
              <a:t>Sources: DuckTutor 0.3.0 project files, /Users/eldanizarifzada/Downloads/team-neuralforge-master/README.md; /Users/eldanizarifzada/Downloads/team-neuralforge-master/tutor.py; /Users/eldanizarifzada/Downloads/team-neuralforge-master/core.py. Accessed 11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1:45–2:40</a:t>
            </a:r>
          </a:p>
          <a:p xmlns:a="http://schemas.openxmlformats.org/drawingml/2006/main">
            <a:r>
              <a:t/>
            </a:r>
          </a:p>
          <a:p xmlns:a="http://schemas.openxmlformats.org/drawingml/2006/main">
            <a:r>
              <a:t>Optional practice adds real execution. We have five Python exercises covering mutable default arguments, all-negative lists, loop boundaries, closures, and recursive base cases. Each has five reviewed cases, including cases designed to expose misleading partial fixes. The learner predicts, investigates, edits, and checks. Gemma can select a useful challenge from the reviewed bank. Python executes it and determines the result, then the duck receives that evidence for its next response. The execution panel makes the chosen action and observed output visible. A pass belongs to the exact code revision. Editing immediately clears it, so an old success cannot certify new code. We describe success precisely: these checked cases passed. That is the evidence we have.</a:t>
            </a:r>
          </a:p>
          <a:p xmlns:a="http://schemas.openxmlformats.org/drawingml/2006/main">
            <a:r>
              <a:t/>
            </a:r>
          </a:p>
          <a:p xmlns:a="http://schemas.openxmlformats.org/drawingml/2006/main">
            <a:r>
              <a:t>Sources: DuckTutor 0.3.0 project files, /Users/eldanizarifzada/Downloads/team-neuralforge-master/README.md; /Users/eldanizarifzada/Downloads/team-neuralforge-master/exercises.py; /Users/eldanizarifzada/Downloads/team-neuralforge-master/core.py; /Users/eldanizarifzada/Downloads/team-neuralforge-master/VALIDATION.md. Accessed 11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2:40–3:20</a:t>
            </a:r>
          </a:p>
          <a:p xmlns:a="http://schemas.openxmlformats.org/drawingml/2006/main">
            <a:r>
              <a:t/>
            </a:r>
          </a:p>
          <a:p xmlns:a="http://schemas.openxmlformats.org/drawingml/2006/main">
            <a:r>
              <a:t>After the exercise checks pass, a transfer question presents a new snippet using the same concept. It gives the learner another opportunity to explain their understanding. In own-code conversations, learners can write learning notes and correct the duck’s tentative interpretations. Those notes preserve context beyond the recent conversation window. The local notebook saves code, goals, conversation and relevant evidence, and lets learners export or resume their sessions later. Drafts also survive switching between own-code work and individual exercises. These records support continuity without treating a saved note or one correct answer as proof of mastery.</a:t>
            </a:r>
          </a:p>
          <a:p xmlns:a="http://schemas.openxmlformats.org/drawingml/2006/main">
            <a:r>
              <a:t/>
            </a:r>
          </a:p>
          <a:p xmlns:a="http://schemas.openxmlformats.org/drawingml/2006/main">
            <a:r>
              <a:t>Sources: DuckTutor 0.3.0 project files, /Users/eldanizarifzada/Downloads/team-neuralforge-master/README.md; /Users/eldanizarifzada/Downloads/team-neuralforge-master/core.py; /Users/eldanizarifzada/Downloads/team-neuralforge-master/exercises.py. Accessed 11 October 2026. Visual: original illustration generated with the built-in image generation tool.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3:20–4:00</a:t>
            </a:r>
          </a:p>
          <a:p xmlns:a="http://schemas.openxmlformats.org/drawingml/2006/main">
            <a:r>
              <a:t/>
            </a:r>
          </a:p>
          <a:p xmlns:a="http://schemas.openxmlformats.org/drawingml/2006/main">
            <a:r>
              <a:t>When an AI reply is malformed or unusable, the app can try one repair and then show clearly labeled local guidance. Requests have a fixed limit, and ordinary edits do not trigger model calls. Hosted Gemma is the default, with another Gemma model choice and an optional Ollama adapter for local inference. Our recorded release validation reports fifty software tests passing. Six realistic conversation scenarios provide a separate way to evaluate teaching, which still needs live review. DuckTutor brings guided reasoning, real practice evidence, and learning continuity into one workflow. Our goal is a learner who can explain this bug and reason through the next one.</a:t>
            </a:r>
          </a:p>
          <a:p xmlns:a="http://schemas.openxmlformats.org/drawingml/2006/main">
            <a:r>
              <a:t/>
            </a:r>
          </a:p>
          <a:p xmlns:a="http://schemas.openxmlformats.org/drawingml/2006/main">
            <a:r>
              <a:t>Sources: DuckTutor 0.3.0 project files, /Users/eldanizarifzada/Downloads/team-neuralforge-master/README.md; /Users/eldanizarifzada/Downloads/team-neuralforge-master/VALIDATION.md; /Users/eldanizarifzada/Downloads/team-neuralforge-master/EVALUATION.md. Accessed 11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d2d85ce2834fb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1986db36dd34ea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372b837b74046a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6028ced879a43b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afe9464048d412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acbbcfc53fa43f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301293-21B6-4171-A7DD-BA921402CA7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82D4907-314A-4685-A3A0-EC879541E5B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9A84A6F-DB35-49B1-8847-1B888E04CB1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DAD4744-49DE-4DC5-AA14-347883A18B5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AE87D2F-7240-4F73-AE9C-320D8337B68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7528677-6AA3-448B-84BA-6DDAEFB3765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F63677B-F223-487F-B060-4A59927CC62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827CA25-FB42-4B76-AF8B-5CA85A21D22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4741EF-D088-4AB1-9C9E-241614BB1E2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A5DBDA-65BE-485E-9F8D-7E1BBF01DA8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7553d2bd66410f" /><Relationship Type="http://schemas.openxmlformats.org/officeDocument/2006/relationships/slideLayout" Target="/ppt/slideLayouts/slideLayout1.xml" Id="R0de69edc4f604d23" /><Relationship Type="http://schemas.openxmlformats.org/officeDocument/2006/relationships/slideLayout" Target="/ppt/slideLayouts/slideLayout2.xml" Id="Rbb43307f472f4a62" /><Relationship Type="http://schemas.openxmlformats.org/officeDocument/2006/relationships/slideLayout" Target="/ppt/slideLayouts/slideLayout3.xml" Id="R791018f77b98498c" /><Relationship Type="http://schemas.openxmlformats.org/officeDocument/2006/relationships/slideLayout" Target="/ppt/slideLayouts/slideLayout4.xml" Id="R025f32aad7b840ee" /><Relationship Type="http://schemas.openxmlformats.org/officeDocument/2006/relationships/slideLayout" Target="/ppt/slideLayouts/slideLayout5.xml" Id="Re68ec4370ecd4970" /><Relationship Type="http://schemas.openxmlformats.org/officeDocument/2006/relationships/slideLayout" Target="/ppt/slideLayouts/slideLayout6.xml" Id="R954d1d7d0ff74ae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de69edc4f604d23"/>
    <p:sldLayoutId xmlns:r="http://schemas.openxmlformats.org/officeDocument/2006/relationships" id="2147483650" r:id="Rbb43307f472f4a62"/>
    <p:sldLayoutId xmlns:r="http://schemas.openxmlformats.org/officeDocument/2006/relationships" id="2147483651" r:id="R791018f77b98498c"/>
    <p:sldLayoutId xmlns:r="http://schemas.openxmlformats.org/officeDocument/2006/relationships" id="2147483652" r:id="R025f32aad7b840ee"/>
    <p:sldLayoutId xmlns:r="http://schemas.openxmlformats.org/officeDocument/2006/relationships" id="2147483653" r:id="Re68ec4370ecd4970"/>
    <p:sldLayoutId xmlns:r="http://schemas.openxmlformats.org/officeDocument/2006/relationships" id="2147483654" r:id="R954d1d7d0ff74ae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c03b99795d24dda" /><Relationship Type="http://schemas.openxmlformats.org/officeDocument/2006/relationships/image" Target="/ppt/media/image.png" Id="Rfab49fe77c604cd1" /><Relationship Type="http://schemas.openxmlformats.org/officeDocument/2006/relationships/notesSlide" Target="/ppt/notesSlides/notesSlide1.xml" Id="Raf2ba2a620dd4e7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7b7b327976a4957" /><Relationship Type="http://schemas.openxmlformats.org/officeDocument/2006/relationships/notesSlide" Target="/ppt/notesSlides/notesSlide2.xml" Id="R52bb9af908514ad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7a47bff659e4ab8" /><Relationship Type="http://schemas.openxmlformats.org/officeDocument/2006/relationships/notesSlide" Target="/ppt/notesSlides/notesSlide3.xml" Id="R9e2fbbcc7ec44c6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b02bd2bd46f446d" /><Relationship Type="http://schemas.openxmlformats.org/officeDocument/2006/relationships/notesSlide" Target="/ppt/notesSlides/notesSlide4.xml" Id="Re62ce97eefed44f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03318d1e96e4a7f" /><Relationship Type="http://schemas.openxmlformats.org/officeDocument/2006/relationships/image" Target="/ppt/media/image2.png" Id="Rb66a32784ae84d22" /><Relationship Type="http://schemas.openxmlformats.org/officeDocument/2006/relationships/notesSlide" Target="/ppt/notesSlides/notesSlide5.xml" Id="R7db03643420e42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4dc251aca2948aa" /><Relationship Type="http://schemas.openxmlformats.org/officeDocument/2006/relationships/notesSlide" Target="/ppt/notesSlides/notesSlide6.xml" Id="R7b47cc81d281405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A744B3BF-F18F-447B-AC18-C433D805E3CF}"/>
              </a:ext>
            </a:extLst>
          </p:cNvPr>
          <p:cNvPicPr>
            <a:picLocks xmlns:a="http://schemas.openxmlformats.org/drawingml/2006/main" noChangeAspect="1"/>
          </p:cNvPicPr>
          <p:nvPr/>
        </p:nvPicPr>
        <p:blipFill>
          <a:blip xmlns:r="http://schemas.openxmlformats.org/officeDocument/2006/relationships" xmlns:a="http://schemas.openxmlformats.org/drawingml/2006/main" r:embed="Rfab49fe77c604cd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6B932FE-1729-45E7-AAD4-5BFF69DBDF29}"/>
              </a:ext>
            </a:extLst>
          </p:cNvPr>
          <p:cNvSpPr>
            <a:spLocks xmlns:a="http://schemas.openxmlformats.org/drawingml/2006/main" noGrp="1"/>
          </p:cNvSpPr>
          <p:nvPr/>
        </p:nvSpPr>
        <p:spPr>
          <a:xfrm xmlns:a="http://schemas.openxmlformats.org/drawingml/2006/main">
            <a:off x="609600" y="609600"/>
            <a:ext cx="590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F9C847"/>
                </a:solidFill>
                <a:latin typeface="Arial"/>
                <a:ea typeface="Arial"/>
                <a:cs typeface="Arial"/>
              </a:defRPr>
            </a:defPPr>
          </a:lstStyle>
          <a:p xmlns:a="http://schemas.openxmlformats.org/drawingml/2006/main">
            <a:pPr>
              <a:defRPr sz="1500" b="1">
                <a:solidFill>
                  <a:srgbClr val="F9C847"/>
                </a:solidFill>
                <a:latin typeface="Arial"/>
                <a:ea typeface="Arial"/>
                <a:cs typeface="Arial"/>
              </a:defRPr>
            </a:pPr>
            <a:r>
              <a:rPr sz="1500" b="1">
                <a:solidFill>
                  <a:srgbClr val="F9C847"/>
                </a:solidFill>
                <a:latin typeface="Arial"/>
                <a:ea typeface="Arial"/>
                <a:cs typeface="Arial"/>
              </a:rPr>
              <a:t>TEAM NEURALFORGE</a:t>
            </a:r>
          </a:p>
        </p:txBody>
      </p:sp>
      <p:sp>
        <p:nvSpPr>
          <p:cNvPr id="3" name="">
            <a:extLst xmlns:a="http://schemas.openxmlformats.org/drawingml/2006/main">
              <a:ext uri="{FF2B5EF4-FFF2-40B4-BE49-F238E27FC236}">
                <a16:creationId xmlns:a16="http://schemas.microsoft.com/office/drawing/2014/main" id="{F3836DF9-A83C-4C40-8D6A-B211B723A52D}"/>
              </a:ext>
            </a:extLst>
          </p:cNvPr>
          <p:cNvSpPr>
            <a:spLocks xmlns:a="http://schemas.openxmlformats.org/drawingml/2006/main" noGrp="1"/>
          </p:cNvSpPr>
          <p:nvPr/>
        </p:nvSpPr>
        <p:spPr>
          <a:xfrm xmlns:a="http://schemas.openxmlformats.org/drawingml/2006/main">
            <a:off x="571500" y="2038350"/>
            <a:ext cx="63817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050" b="1">
                <a:solidFill>
                  <a:srgbClr val="FFFFFF"/>
                </a:solidFill>
                <a:latin typeface="Arial"/>
                <a:ea typeface="Arial"/>
                <a:cs typeface="Arial"/>
              </a:defRPr>
            </a:defPPr>
          </a:lstStyle>
          <a:p xmlns:a="http://schemas.openxmlformats.org/drawingml/2006/main">
            <a:pPr>
              <a:defRPr sz="7050" b="1">
                <a:solidFill>
                  <a:srgbClr val="FFFFFF"/>
                </a:solidFill>
                <a:latin typeface="Arial"/>
                <a:ea typeface="Arial"/>
                <a:cs typeface="Arial"/>
              </a:defRPr>
            </a:pPr>
            <a:r>
              <a:rPr sz="7050" b="1">
                <a:solidFill>
                  <a:srgbClr val="FFFFFF"/>
                </a:solidFill>
                <a:latin typeface="Arial"/>
                <a:ea typeface="Arial"/>
                <a:cs typeface="Arial"/>
              </a:rPr>
              <a:t>DuckTutor</a:t>
            </a:r>
          </a:p>
        </p:txBody>
      </p:sp>
      <p:sp>
        <p:nvSpPr>
          <p:cNvPr id="4" name="">
            <a:extLst xmlns:a="http://schemas.openxmlformats.org/drawingml/2006/main">
              <a:ext uri="{FF2B5EF4-FFF2-40B4-BE49-F238E27FC236}">
                <a16:creationId xmlns:a16="http://schemas.microsoft.com/office/drawing/2014/main" id="{DBCE70FF-0AD0-41D8-B6C0-A0E8F6F9BEEC}"/>
              </a:ext>
            </a:extLst>
          </p:cNvPr>
          <p:cNvSpPr>
            <a:spLocks xmlns:a="http://schemas.openxmlformats.org/drawingml/2006/main" noGrp="1"/>
          </p:cNvSpPr>
          <p:nvPr/>
        </p:nvSpPr>
        <p:spPr>
          <a:xfrm xmlns:a="http://schemas.openxmlformats.org/drawingml/2006/main">
            <a:off x="609600" y="3333750"/>
            <a:ext cx="5476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F5F2E9"/>
                </a:solidFill>
                <a:latin typeface="Arial"/>
                <a:ea typeface="Arial"/>
                <a:cs typeface="Arial"/>
              </a:defRPr>
            </a:defPPr>
          </a:lstStyle>
          <a:p xmlns:a="http://schemas.openxmlformats.org/drawingml/2006/main">
            <a:pPr>
              <a:defRPr sz="3225" b="0">
                <a:solidFill>
                  <a:srgbClr val="F5F2E9"/>
                </a:solidFill>
                <a:latin typeface="Arial"/>
                <a:ea typeface="Arial"/>
                <a:cs typeface="Arial"/>
              </a:defRPr>
            </a:pPr>
            <a:r>
              <a:rPr sz="3225" b="0">
                <a:solidFill>
                  <a:srgbClr val="F5F2E9"/>
                </a:solidFill>
                <a:latin typeface="Arial"/>
                <a:ea typeface="Arial"/>
                <a:cs typeface="Arial"/>
              </a:rPr>
              <a:t>Understand the code.</a:t>
            </a:r>
          </a:p>
          <a:p xmlns:a="http://schemas.openxmlformats.org/drawingml/2006/main">
            <a:pPr>
              <a:defRPr sz="3225" b="0">
                <a:solidFill>
                  <a:srgbClr val="F5F2E9"/>
                </a:solidFill>
                <a:latin typeface="Arial"/>
                <a:ea typeface="Arial"/>
                <a:cs typeface="Arial"/>
              </a:defRPr>
            </a:pPr>
            <a:r>
              <a:rPr sz="3225" b="0">
                <a:solidFill>
                  <a:srgbClr val="F5F2E9"/>
                </a:solidFill>
                <a:latin typeface="Arial"/>
                <a:ea typeface="Arial"/>
                <a:cs typeface="Arial"/>
              </a:rPr>
              <a:t>Find your next step.</a:t>
            </a:r>
          </a:p>
        </p:txBody>
      </p:sp>
      <p:sp>
        <p:nvSpPr>
          <p:cNvPr id="5" name="">
            <a:extLst xmlns:a="http://schemas.openxmlformats.org/drawingml/2006/main">
              <a:ext uri="{FF2B5EF4-FFF2-40B4-BE49-F238E27FC236}">
                <a16:creationId xmlns:a16="http://schemas.microsoft.com/office/drawing/2014/main" id="{EBAC8C34-77DE-4A65-A8CC-480B9999A635}"/>
              </a:ext>
            </a:extLst>
          </p:cNvPr>
          <p:cNvSpPr>
            <a:spLocks xmlns:a="http://schemas.openxmlformats.org/drawingml/2006/main" noGrp="1"/>
          </p:cNvSpPr>
          <p:nvPr/>
        </p:nvSpPr>
        <p:spPr>
          <a:xfrm xmlns:a="http://schemas.openxmlformats.org/drawingml/2006/main">
            <a:off x="609600" y="5400675"/>
            <a:ext cx="5381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9DAAB1"/>
                </a:solidFill>
                <a:latin typeface="Arial"/>
                <a:ea typeface="Arial"/>
                <a:cs typeface="Arial"/>
              </a:defRPr>
            </a:defPPr>
          </a:lstStyle>
          <a:p xmlns:a="http://schemas.openxmlformats.org/drawingml/2006/main">
            <a:pPr>
              <a:defRPr sz="1875" b="0">
                <a:solidFill>
                  <a:srgbClr val="9DAAB1"/>
                </a:solidFill>
                <a:latin typeface="Arial"/>
                <a:ea typeface="Arial"/>
                <a:cs typeface="Arial"/>
              </a:defRPr>
            </a:pPr>
            <a:r>
              <a:rPr sz="1875" b="0">
                <a:solidFill>
                  <a:srgbClr val="9DAAB1"/>
                </a:solidFill>
                <a:latin typeface="Arial"/>
                <a:ea typeface="Arial"/>
                <a:cs typeface="Arial"/>
              </a:rPr>
              <a:t>A programming tutor powered by Gemma</a:t>
            </a:r>
          </a:p>
        </p:txBody>
      </p:sp>
      <p:sp>
        <p:nvSpPr>
          <p:cNvPr id="6" name="">
            <a:extLst xmlns:a="http://schemas.openxmlformats.org/drawingml/2006/main">
              <a:ext uri="{FF2B5EF4-FFF2-40B4-BE49-F238E27FC236}">
                <a16:creationId xmlns:a16="http://schemas.microsoft.com/office/drawing/2014/main" id="{003B0DA1-58E3-4B8D-9906-AD4765C699C3}"/>
              </a:ext>
            </a:extLst>
          </p:cNvPr>
          <p:cNvSpPr>
            <a:spLocks xmlns:a="http://schemas.openxmlformats.org/drawingml/2006/main" noGrp="1"/>
          </p:cNvSpPr>
          <p:nvPr/>
        </p:nvSpPr>
        <p:spPr>
          <a:xfrm xmlns:a="http://schemas.openxmlformats.org/drawingml/2006/main">
            <a:off x="609600" y="6181725"/>
            <a:ext cx="571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F9C847"/>
                </a:solidFill>
                <a:latin typeface="Arial"/>
                <a:ea typeface="Arial"/>
                <a:cs typeface="Arial"/>
              </a:defRPr>
            </a:defPPr>
          </a:lstStyle>
          <a:p xmlns:a="http://schemas.openxmlformats.org/drawingml/2006/main">
            <a:pPr>
              <a:defRPr sz="1350" b="1">
                <a:solidFill>
                  <a:srgbClr val="F9C847"/>
                </a:solidFill>
                <a:latin typeface="Arial"/>
                <a:ea typeface="Arial"/>
                <a:cs typeface="Arial"/>
              </a:defRPr>
            </a:pPr>
            <a:r>
              <a:rPr sz="1350" b="1">
                <a:solidFill>
                  <a:srgbClr val="F9C847"/>
                </a:solidFill>
                <a:latin typeface="Arial"/>
                <a:ea typeface="Arial"/>
                <a:cs typeface="Arial"/>
              </a:rPr>
              <a:t>DUCKTOBERFEST</a:t>
            </a:r>
          </a:p>
        </p:txBody>
      </p:sp>
    </p:spTree>
    <p:extLst>
      <p:ext uri="{BB962C8B-B14F-4D97-AF65-F5344CB8AC3E}">
        <p14:creationId xmlns:p14="http://schemas.microsoft.com/office/powerpoint/2010/main" val="1281215366"/>
      </p:ext>
    </p:extLst>
  </p:cSld>
</p:sld>
</file>

<file path=ppt/slides/slide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087410B-9A25-4708-A48D-7FE84C2198A8}"/>
              </a:ext>
            </a:extLst>
          </p:cNvPr>
          <p:cNvSpPr>
            <a:spLocks xmlns:a="http://schemas.openxmlformats.org/drawingml/2006/main" noGrp="1"/>
          </p:cNvSpPr>
          <p:nvPr/>
        </p:nvSpPr>
        <p:spPr>
          <a:xfrm xmlns:a="http://schemas.openxmlformats.org/drawingml/2006/main">
            <a:off x="609600" y="276225"/>
            <a:ext cx="619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5C686C"/>
                </a:solidFill>
                <a:latin typeface="Arial"/>
                <a:ea typeface="Arial"/>
                <a:cs typeface="Arial"/>
              </a:defRPr>
            </a:defPPr>
          </a:lstStyle>
          <a:p xmlns:a="http://schemas.openxmlformats.org/drawingml/2006/main">
            <a:pPr>
              <a:defRPr sz="1350" b="1">
                <a:solidFill>
                  <a:srgbClr val="5C686C"/>
                </a:solidFill>
                <a:latin typeface="Arial"/>
                <a:ea typeface="Arial"/>
                <a:cs typeface="Arial"/>
              </a:defRPr>
            </a:pPr>
            <a:r>
              <a:rPr sz="1350" b="1">
                <a:solidFill>
                  <a:srgbClr val="5C686C"/>
                </a:solidFill>
                <a:latin typeface="Arial"/>
                <a:ea typeface="Arial"/>
                <a:cs typeface="Arial"/>
              </a:rPr>
              <a:t>DUCKTUTOR / 02</a:t>
            </a:r>
          </a:p>
        </p:txBody>
      </p:sp>
      <p:sp>
        <p:nvSpPr>
          <p:cNvPr id="2" name="">
            <a:extLst xmlns:a="http://schemas.openxmlformats.org/drawingml/2006/main">
              <a:ext uri="{FF2B5EF4-FFF2-40B4-BE49-F238E27FC236}">
                <a16:creationId xmlns:a16="http://schemas.microsoft.com/office/drawing/2014/main" id="{A5CF5C04-BDEF-4608-8D84-D4DC629D3488}"/>
              </a:ext>
            </a:extLst>
          </p:cNvPr>
          <p:cNvSpPr>
            <a:spLocks xmlns:a="http://schemas.openxmlformats.org/drawingml/2006/main" noGrp="1"/>
          </p:cNvSpPr>
          <p:nvPr/>
        </p:nvSpPr>
        <p:spPr>
          <a:xfrm xmlns:a="http://schemas.openxmlformats.org/drawingml/2006/main">
            <a:off x="590550" y="1019175"/>
            <a:ext cx="4667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10191F"/>
                </a:solidFill>
                <a:latin typeface="Arial"/>
                <a:ea typeface="Arial"/>
                <a:cs typeface="Arial"/>
              </a:defRPr>
            </a:defPPr>
          </a:lstStyle>
          <a:p xmlns:a="http://schemas.openxmlformats.org/drawingml/2006/main">
            <a:pPr>
              <a:defRPr sz="4500" b="1">
                <a:solidFill>
                  <a:srgbClr val="10191F"/>
                </a:solidFill>
                <a:latin typeface="Arial"/>
                <a:ea typeface="Arial"/>
                <a:cs typeface="Arial"/>
              </a:defRPr>
            </a:pPr>
            <a:r>
              <a:rPr sz="4500" b="1">
                <a:solidFill>
                  <a:srgbClr val="10191F"/>
                </a:solidFill>
                <a:latin typeface="Arial"/>
                <a:ea typeface="Arial"/>
                <a:cs typeface="Arial"/>
              </a:rPr>
              <a:t>Your code.</a:t>
            </a:r>
          </a:p>
          <a:p xmlns:a="http://schemas.openxmlformats.org/drawingml/2006/main">
            <a:pPr>
              <a:defRPr sz="4500" b="1">
                <a:solidFill>
                  <a:srgbClr val="10191F"/>
                </a:solidFill>
                <a:latin typeface="Arial"/>
                <a:ea typeface="Arial"/>
                <a:cs typeface="Arial"/>
              </a:defRPr>
            </a:pPr>
            <a:r>
              <a:rPr sz="4500" b="1">
                <a:solidFill>
                  <a:srgbClr val="10191F"/>
                </a:solidFill>
                <a:latin typeface="Arial"/>
                <a:ea typeface="Arial"/>
                <a:cs typeface="Arial"/>
              </a:rPr>
              <a:t>Your question.</a:t>
            </a:r>
          </a:p>
        </p:txBody>
      </p:sp>
      <p:sp>
        <p:nvSpPr>
          <p:cNvPr id="3" name="">
            <a:extLst xmlns:a="http://schemas.openxmlformats.org/drawingml/2006/main">
              <a:ext uri="{FF2B5EF4-FFF2-40B4-BE49-F238E27FC236}">
                <a16:creationId xmlns:a16="http://schemas.microsoft.com/office/drawing/2014/main" id="{4B7DDE4E-622A-49F9-AD2B-853292B9D4DE}"/>
              </a:ext>
            </a:extLst>
          </p:cNvPr>
          <p:cNvSpPr>
            <a:spLocks xmlns:a="http://schemas.openxmlformats.org/drawingml/2006/main" noGrp="1"/>
          </p:cNvSpPr>
          <p:nvPr/>
        </p:nvSpPr>
        <p:spPr>
          <a:xfrm xmlns:a="http://schemas.openxmlformats.org/drawingml/2006/main">
            <a:off x="609600" y="3076575"/>
            <a:ext cx="447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5C686C"/>
                </a:solidFill>
                <a:latin typeface="Arial"/>
                <a:ea typeface="Arial"/>
                <a:cs typeface="Arial"/>
              </a:defRPr>
            </a:defPPr>
          </a:lstStyle>
          <a:p xmlns:a="http://schemas.openxmlformats.org/drawingml/2006/main">
            <a:pPr>
              <a:defRPr sz="2400" b="0">
                <a:solidFill>
                  <a:srgbClr val="5C686C"/>
                </a:solidFill>
                <a:latin typeface="Arial"/>
                <a:ea typeface="Arial"/>
                <a:cs typeface="Arial"/>
              </a:defRPr>
            </a:pPr>
            <a:r>
              <a:rPr sz="2400" b="0">
                <a:solidFill>
                  <a:srgbClr val="5C686C"/>
                </a:solidFill>
                <a:latin typeface="Arial"/>
                <a:ea typeface="Arial"/>
                <a:cs typeface="Arial"/>
              </a:rPr>
              <a:t>Bring the goal, the error,</a:t>
            </a:r>
          </a:p>
          <a:p xmlns:a="http://schemas.openxmlformats.org/drawingml/2006/main">
            <a:pPr>
              <a:defRPr sz="2400" b="0">
                <a:solidFill>
                  <a:srgbClr val="5C686C"/>
                </a:solidFill>
                <a:latin typeface="Arial"/>
                <a:ea typeface="Arial"/>
                <a:cs typeface="Arial"/>
              </a:defRPr>
            </a:pPr>
            <a:r>
              <a:rPr sz="2400" b="0">
                <a:solidFill>
                  <a:srgbClr val="5C686C"/>
                </a:solidFill>
                <a:latin typeface="Arial"/>
                <a:ea typeface="Arial"/>
                <a:cs typeface="Arial"/>
              </a:rPr>
              <a:t>and what you already tried.</a:t>
            </a:r>
          </a:p>
        </p:txBody>
      </p:sp>
      <p:sp>
        <p:nvSpPr>
          <p:cNvPr id="4" name="">
            <a:extLst xmlns:a="http://schemas.openxmlformats.org/drawingml/2006/main">
              <a:ext uri="{FF2B5EF4-FFF2-40B4-BE49-F238E27FC236}">
                <a16:creationId xmlns:a16="http://schemas.microsoft.com/office/drawing/2014/main" id="{7CAC296C-5B58-46BF-A512-98425793F787}"/>
              </a:ext>
            </a:extLst>
          </p:cNvPr>
          <p:cNvSpPr>
            <a:spLocks xmlns:a="http://schemas.openxmlformats.org/drawingml/2006/main" noGrp="1"/>
          </p:cNvSpPr>
          <p:nvPr/>
        </p:nvSpPr>
        <p:spPr>
          <a:xfrm xmlns:a="http://schemas.openxmlformats.org/drawingml/2006/main">
            <a:off x="609600" y="4467225"/>
            <a:ext cx="4572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0191F"/>
                </a:solidFill>
                <a:latin typeface="Arial"/>
                <a:ea typeface="Arial"/>
                <a:cs typeface="Arial"/>
              </a:defRPr>
            </a:defPPr>
          </a:lstStyle>
          <a:p xmlns:a="http://schemas.openxmlformats.org/drawingml/2006/main">
            <a:pPr>
              <a:defRPr sz="1950" b="1">
                <a:solidFill>
                  <a:srgbClr val="10191F"/>
                </a:solidFill>
                <a:latin typeface="Arial"/>
                <a:ea typeface="Arial"/>
                <a:cs typeface="Arial"/>
              </a:defRPr>
            </a:pPr>
            <a:r>
              <a:rPr sz="1950" b="1">
                <a:solidFill>
                  <a:srgbClr val="10191F"/>
                </a:solidFill>
                <a:latin typeface="Arial"/>
                <a:ea typeface="Arial"/>
                <a:cs typeface="Arial"/>
              </a:rPr>
              <a:t>Latest code in every request</a:t>
            </a:r>
          </a:p>
        </p:txBody>
      </p:sp>
      <p:sp>
        <p:nvSpPr>
          <p:cNvPr id="5" name="">
            <a:extLst xmlns:a="http://schemas.openxmlformats.org/drawingml/2006/main">
              <a:ext uri="{FF2B5EF4-FFF2-40B4-BE49-F238E27FC236}">
                <a16:creationId xmlns:a16="http://schemas.microsoft.com/office/drawing/2014/main" id="{FA7F5C01-B3BC-4F10-8CCC-EBBEAB84E925}"/>
              </a:ext>
            </a:extLst>
          </p:cNvPr>
          <p:cNvSpPr>
            <a:spLocks xmlns:a="http://schemas.openxmlformats.org/drawingml/2006/main" noGrp="1"/>
          </p:cNvSpPr>
          <p:nvPr/>
        </p:nvSpPr>
        <p:spPr>
          <a:xfrm xmlns:a="http://schemas.openxmlformats.org/drawingml/2006/main">
            <a:off x="609600" y="4943475"/>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C686C"/>
                </a:solidFill>
                <a:latin typeface="Arial"/>
                <a:ea typeface="Arial"/>
                <a:cs typeface="Arial"/>
              </a:defRPr>
            </a:defPPr>
          </a:lstStyle>
          <a:p xmlns:a="http://schemas.openxmlformats.org/drawingml/2006/main">
            <a:pPr>
              <a:defRPr sz="1875" b="0">
                <a:solidFill>
                  <a:srgbClr val="5C686C"/>
                </a:solidFill>
                <a:latin typeface="Arial"/>
                <a:ea typeface="Arial"/>
                <a:cs typeface="Arial"/>
              </a:defRPr>
            </a:pPr>
            <a:r>
              <a:rPr sz="1875" b="0">
                <a:solidFill>
                  <a:srgbClr val="5C686C"/>
                </a:solidFill>
                <a:latin typeface="Arial"/>
                <a:ea typeface="Arial"/>
                <a:cs typeface="Arial"/>
              </a:rPr>
              <a:t>Earlier output keeps its revision.</a:t>
            </a:r>
          </a:p>
        </p:txBody>
      </p:sp>
      <p:sp>
        <p:nvSpPr>
          <p:cNvPr id="6" name="">
            <a:extLst xmlns:a="http://schemas.openxmlformats.org/drawingml/2006/main">
              <a:ext uri="{FF2B5EF4-FFF2-40B4-BE49-F238E27FC236}">
                <a16:creationId xmlns:a16="http://schemas.microsoft.com/office/drawing/2014/main" id="{7DE52395-7065-43C7-B76F-63C720E81296}"/>
              </a:ext>
            </a:extLst>
          </p:cNvPr>
          <p:cNvSpPr>
            <a:spLocks xmlns:a="http://schemas.openxmlformats.org/drawingml/2006/main" noGrp="1"/>
          </p:cNvSpPr>
          <p:nvPr/>
        </p:nvSpPr>
        <p:spPr>
          <a:xfrm xmlns:a="http://schemas.openxmlformats.org/drawingml/2006/main">
            <a:off x="5943600" y="1076325"/>
            <a:ext cx="547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5C686C"/>
                </a:solidFill>
                <a:latin typeface="Arial"/>
                <a:ea typeface="Arial"/>
                <a:cs typeface="Arial"/>
              </a:defRPr>
            </a:defPPr>
          </a:lstStyle>
          <a:p xmlns:a="http://schemas.openxmlformats.org/drawingml/2006/main">
            <a:pPr>
              <a:defRPr sz="1425" b="1">
                <a:solidFill>
                  <a:srgbClr val="5C686C"/>
                </a:solidFill>
                <a:latin typeface="Arial"/>
                <a:ea typeface="Arial"/>
                <a:cs typeface="Arial"/>
              </a:defRPr>
            </a:pPr>
            <a:r>
              <a:rPr sz="1425" b="1">
                <a:solidFill>
                  <a:srgbClr val="5C686C"/>
                </a:solidFill>
                <a:latin typeface="Arial"/>
                <a:ea typeface="Arial"/>
                <a:cs typeface="Arial"/>
              </a:rPr>
              <a:t>PYTHON EXAMPLE</a:t>
            </a:r>
          </a:p>
        </p:txBody>
      </p:sp>
      <p:sp>
        <p:nvSpPr>
          <p:cNvPr id="7" name="">
            <a:extLst xmlns:a="http://schemas.openxmlformats.org/drawingml/2006/main">
              <a:ext uri="{FF2B5EF4-FFF2-40B4-BE49-F238E27FC236}">
                <a16:creationId xmlns:a16="http://schemas.microsoft.com/office/drawing/2014/main" id="{59075F52-D738-41F7-A0E2-EB20A560A42B}"/>
              </a:ext>
            </a:extLst>
          </p:cNvPr>
          <p:cNvSpPr>
            <a:spLocks xmlns:a="http://schemas.openxmlformats.org/drawingml/2006/main" noGrp="1"/>
          </p:cNvSpPr>
          <p:nvPr/>
        </p:nvSpPr>
        <p:spPr>
          <a:xfrm xmlns:a="http://schemas.openxmlformats.org/drawingml/2006/main">
            <a:off x="5943600" y="1685925"/>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0191F"/>
                </a:solidFill>
                <a:latin typeface="Menlo"/>
                <a:ea typeface="Menlo"/>
                <a:cs typeface="Menlo"/>
              </a:defRPr>
            </a:defPPr>
          </a:lstStyle>
          <a:p xmlns:a="http://schemas.openxmlformats.org/drawingml/2006/main">
            <a:pPr>
              <a:defRPr sz="2175" b="0">
                <a:solidFill>
                  <a:srgbClr val="10191F"/>
                </a:solidFill>
                <a:latin typeface="Menlo"/>
                <a:ea typeface="Menlo"/>
                <a:cs typeface="Menlo"/>
              </a:defRPr>
            </a:pPr>
            <a:r>
              <a:rPr sz="2175" b="0">
                <a:solidFill>
                  <a:srgbClr val="10191F"/>
                </a:solidFill>
                <a:latin typeface="Menlo"/>
                <a:ea typeface="Menlo"/>
                <a:cs typeface="Menlo"/>
              </a:rPr>
              <a:t>labels = ['draft']</a:t>
            </a:r>
          </a:p>
        </p:txBody>
      </p:sp>
      <p:sp>
        <p:nvSpPr>
          <p:cNvPr id="8" name="">
            <a:extLst xmlns:a="http://schemas.openxmlformats.org/drawingml/2006/main">
              <a:ext uri="{FF2B5EF4-FFF2-40B4-BE49-F238E27FC236}">
                <a16:creationId xmlns:a16="http://schemas.microsoft.com/office/drawing/2014/main" id="{47E4DA8B-E9D3-4835-838C-E5E37F650027}"/>
              </a:ext>
            </a:extLst>
          </p:cNvPr>
          <p:cNvSpPr>
            <a:spLocks xmlns:a="http://schemas.openxmlformats.org/drawingml/2006/main" noGrp="1"/>
          </p:cNvSpPr>
          <p:nvPr/>
        </p:nvSpPr>
        <p:spPr>
          <a:xfrm xmlns:a="http://schemas.openxmlformats.org/drawingml/2006/main">
            <a:off x="5943600" y="2209800"/>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AD6B00"/>
                </a:solidFill>
                <a:latin typeface="Menlo"/>
                <a:ea typeface="Menlo"/>
                <a:cs typeface="Menlo"/>
              </a:defRPr>
            </a:defPPr>
          </a:lstStyle>
          <a:p xmlns:a="http://schemas.openxmlformats.org/drawingml/2006/main">
            <a:pPr>
              <a:defRPr sz="2175" b="0">
                <a:solidFill>
                  <a:srgbClr val="AD6B00"/>
                </a:solidFill>
                <a:latin typeface="Menlo"/>
                <a:ea typeface="Menlo"/>
                <a:cs typeface="Menlo"/>
              </a:defRPr>
            </a:pPr>
            <a:r>
              <a:rPr sz="2175" b="0">
                <a:solidFill>
                  <a:srgbClr val="AD6B00"/>
                </a:solidFill>
                <a:latin typeface="Menlo"/>
                <a:ea typeface="Menlo"/>
                <a:cs typeface="Menlo"/>
              </a:rPr>
              <a:t>snapshot = labels</a:t>
            </a:r>
          </a:p>
        </p:txBody>
      </p:sp>
      <p:sp>
        <p:nvSpPr>
          <p:cNvPr id="9" name="">
            <a:extLst xmlns:a="http://schemas.openxmlformats.org/drawingml/2006/main">
              <a:ext uri="{FF2B5EF4-FFF2-40B4-BE49-F238E27FC236}">
                <a16:creationId xmlns:a16="http://schemas.microsoft.com/office/drawing/2014/main" id="{44DA7D39-974D-4A07-8AB2-C2FA29A66501}"/>
              </a:ext>
            </a:extLst>
          </p:cNvPr>
          <p:cNvSpPr>
            <a:spLocks xmlns:a="http://schemas.openxmlformats.org/drawingml/2006/main" noGrp="1"/>
          </p:cNvSpPr>
          <p:nvPr/>
        </p:nvSpPr>
        <p:spPr>
          <a:xfrm xmlns:a="http://schemas.openxmlformats.org/drawingml/2006/main">
            <a:off x="5943600" y="2733675"/>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0191F"/>
                </a:solidFill>
                <a:latin typeface="Menlo"/>
                <a:ea typeface="Menlo"/>
                <a:cs typeface="Menlo"/>
              </a:defRPr>
            </a:defPPr>
          </a:lstStyle>
          <a:p xmlns:a="http://schemas.openxmlformats.org/drawingml/2006/main">
            <a:pPr>
              <a:defRPr sz="2175" b="0">
                <a:solidFill>
                  <a:srgbClr val="10191F"/>
                </a:solidFill>
                <a:latin typeface="Menlo"/>
                <a:ea typeface="Menlo"/>
                <a:cs typeface="Menlo"/>
              </a:defRPr>
            </a:pPr>
            <a:r>
              <a:rPr sz="2175" b="0">
                <a:solidFill>
                  <a:srgbClr val="10191F"/>
                </a:solidFill>
                <a:latin typeface="Menlo"/>
                <a:ea typeface="Menlo"/>
                <a:cs typeface="Menlo"/>
              </a:rPr>
              <a:t>labels.append('sent')</a:t>
            </a:r>
          </a:p>
        </p:txBody>
      </p:sp>
      <p:sp>
        <p:nvSpPr>
          <p:cNvPr id="10" name="">
            <a:extLst xmlns:a="http://schemas.openxmlformats.org/drawingml/2006/main">
              <a:ext uri="{FF2B5EF4-FFF2-40B4-BE49-F238E27FC236}">
                <a16:creationId xmlns:a16="http://schemas.microsoft.com/office/drawing/2014/main" id="{ACB4D848-12AB-4AB3-BCBF-75FA3174D873}"/>
              </a:ext>
            </a:extLst>
          </p:cNvPr>
          <p:cNvSpPr>
            <a:spLocks xmlns:a="http://schemas.openxmlformats.org/drawingml/2006/main" noGrp="1"/>
          </p:cNvSpPr>
          <p:nvPr/>
        </p:nvSpPr>
        <p:spPr>
          <a:xfrm xmlns:a="http://schemas.openxmlformats.org/drawingml/2006/main">
            <a:off x="5943600" y="3257550"/>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0191F"/>
                </a:solidFill>
                <a:latin typeface="Menlo"/>
                <a:ea typeface="Menlo"/>
                <a:cs typeface="Menlo"/>
              </a:defRPr>
            </a:defPPr>
          </a:lstStyle>
          <a:p xmlns:a="http://schemas.openxmlformats.org/drawingml/2006/main">
            <a:pPr>
              <a:defRPr sz="2175" b="0">
                <a:solidFill>
                  <a:srgbClr val="10191F"/>
                </a:solidFill>
                <a:latin typeface="Menlo"/>
                <a:ea typeface="Menlo"/>
                <a:cs typeface="Menlo"/>
              </a:defRPr>
            </a:pPr>
            <a:r>
              <a:rPr sz="2175" b="0">
                <a:solidFill>
                  <a:srgbClr val="10191F"/>
                </a:solidFill>
                <a:latin typeface="Menlo"/>
                <a:ea typeface="Menlo"/>
                <a:cs typeface="Menlo"/>
              </a:rPr>
              <a:t>print(snapshot)</a:t>
            </a:r>
          </a:p>
        </p:txBody>
      </p:sp>
      <p:sp>
        <p:nvSpPr>
          <p:cNvPr id="11" name="">
            <a:extLst xmlns:a="http://schemas.openxmlformats.org/drawingml/2006/main">
              <a:ext uri="{FF2B5EF4-FFF2-40B4-BE49-F238E27FC236}">
                <a16:creationId xmlns:a16="http://schemas.microsoft.com/office/drawing/2014/main" id="{68AA861C-8875-4A8D-95FE-009DDD8BD281}"/>
              </a:ext>
            </a:extLst>
          </p:cNvPr>
          <p:cNvSpPr>
            <a:spLocks xmlns:a="http://schemas.openxmlformats.org/drawingml/2006/main" noGrp="1"/>
          </p:cNvSpPr>
          <p:nvPr/>
        </p:nvSpPr>
        <p:spPr>
          <a:xfrm xmlns:a="http://schemas.openxmlformats.org/drawingml/2006/main">
            <a:off x="5943600" y="4143375"/>
            <a:ext cx="54006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0191F"/>
                </a:solidFill>
                <a:latin typeface="Arial"/>
                <a:ea typeface="Arial"/>
                <a:cs typeface="Arial"/>
              </a:defRPr>
            </a:defPPr>
          </a:lstStyle>
          <a:p xmlns:a="http://schemas.openxmlformats.org/drawingml/2006/main">
            <a:pPr>
              <a:defRPr sz="2700" b="1">
                <a:solidFill>
                  <a:srgbClr val="10191F"/>
                </a:solidFill>
                <a:latin typeface="Arial"/>
                <a:ea typeface="Arial"/>
                <a:cs typeface="Arial"/>
              </a:defRPr>
            </a:pPr>
            <a:r>
              <a:rPr sz="2700" b="1">
                <a:solidFill>
                  <a:srgbClr val="10191F"/>
                </a:solidFill>
                <a:latin typeface="Arial"/>
                <a:ea typeface="Arial"/>
                <a:cs typeface="Arial"/>
              </a:rPr>
              <a:t>“Why did my snapshot change?”</a:t>
            </a:r>
          </a:p>
        </p:txBody>
      </p:sp>
      <p:sp>
        <p:nvSpPr>
          <p:cNvPr id="12" name="">
            <a:extLst xmlns:a="http://schemas.openxmlformats.org/drawingml/2006/main">
              <a:ext uri="{FF2B5EF4-FFF2-40B4-BE49-F238E27FC236}">
                <a16:creationId xmlns:a16="http://schemas.microsoft.com/office/drawing/2014/main" id="{9ED53024-663B-4CC3-9EA6-C7D4934EC989}"/>
              </a:ext>
            </a:extLst>
          </p:cNvPr>
          <p:cNvSpPr>
            <a:spLocks xmlns:a="http://schemas.openxmlformats.org/drawingml/2006/main" noGrp="1"/>
          </p:cNvSpPr>
          <p:nvPr/>
        </p:nvSpPr>
        <p:spPr>
          <a:xfrm xmlns:a="http://schemas.openxmlformats.org/drawingml/2006/main">
            <a:off x="5943600" y="5343525"/>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C686C"/>
                </a:solidFill>
                <a:latin typeface="Arial"/>
                <a:ea typeface="Arial"/>
                <a:cs typeface="Arial"/>
              </a:defRPr>
            </a:defPPr>
          </a:lstStyle>
          <a:p xmlns:a="http://schemas.openxmlformats.org/drawingml/2006/main">
            <a:pPr>
              <a:defRPr sz="1800" b="0">
                <a:solidFill>
                  <a:srgbClr val="5C686C"/>
                </a:solidFill>
                <a:latin typeface="Arial"/>
                <a:ea typeface="Arial"/>
                <a:cs typeface="Arial"/>
              </a:defRPr>
            </a:pPr>
            <a:r>
              <a:rPr sz="1800" b="0">
                <a:solidFill>
                  <a:srgbClr val="5C686C"/>
                </a:solidFill>
                <a:latin typeface="Arial"/>
                <a:ea typeface="Arial"/>
                <a:cs typeface="Arial"/>
              </a:rPr>
              <a:t>Code discussion and concept questions</a:t>
            </a:r>
          </a:p>
          <a:p xmlns:a="http://schemas.openxmlformats.org/drawingml/2006/main">
            <a:pPr>
              <a:defRPr sz="1800" b="0">
                <a:solidFill>
                  <a:srgbClr val="5C686C"/>
                </a:solidFill>
                <a:latin typeface="Arial"/>
                <a:ea typeface="Arial"/>
                <a:cs typeface="Arial"/>
              </a:defRPr>
            </a:pPr>
            <a:r>
              <a:rPr sz="1800" b="0">
                <a:solidFill>
                  <a:srgbClr val="5C686C"/>
                </a:solidFill>
                <a:latin typeface="Arial"/>
                <a:ea typeface="Arial"/>
                <a:cs typeface="Arial"/>
              </a:rPr>
              <a:t>Own-code submissions are not executed.</a:t>
            </a:r>
          </a:p>
        </p:txBody>
      </p:sp>
      <p:sp>
        <p:nvSpPr>
          <p:cNvPr id="13" name="">
            <a:extLst xmlns:a="http://schemas.openxmlformats.org/drawingml/2006/main">
              <a:ext uri="{FF2B5EF4-FFF2-40B4-BE49-F238E27FC236}">
                <a16:creationId xmlns:a16="http://schemas.microsoft.com/office/drawing/2014/main" id="{C3DA1212-AA04-4E77-BA00-8C170AEEC19B}"/>
              </a:ext>
            </a:extLst>
          </p:cNvPr>
          <p:cNvSpPr>
            <a:spLocks xmlns:a="http://schemas.openxmlformats.org/drawingml/2006/main" noGrp="1"/>
          </p:cNvSpPr>
          <p:nvPr/>
        </p:nvSpPr>
        <p:spPr>
          <a:xfrm xmlns:a="http://schemas.openxmlformats.org/drawingml/2006/main">
            <a:off x="609600" y="6210300"/>
            <a:ext cx="1095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C686C"/>
                </a:solidFill>
                <a:latin typeface="Arial"/>
                <a:ea typeface="Arial"/>
                <a:cs typeface="Arial"/>
              </a:defRPr>
            </a:defPPr>
          </a:lstStyle>
          <a:p xmlns:a="http://schemas.openxmlformats.org/drawingml/2006/main">
            <a:pPr>
              <a:defRPr sz="1575" b="0">
                <a:solidFill>
                  <a:srgbClr val="5C686C"/>
                </a:solidFill>
                <a:latin typeface="Arial"/>
                <a:ea typeface="Arial"/>
                <a:cs typeface="Arial"/>
              </a:defRPr>
            </a:pPr>
            <a:r>
              <a:rPr sz="1575" b="0">
                <a:solidFill>
                  <a:srgbClr val="5C686C"/>
                </a:solidFill>
                <a:latin typeface="Arial"/>
                <a:ea typeface="Arial"/>
                <a:cs typeface="Arial"/>
              </a:rPr>
              <a:t>Python, JavaScript, TypeScript, C, C++, Java, SQL and Other</a:t>
            </a:r>
          </a:p>
        </p:txBody>
      </p:sp>
    </p:spTree>
    <p:extLst>
      <p:ext uri="{BB962C8B-B14F-4D97-AF65-F5344CB8AC3E}">
        <p14:creationId xmlns:p14="http://schemas.microsoft.com/office/powerpoint/2010/main" val="453079686"/>
      </p:ext>
    </p:extLst>
  </p:cSld>
</p:sld>
</file>

<file path=ppt/slides/slide3.xml><?xml version="1.0" encoding="utf-8"?>
<p:sld xmlns:p="http://schemas.openxmlformats.org/presentationml/2006/main">
  <p:cSld>
    <p:bg>
      <p:bgPr>
        <a:solidFill xmlns:a="http://schemas.openxmlformats.org/drawingml/2006/main">
          <a:srgbClr val="10191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53D69CF-4020-4951-B265-3E92A039ACD3}"/>
              </a:ext>
            </a:extLst>
          </p:cNvPr>
          <p:cNvSpPr>
            <a:spLocks xmlns:a="http://schemas.openxmlformats.org/drawingml/2006/main" noGrp="1"/>
          </p:cNvSpPr>
          <p:nvPr/>
        </p:nvSpPr>
        <p:spPr>
          <a:xfrm xmlns:a="http://schemas.openxmlformats.org/drawingml/2006/main">
            <a:off x="609600" y="276225"/>
            <a:ext cx="619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9DAAB1"/>
                </a:solidFill>
                <a:latin typeface="Arial"/>
                <a:ea typeface="Arial"/>
                <a:cs typeface="Arial"/>
              </a:defRPr>
            </a:defPPr>
          </a:lstStyle>
          <a:p xmlns:a="http://schemas.openxmlformats.org/drawingml/2006/main">
            <a:pPr>
              <a:defRPr sz="1350" b="1">
                <a:solidFill>
                  <a:srgbClr val="9DAAB1"/>
                </a:solidFill>
                <a:latin typeface="Arial"/>
                <a:ea typeface="Arial"/>
                <a:cs typeface="Arial"/>
              </a:defRPr>
            </a:pPr>
            <a:r>
              <a:rPr sz="1350" b="1">
                <a:solidFill>
                  <a:srgbClr val="9DAAB1"/>
                </a:solidFill>
                <a:latin typeface="Arial"/>
                <a:ea typeface="Arial"/>
                <a:cs typeface="Arial"/>
              </a:rPr>
              <a:t>DUCKTUTOR / 03</a:t>
            </a:r>
          </a:p>
        </p:txBody>
      </p:sp>
      <p:sp>
        <p:nvSpPr>
          <p:cNvPr id="2" name="">
            <a:extLst xmlns:a="http://schemas.openxmlformats.org/drawingml/2006/main">
              <a:ext uri="{FF2B5EF4-FFF2-40B4-BE49-F238E27FC236}">
                <a16:creationId xmlns:a16="http://schemas.microsoft.com/office/drawing/2014/main" id="{423B1C74-F02A-4C85-A29F-9E8BAC509E0A}"/>
              </a:ext>
            </a:extLst>
          </p:cNvPr>
          <p:cNvSpPr>
            <a:spLocks xmlns:a="http://schemas.openxmlformats.org/drawingml/2006/main" noGrp="1"/>
          </p:cNvSpPr>
          <p:nvPr/>
        </p:nvSpPr>
        <p:spPr>
          <a:xfrm xmlns:a="http://schemas.openxmlformats.org/drawingml/2006/main">
            <a:off x="609600" y="904875"/>
            <a:ext cx="1095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FFFFFF"/>
                </a:solidFill>
                <a:latin typeface="Arial"/>
                <a:ea typeface="Arial"/>
                <a:cs typeface="Arial"/>
              </a:defRPr>
            </a:defPPr>
          </a:lstStyle>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Guidance that moves forward</a:t>
            </a:r>
          </a:p>
        </p:txBody>
      </p:sp>
      <p:sp>
        <p:nvSpPr>
          <p:cNvPr id="3" name="">
            <a:extLst xmlns:a="http://schemas.openxmlformats.org/drawingml/2006/main">
              <a:ext uri="{FF2B5EF4-FFF2-40B4-BE49-F238E27FC236}">
                <a16:creationId xmlns:a16="http://schemas.microsoft.com/office/drawing/2014/main" id="{C9645C3D-E8E7-40C1-B950-CA42591F7551}"/>
              </a:ext>
            </a:extLst>
          </p:cNvPr>
          <p:cNvSpPr>
            <a:spLocks xmlns:a="http://schemas.openxmlformats.org/drawingml/2006/main" noGrp="1"/>
          </p:cNvSpPr>
          <p:nvPr/>
        </p:nvSpPr>
        <p:spPr>
          <a:xfrm xmlns:a="http://schemas.openxmlformats.org/drawingml/2006/main">
            <a:off x="609600" y="2162175"/>
            <a:ext cx="438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9DAAB1"/>
                </a:solidFill>
                <a:latin typeface="Arial"/>
                <a:ea typeface="Arial"/>
                <a:cs typeface="Arial"/>
              </a:defRPr>
            </a:defPPr>
          </a:lstStyle>
          <a:p xmlns:a="http://schemas.openxmlformats.org/drawingml/2006/main">
            <a:pPr>
              <a:defRPr sz="1425" b="1">
                <a:solidFill>
                  <a:srgbClr val="9DAAB1"/>
                </a:solidFill>
                <a:latin typeface="Arial"/>
                <a:ea typeface="Arial"/>
                <a:cs typeface="Arial"/>
              </a:defRPr>
            </a:pPr>
            <a:r>
              <a:rPr sz="1425" b="1">
                <a:solidFill>
                  <a:srgbClr val="9DAAB1"/>
                </a:solidFill>
                <a:latin typeface="Arial"/>
                <a:ea typeface="Arial"/>
                <a:cs typeface="Arial"/>
              </a:rPr>
              <a:t>LEARNER</a:t>
            </a:r>
          </a:p>
        </p:txBody>
      </p:sp>
      <p:sp>
        <p:nvSpPr>
          <p:cNvPr id="4" name="">
            <a:extLst xmlns:a="http://schemas.openxmlformats.org/drawingml/2006/main">
              <a:ext uri="{FF2B5EF4-FFF2-40B4-BE49-F238E27FC236}">
                <a16:creationId xmlns:a16="http://schemas.microsoft.com/office/drawing/2014/main" id="{3BA1C780-DA81-41E2-8627-8A9E43CA111C}"/>
              </a:ext>
            </a:extLst>
          </p:cNvPr>
          <p:cNvSpPr>
            <a:spLocks xmlns:a="http://schemas.openxmlformats.org/drawingml/2006/main" noGrp="1"/>
          </p:cNvSpPr>
          <p:nvPr/>
        </p:nvSpPr>
        <p:spPr>
          <a:xfrm xmlns:a="http://schemas.openxmlformats.org/drawingml/2006/main">
            <a:off x="581025" y="2714625"/>
            <a:ext cx="5048250" cy="213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F5F2E9"/>
                </a:solidFill>
                <a:latin typeface="Arial"/>
                <a:ea typeface="Arial"/>
                <a:cs typeface="Arial"/>
              </a:defRPr>
            </a:defPPr>
          </a:lstStyle>
          <a:p xmlns:a="http://schemas.openxmlformats.org/drawingml/2006/main">
            <a:pPr>
              <a:defRPr sz="3300" b="0">
                <a:solidFill>
                  <a:srgbClr val="F5F2E9"/>
                </a:solidFill>
                <a:latin typeface="Arial"/>
                <a:ea typeface="Arial"/>
                <a:cs typeface="Arial"/>
              </a:defRPr>
            </a:pPr>
            <a:r>
              <a:rPr sz="3300" b="0">
                <a:solidFill>
                  <a:srgbClr val="F5F2E9"/>
                </a:solidFill>
                <a:latin typeface="Arial"/>
                <a:ea typeface="Arial"/>
                <a:cs typeface="Arial"/>
              </a:rPr>
              <a:t>“I don’t understand</a:t>
            </a:r>
          </a:p>
          <a:p xmlns:a="http://schemas.openxmlformats.org/drawingml/2006/main">
            <a:pPr>
              <a:defRPr sz="3300" b="0">
                <a:solidFill>
                  <a:srgbClr val="F5F2E9"/>
                </a:solidFill>
                <a:latin typeface="Arial"/>
                <a:ea typeface="Arial"/>
                <a:cs typeface="Arial"/>
              </a:defRPr>
            </a:pPr>
            <a:r>
              <a:rPr sz="3300" b="0">
                <a:solidFill>
                  <a:srgbClr val="F5F2E9"/>
                </a:solidFill>
                <a:latin typeface="Arial"/>
                <a:ea typeface="Arial"/>
                <a:cs typeface="Arial"/>
              </a:rPr>
              <a:t>two names pointing</a:t>
            </a:r>
          </a:p>
          <a:p xmlns:a="http://schemas.openxmlformats.org/drawingml/2006/main">
            <a:pPr>
              <a:defRPr sz="3300" b="0">
                <a:solidFill>
                  <a:srgbClr val="F5F2E9"/>
                </a:solidFill>
                <a:latin typeface="Arial"/>
                <a:ea typeface="Arial"/>
                <a:cs typeface="Arial"/>
              </a:defRPr>
            </a:pPr>
            <a:r>
              <a:rPr sz="3300" b="0">
                <a:solidFill>
                  <a:srgbClr val="F5F2E9"/>
                </a:solidFill>
                <a:latin typeface="Arial"/>
                <a:ea typeface="Arial"/>
                <a:cs typeface="Arial"/>
              </a:rPr>
              <a:t>to one object.”</a:t>
            </a:r>
          </a:p>
        </p:txBody>
      </p:sp>
      <p:sp>
        <p:nvSpPr>
          <p:cNvPr id="5" name="">
            <a:extLst xmlns:a="http://schemas.openxmlformats.org/drawingml/2006/main">
              <a:ext uri="{FF2B5EF4-FFF2-40B4-BE49-F238E27FC236}">
                <a16:creationId xmlns:a16="http://schemas.microsoft.com/office/drawing/2014/main" id="{CAFFF788-58BB-464A-BBDF-97085E33C186}"/>
              </a:ext>
            </a:extLst>
          </p:cNvPr>
          <p:cNvSpPr>
            <a:spLocks xmlns:a="http://schemas.openxmlformats.org/drawingml/2006/main" noGrp="1"/>
          </p:cNvSpPr>
          <p:nvPr/>
        </p:nvSpPr>
        <p:spPr>
          <a:xfrm xmlns:a="http://schemas.openxmlformats.org/drawingml/2006/main">
            <a:off x="6534150" y="2162175"/>
            <a:ext cx="5095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F9C847"/>
                </a:solidFill>
                <a:latin typeface="Arial"/>
                <a:ea typeface="Arial"/>
                <a:cs typeface="Arial"/>
              </a:defRPr>
            </a:defPPr>
          </a:lstStyle>
          <a:p xmlns:a="http://schemas.openxmlformats.org/drawingml/2006/main">
            <a:pPr>
              <a:defRPr sz="1425" b="1">
                <a:solidFill>
                  <a:srgbClr val="F9C847"/>
                </a:solidFill>
                <a:latin typeface="Arial"/>
                <a:ea typeface="Arial"/>
                <a:cs typeface="Arial"/>
              </a:defRPr>
            </a:pPr>
            <a:r>
              <a:rPr sz="1425" b="1">
                <a:solidFill>
                  <a:srgbClr val="F9C847"/>
                </a:solidFill>
                <a:latin typeface="Arial"/>
                <a:ea typeface="Arial"/>
                <a:cs typeface="Arial"/>
              </a:rPr>
              <a:t>TEACHING RESPONSE</a:t>
            </a:r>
          </a:p>
        </p:txBody>
      </p:sp>
      <p:sp>
        <p:nvSpPr>
          <p:cNvPr id="6" name="">
            <a:extLst xmlns:a="http://schemas.openxmlformats.org/drawingml/2006/main">
              <a:ext uri="{FF2B5EF4-FFF2-40B4-BE49-F238E27FC236}">
                <a16:creationId xmlns:a16="http://schemas.microsoft.com/office/drawing/2014/main" id="{F7D5AE3C-2F50-4D95-896D-7266DE94B4F0}"/>
              </a:ext>
            </a:extLst>
          </p:cNvPr>
          <p:cNvSpPr>
            <a:spLocks xmlns:a="http://schemas.openxmlformats.org/drawingml/2006/main" noGrp="1"/>
          </p:cNvSpPr>
          <p:nvPr/>
        </p:nvSpPr>
        <p:spPr>
          <a:xfrm xmlns:a="http://schemas.openxmlformats.org/drawingml/2006/main">
            <a:off x="6477000" y="2714625"/>
            <a:ext cx="5143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F9C847"/>
                </a:solidFill>
                <a:latin typeface="Arial"/>
                <a:ea typeface="Arial"/>
                <a:cs typeface="Arial"/>
              </a:defRPr>
            </a:defPPr>
          </a:lstStyle>
          <a:p xmlns:a="http://schemas.openxmlformats.org/drawingml/2006/main">
            <a:pPr>
              <a:defRPr sz="3525" b="1">
                <a:solidFill>
                  <a:srgbClr val="F9C847"/>
                </a:solidFill>
                <a:latin typeface="Arial"/>
                <a:ea typeface="Arial"/>
                <a:cs typeface="Arial"/>
              </a:defRPr>
            </a:pPr>
            <a:r>
              <a:rPr sz="3525" b="1">
                <a:solidFill>
                  <a:srgbClr val="F9C847"/>
                </a:solidFill>
                <a:latin typeface="Arial"/>
                <a:ea typeface="Arial"/>
                <a:cs typeface="Arial"/>
              </a:rPr>
              <a:t>“Think of two labels</a:t>
            </a:r>
          </a:p>
          <a:p xmlns:a="http://schemas.openxmlformats.org/drawingml/2006/main">
            <a:pPr>
              <a:defRPr sz="3525" b="1">
                <a:solidFill>
                  <a:srgbClr val="F9C847"/>
                </a:solidFill>
                <a:latin typeface="Arial"/>
                <a:ea typeface="Arial"/>
                <a:cs typeface="Arial"/>
              </a:defRPr>
            </a:pPr>
            <a:r>
              <a:rPr sz="3525" b="1">
                <a:solidFill>
                  <a:srgbClr val="F9C847"/>
                </a:solidFill>
                <a:latin typeface="Arial"/>
                <a:ea typeface="Arial"/>
                <a:cs typeface="Arial"/>
              </a:rPr>
              <a:t>on the same box.”</a:t>
            </a:r>
          </a:p>
        </p:txBody>
      </p:sp>
      <p:sp>
        <p:nvSpPr>
          <p:cNvPr id="7" name="">
            <a:extLst xmlns:a="http://schemas.openxmlformats.org/drawingml/2006/main">
              <a:ext uri="{FF2B5EF4-FFF2-40B4-BE49-F238E27FC236}">
                <a16:creationId xmlns:a16="http://schemas.microsoft.com/office/drawing/2014/main" id="{56E9AAA1-203F-40FD-95B8-6A44243CB716}"/>
              </a:ext>
            </a:extLst>
          </p:cNvPr>
          <p:cNvSpPr>
            <a:spLocks xmlns:a="http://schemas.openxmlformats.org/drawingml/2006/main" noGrp="1"/>
          </p:cNvSpPr>
          <p:nvPr/>
        </p:nvSpPr>
        <p:spPr>
          <a:xfrm xmlns:a="http://schemas.openxmlformats.org/drawingml/2006/main">
            <a:off x="6534150" y="4667250"/>
            <a:ext cx="49053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5F2E9"/>
                </a:solidFill>
                <a:latin typeface="Arial"/>
                <a:ea typeface="Arial"/>
                <a:cs typeface="Arial"/>
              </a:defRPr>
            </a:defPPr>
          </a:lstStyle>
          <a:p xmlns:a="http://schemas.openxmlformats.org/drawingml/2006/main">
            <a:pPr>
              <a:defRPr sz="2025" b="0">
                <a:solidFill>
                  <a:srgbClr val="F5F2E9"/>
                </a:solidFill>
                <a:latin typeface="Arial"/>
                <a:ea typeface="Arial"/>
                <a:cs typeface="Arial"/>
              </a:defRPr>
            </a:pPr>
            <a:r>
              <a:rPr sz="2025" b="0">
                <a:solidFill>
                  <a:srgbClr val="F5F2E9"/>
                </a:solidFill>
                <a:latin typeface="Arial"/>
                <a:ea typeface="Arial"/>
                <a:cs typeface="Arial"/>
              </a:rPr>
              <a:t>Then a focused question or stronger hint.</a:t>
            </a:r>
          </a:p>
        </p:txBody>
      </p:sp>
      <p:sp>
        <p:nvSpPr>
          <p:cNvPr id="8" name="">
            <a:extLst xmlns:a="http://schemas.openxmlformats.org/drawingml/2006/main">
              <a:ext uri="{FF2B5EF4-FFF2-40B4-BE49-F238E27FC236}">
                <a16:creationId xmlns:a16="http://schemas.microsoft.com/office/drawing/2014/main" id="{4C503D6C-CEB5-40D0-BA74-DC0DDC12274B}"/>
              </a:ext>
            </a:extLst>
          </p:cNvPr>
          <p:cNvSpPr>
            <a:spLocks xmlns:a="http://schemas.openxmlformats.org/drawingml/2006/main" noGrp="1"/>
          </p:cNvSpPr>
          <p:nvPr/>
        </p:nvSpPr>
        <p:spPr>
          <a:xfrm xmlns:a="http://schemas.openxmlformats.org/drawingml/2006/main">
            <a:off x="609600" y="5915025"/>
            <a:ext cx="3667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FFFFF"/>
                </a:solidFill>
                <a:latin typeface="Arial"/>
                <a:ea typeface="Arial"/>
                <a:cs typeface="Arial"/>
              </a:defRPr>
            </a:defPPr>
          </a:lstStyle>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Prediction + confidence</a:t>
            </a:r>
          </a:p>
        </p:txBody>
      </p:sp>
      <p:sp>
        <p:nvSpPr>
          <p:cNvPr id="9" name="">
            <a:extLst xmlns:a="http://schemas.openxmlformats.org/drawingml/2006/main">
              <a:ext uri="{FF2B5EF4-FFF2-40B4-BE49-F238E27FC236}">
                <a16:creationId xmlns:a16="http://schemas.microsoft.com/office/drawing/2014/main" id="{77DFA175-D916-4D81-BFDF-6AB1A3AEA466}"/>
              </a:ext>
            </a:extLst>
          </p:cNvPr>
          <p:cNvSpPr>
            <a:spLocks xmlns:a="http://schemas.openxmlformats.org/drawingml/2006/main" noGrp="1"/>
          </p:cNvSpPr>
          <p:nvPr/>
        </p:nvSpPr>
        <p:spPr>
          <a:xfrm xmlns:a="http://schemas.openxmlformats.org/drawingml/2006/main">
            <a:off x="4581525" y="591502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FFFFF"/>
                </a:solidFill>
                <a:latin typeface="Arial"/>
                <a:ea typeface="Arial"/>
                <a:cs typeface="Arial"/>
              </a:defRPr>
            </a:defPPr>
          </a:lstStyle>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Repetition repair</a:t>
            </a:r>
          </a:p>
        </p:txBody>
      </p:sp>
      <p:sp>
        <p:nvSpPr>
          <p:cNvPr id="10" name="">
            <a:extLst xmlns:a="http://schemas.openxmlformats.org/drawingml/2006/main">
              <a:ext uri="{FF2B5EF4-FFF2-40B4-BE49-F238E27FC236}">
                <a16:creationId xmlns:a16="http://schemas.microsoft.com/office/drawing/2014/main" id="{F2D07722-D637-44E7-80F4-157AC7263DE7}"/>
              </a:ext>
            </a:extLst>
          </p:cNvPr>
          <p:cNvSpPr>
            <a:spLocks xmlns:a="http://schemas.openxmlformats.org/drawingml/2006/main" noGrp="1"/>
          </p:cNvSpPr>
          <p:nvPr/>
        </p:nvSpPr>
        <p:spPr>
          <a:xfrm xmlns:a="http://schemas.openxmlformats.org/drawingml/2006/main">
            <a:off x="8229600" y="591502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FFFFF"/>
                </a:solidFill>
                <a:latin typeface="Arial"/>
                <a:ea typeface="Arial"/>
                <a:cs typeface="Arial"/>
              </a:defRPr>
            </a:defPPr>
          </a:lstStyle>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Spoiler checks</a:t>
            </a:r>
          </a:p>
        </p:txBody>
      </p:sp>
      <p:sp>
        <p:nvSpPr>
          <p:cNvPr id="11" name="">
            <a:extLst xmlns:a="http://schemas.openxmlformats.org/drawingml/2006/main">
              <a:ext uri="{FF2B5EF4-FFF2-40B4-BE49-F238E27FC236}">
                <a16:creationId xmlns:a16="http://schemas.microsoft.com/office/drawing/2014/main" id="{7C03773D-128E-44F3-BAF7-2A4A18EEF271}"/>
              </a:ext>
            </a:extLst>
          </p:cNvPr>
          <p:cNvSpPr>
            <a:spLocks xmlns:a="http://schemas.openxmlformats.org/drawingml/2006/main" noGrp="1"/>
          </p:cNvSpPr>
          <p:nvPr/>
        </p:nvSpPr>
        <p:spPr>
          <a:xfrm xmlns:a="http://schemas.openxmlformats.org/drawingml/2006/main">
            <a:off x="609600" y="64579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DAAB1"/>
                </a:solidFill>
                <a:latin typeface="Arial"/>
                <a:ea typeface="Arial"/>
                <a:cs typeface="Arial"/>
              </a:defRPr>
            </a:defPPr>
          </a:lstStyle>
          <a:p xmlns:a="http://schemas.openxmlformats.org/drawingml/2006/main">
            <a:pPr>
              <a:defRPr sz="1200" b="0">
                <a:solidFill>
                  <a:srgbClr val="9DAAB1"/>
                </a:solidFill>
                <a:latin typeface="Arial"/>
                <a:ea typeface="Arial"/>
                <a:cs typeface="Arial"/>
              </a:defRPr>
            </a:pPr>
            <a:r>
              <a:rPr sz="1200" b="0">
                <a:solidFill>
                  <a:srgbClr val="9DAAB1"/>
                </a:solidFill>
                <a:latin typeface="Arial"/>
                <a:ea typeface="Arial"/>
                <a:cs typeface="Arial"/>
              </a:rPr>
              <a:t>Illustrative dialogue, not a recorded model response</a:t>
            </a:r>
          </a:p>
        </p:txBody>
      </p:sp>
    </p:spTree>
    <p:extLst>
      <p:ext uri="{BB962C8B-B14F-4D97-AF65-F5344CB8AC3E}">
        <p14:creationId xmlns:p14="http://schemas.microsoft.com/office/powerpoint/2010/main" val="1664242024"/>
      </p:ext>
    </p:extLst>
  </p:cSld>
</p:sld>
</file>

<file path=ppt/slides/slide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66FF63D-5041-4609-BE3E-C6FD73B1B795}"/>
              </a:ext>
            </a:extLst>
          </p:cNvPr>
          <p:cNvSpPr>
            <a:spLocks xmlns:a="http://schemas.openxmlformats.org/drawingml/2006/main" noGrp="1"/>
          </p:cNvSpPr>
          <p:nvPr/>
        </p:nvSpPr>
        <p:spPr>
          <a:xfrm xmlns:a="http://schemas.openxmlformats.org/drawingml/2006/main">
            <a:off x="609600" y="276225"/>
            <a:ext cx="619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5C686C"/>
                </a:solidFill>
                <a:latin typeface="Arial"/>
                <a:ea typeface="Arial"/>
                <a:cs typeface="Arial"/>
              </a:defRPr>
            </a:defPPr>
          </a:lstStyle>
          <a:p xmlns:a="http://schemas.openxmlformats.org/drawingml/2006/main">
            <a:pPr>
              <a:defRPr sz="1350" b="1">
                <a:solidFill>
                  <a:srgbClr val="5C686C"/>
                </a:solidFill>
                <a:latin typeface="Arial"/>
                <a:ea typeface="Arial"/>
                <a:cs typeface="Arial"/>
              </a:defRPr>
            </a:pPr>
            <a:r>
              <a:rPr sz="1350" b="1">
                <a:solidFill>
                  <a:srgbClr val="5C686C"/>
                </a:solidFill>
                <a:latin typeface="Arial"/>
                <a:ea typeface="Arial"/>
                <a:cs typeface="Arial"/>
              </a:rPr>
              <a:t>DUCKTUTOR / 04</a:t>
            </a:r>
          </a:p>
        </p:txBody>
      </p:sp>
      <p:sp>
        <p:nvSpPr>
          <p:cNvPr id="2" name="">
            <a:extLst xmlns:a="http://schemas.openxmlformats.org/drawingml/2006/main">
              <a:ext uri="{FF2B5EF4-FFF2-40B4-BE49-F238E27FC236}">
                <a16:creationId xmlns:a16="http://schemas.microsoft.com/office/drawing/2014/main" id="{B350807D-A3B7-4B28-96BB-3C3516EFA298}"/>
              </a:ext>
            </a:extLst>
          </p:cNvPr>
          <p:cNvSpPr>
            <a:spLocks xmlns:a="http://schemas.openxmlformats.org/drawingml/2006/main" noGrp="1"/>
          </p:cNvSpPr>
          <p:nvPr/>
        </p:nvSpPr>
        <p:spPr>
          <a:xfrm xmlns:a="http://schemas.openxmlformats.org/drawingml/2006/main">
            <a:off x="609600" y="923925"/>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75" b="1">
                <a:solidFill>
                  <a:srgbClr val="10191F"/>
                </a:solidFill>
                <a:latin typeface="Arial"/>
                <a:ea typeface="Arial"/>
                <a:cs typeface="Arial"/>
              </a:defRPr>
            </a:defPPr>
          </a:lstStyle>
          <a:p xmlns:a="http://schemas.openxmlformats.org/drawingml/2006/main">
            <a:pPr>
              <a:defRPr sz="3975" b="1">
                <a:solidFill>
                  <a:srgbClr val="10191F"/>
                </a:solidFill>
                <a:latin typeface="Arial"/>
                <a:ea typeface="Arial"/>
                <a:cs typeface="Arial"/>
              </a:defRPr>
            </a:pPr>
            <a:r>
              <a:rPr sz="3975" b="1">
                <a:solidFill>
                  <a:srgbClr val="10191F"/>
                </a:solidFill>
                <a:latin typeface="Arial"/>
                <a:ea typeface="Arial"/>
                <a:cs typeface="Arial"/>
              </a:rPr>
              <a:t>Real checks. Traceable results</a:t>
            </a:r>
          </a:p>
        </p:txBody>
      </p:sp>
      <p:sp>
        <p:nvSpPr>
          <p:cNvPr id="3" name="">
            <a:extLst xmlns:a="http://schemas.openxmlformats.org/drawingml/2006/main">
              <a:ext uri="{FF2B5EF4-FFF2-40B4-BE49-F238E27FC236}">
                <a16:creationId xmlns:a16="http://schemas.microsoft.com/office/drawing/2014/main" id="{FFCF1585-FAC9-441A-9FFE-65FBBAA3ADB3}"/>
              </a:ext>
            </a:extLst>
          </p:cNvPr>
          <p:cNvSpPr>
            <a:spLocks xmlns:a="http://schemas.openxmlformats.org/drawingml/2006/main" noGrp="1"/>
          </p:cNvSpPr>
          <p:nvPr/>
        </p:nvSpPr>
        <p:spPr>
          <a:xfrm xmlns:a="http://schemas.openxmlformats.org/drawingml/2006/main">
            <a:off x="571500" y="1819275"/>
            <a:ext cx="2428875"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200" b="1">
                <a:solidFill>
                  <a:srgbClr val="10191F"/>
                </a:solidFill>
                <a:latin typeface="Arial"/>
                <a:ea typeface="Arial"/>
                <a:cs typeface="Arial"/>
              </a:defRPr>
            </a:defPPr>
          </a:lstStyle>
          <a:p xmlns:a="http://schemas.openxmlformats.org/drawingml/2006/main">
            <a:pPr>
              <a:defRPr sz="10200" b="1">
                <a:solidFill>
                  <a:srgbClr val="10191F"/>
                </a:solidFill>
                <a:latin typeface="Arial"/>
                <a:ea typeface="Arial"/>
                <a:cs typeface="Arial"/>
              </a:defRPr>
            </a:pPr>
            <a:r>
              <a:rPr sz="10200" b="1">
                <a:solidFill>
                  <a:srgbClr val="10191F"/>
                </a:solidFill>
                <a:latin typeface="Arial"/>
                <a:ea typeface="Arial"/>
                <a:cs typeface="Arial"/>
              </a:rPr>
              <a:t>5</a:t>
            </a:r>
          </a:p>
        </p:txBody>
      </p:sp>
      <p:sp>
        <p:nvSpPr>
          <p:cNvPr id="4" name="">
            <a:extLst xmlns:a="http://schemas.openxmlformats.org/drawingml/2006/main">
              <a:ext uri="{FF2B5EF4-FFF2-40B4-BE49-F238E27FC236}">
                <a16:creationId xmlns:a16="http://schemas.microsoft.com/office/drawing/2014/main" id="{DE79502E-1B75-4FFA-8A5B-5993AE68D793}"/>
              </a:ext>
            </a:extLst>
          </p:cNvPr>
          <p:cNvSpPr>
            <a:spLocks xmlns:a="http://schemas.openxmlformats.org/drawingml/2006/main" noGrp="1"/>
          </p:cNvSpPr>
          <p:nvPr/>
        </p:nvSpPr>
        <p:spPr>
          <a:xfrm xmlns:a="http://schemas.openxmlformats.org/drawingml/2006/main">
            <a:off x="619125" y="3381375"/>
            <a:ext cx="276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C686C"/>
                </a:solidFill>
                <a:latin typeface="Arial"/>
                <a:ea typeface="Arial"/>
                <a:cs typeface="Arial"/>
              </a:defRPr>
            </a:defPPr>
          </a:lstStyle>
          <a:p xmlns:a="http://schemas.openxmlformats.org/drawingml/2006/main">
            <a:pPr>
              <a:defRPr sz="2100" b="0">
                <a:solidFill>
                  <a:srgbClr val="5C686C"/>
                </a:solidFill>
                <a:latin typeface="Arial"/>
                <a:ea typeface="Arial"/>
                <a:cs typeface="Arial"/>
              </a:defRPr>
            </a:pPr>
            <a:r>
              <a:rPr sz="2100" b="0">
                <a:solidFill>
                  <a:srgbClr val="5C686C"/>
                </a:solidFill>
                <a:latin typeface="Arial"/>
                <a:ea typeface="Arial"/>
                <a:cs typeface="Arial"/>
              </a:rPr>
              <a:t>Python exercises</a:t>
            </a:r>
          </a:p>
        </p:txBody>
      </p:sp>
      <p:sp>
        <p:nvSpPr>
          <p:cNvPr id="5" name="">
            <a:extLst xmlns:a="http://schemas.openxmlformats.org/drawingml/2006/main">
              <a:ext uri="{FF2B5EF4-FFF2-40B4-BE49-F238E27FC236}">
                <a16:creationId xmlns:a16="http://schemas.microsoft.com/office/drawing/2014/main" id="{C7F6DF94-3FBD-4868-9625-CE15EC9101A4}"/>
              </a:ext>
            </a:extLst>
          </p:cNvPr>
          <p:cNvSpPr>
            <a:spLocks xmlns:a="http://schemas.openxmlformats.org/drawingml/2006/main" noGrp="1"/>
          </p:cNvSpPr>
          <p:nvPr/>
        </p:nvSpPr>
        <p:spPr>
          <a:xfrm xmlns:a="http://schemas.openxmlformats.org/drawingml/2006/main">
            <a:off x="3324225" y="1819275"/>
            <a:ext cx="28575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200" b="1">
                <a:solidFill>
                  <a:srgbClr val="B87600"/>
                </a:solidFill>
                <a:latin typeface="Arial"/>
                <a:ea typeface="Arial"/>
                <a:cs typeface="Arial"/>
              </a:defRPr>
            </a:defPPr>
          </a:lstStyle>
          <a:p xmlns:a="http://schemas.openxmlformats.org/drawingml/2006/main">
            <a:pPr>
              <a:defRPr sz="10200" b="1">
                <a:solidFill>
                  <a:srgbClr val="B87600"/>
                </a:solidFill>
                <a:latin typeface="Arial"/>
                <a:ea typeface="Arial"/>
                <a:cs typeface="Arial"/>
              </a:defRPr>
            </a:pPr>
            <a:r>
              <a:rPr sz="10200" b="1">
                <a:solidFill>
                  <a:srgbClr val="B87600"/>
                </a:solidFill>
                <a:latin typeface="Arial"/>
                <a:ea typeface="Arial"/>
                <a:cs typeface="Arial"/>
              </a:rPr>
              <a:t>25</a:t>
            </a:r>
          </a:p>
        </p:txBody>
      </p:sp>
      <p:sp>
        <p:nvSpPr>
          <p:cNvPr id="6" name="">
            <a:extLst xmlns:a="http://schemas.openxmlformats.org/drawingml/2006/main">
              <a:ext uri="{FF2B5EF4-FFF2-40B4-BE49-F238E27FC236}">
                <a16:creationId xmlns:a16="http://schemas.microsoft.com/office/drawing/2014/main" id="{98E1EF99-0890-42F3-90B2-01260F42E955}"/>
              </a:ext>
            </a:extLst>
          </p:cNvPr>
          <p:cNvSpPr>
            <a:spLocks xmlns:a="http://schemas.openxmlformats.org/drawingml/2006/main" noGrp="1"/>
          </p:cNvSpPr>
          <p:nvPr/>
        </p:nvSpPr>
        <p:spPr>
          <a:xfrm xmlns:a="http://schemas.openxmlformats.org/drawingml/2006/main">
            <a:off x="3371850" y="3381375"/>
            <a:ext cx="27908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C686C"/>
                </a:solidFill>
                <a:latin typeface="Arial"/>
                <a:ea typeface="Arial"/>
                <a:cs typeface="Arial"/>
              </a:defRPr>
            </a:defPPr>
          </a:lstStyle>
          <a:p xmlns:a="http://schemas.openxmlformats.org/drawingml/2006/main">
            <a:pPr>
              <a:defRPr sz="2100" b="0">
                <a:solidFill>
                  <a:srgbClr val="5C686C"/>
                </a:solidFill>
                <a:latin typeface="Arial"/>
                <a:ea typeface="Arial"/>
                <a:cs typeface="Arial"/>
              </a:defRPr>
            </a:pPr>
            <a:r>
              <a:rPr sz="2100" b="0">
                <a:solidFill>
                  <a:srgbClr val="5C686C"/>
                </a:solidFill>
                <a:latin typeface="Arial"/>
                <a:ea typeface="Arial"/>
                <a:cs typeface="Arial"/>
              </a:rPr>
              <a:t>reviewed cases</a:t>
            </a:r>
          </a:p>
        </p:txBody>
      </p:sp>
      <p:sp>
        <p:nvSpPr>
          <p:cNvPr id="7" name="">
            <a:extLst xmlns:a="http://schemas.openxmlformats.org/drawingml/2006/main">
              <a:ext uri="{FF2B5EF4-FFF2-40B4-BE49-F238E27FC236}">
                <a16:creationId xmlns:a16="http://schemas.microsoft.com/office/drawing/2014/main" id="{E95C5E21-0D75-4AB5-BD50-5DAEF8725885}"/>
              </a:ext>
            </a:extLst>
          </p:cNvPr>
          <p:cNvSpPr>
            <a:spLocks xmlns:a="http://schemas.openxmlformats.org/drawingml/2006/main" noGrp="1"/>
          </p:cNvSpPr>
          <p:nvPr/>
        </p:nvSpPr>
        <p:spPr>
          <a:xfrm xmlns:a="http://schemas.openxmlformats.org/drawingml/2006/main">
            <a:off x="6638925" y="1971675"/>
            <a:ext cx="6000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B87600"/>
                </a:solidFill>
                <a:latin typeface="Arial"/>
                <a:ea typeface="Arial"/>
                <a:cs typeface="Arial"/>
              </a:defRPr>
            </a:defPPr>
          </a:lstStyle>
          <a:p xmlns:a="http://schemas.openxmlformats.org/drawingml/2006/main">
            <a:pPr>
              <a:defRPr sz="1800" b="1">
                <a:solidFill>
                  <a:srgbClr val="B87600"/>
                </a:solidFill>
                <a:latin typeface="Arial"/>
                <a:ea typeface="Arial"/>
                <a:cs typeface="Arial"/>
              </a:defRPr>
            </a:pPr>
            <a:r>
              <a:rPr sz="1800" b="1">
                <a:solidFill>
                  <a:srgbClr val="B87600"/>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4DA4F3D2-9C82-4C51-B5FD-6CE69B64CD2F}"/>
              </a:ext>
            </a:extLst>
          </p:cNvPr>
          <p:cNvSpPr>
            <a:spLocks xmlns:a="http://schemas.openxmlformats.org/drawingml/2006/main" noGrp="1"/>
          </p:cNvSpPr>
          <p:nvPr/>
        </p:nvSpPr>
        <p:spPr>
          <a:xfrm xmlns:a="http://schemas.openxmlformats.org/drawingml/2006/main">
            <a:off x="7439025" y="1933575"/>
            <a:ext cx="3952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0191F"/>
                </a:solidFill>
                <a:latin typeface="Arial"/>
                <a:ea typeface="Arial"/>
                <a:cs typeface="Arial"/>
              </a:defRPr>
            </a:defPPr>
          </a:lstStyle>
          <a:p xmlns:a="http://schemas.openxmlformats.org/drawingml/2006/main">
            <a:pPr>
              <a:defRPr sz="2400" b="1">
                <a:solidFill>
                  <a:srgbClr val="10191F"/>
                </a:solidFill>
                <a:latin typeface="Arial"/>
                <a:ea typeface="Arial"/>
                <a:cs typeface="Arial"/>
              </a:defRPr>
            </a:pPr>
            <a:r>
              <a:rPr sz="2400" b="1">
                <a:solidFill>
                  <a:srgbClr val="10191F"/>
                </a:solidFill>
                <a:latin typeface="Arial"/>
                <a:ea typeface="Arial"/>
                <a:cs typeface="Arial"/>
              </a:rPr>
              <a:t>Predict</a:t>
            </a:r>
          </a:p>
        </p:txBody>
      </p:sp>
      <p:sp>
        <p:nvSpPr>
          <p:cNvPr id="9" name="">
            <a:extLst xmlns:a="http://schemas.openxmlformats.org/drawingml/2006/main">
              <a:ext uri="{FF2B5EF4-FFF2-40B4-BE49-F238E27FC236}">
                <a16:creationId xmlns:a16="http://schemas.microsoft.com/office/drawing/2014/main" id="{0B3DEB42-73BB-4BFE-8F09-9BD032DC82C9}"/>
              </a:ext>
            </a:extLst>
          </p:cNvPr>
          <p:cNvSpPr>
            <a:spLocks xmlns:a="http://schemas.openxmlformats.org/drawingml/2006/main" noGrp="1"/>
          </p:cNvSpPr>
          <p:nvPr/>
        </p:nvSpPr>
        <p:spPr>
          <a:xfrm xmlns:a="http://schemas.openxmlformats.org/drawingml/2006/main">
            <a:off x="7439025" y="2343150"/>
            <a:ext cx="4057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C686C"/>
                </a:solidFill>
                <a:latin typeface="Arial"/>
                <a:ea typeface="Arial"/>
                <a:cs typeface="Arial"/>
              </a:defRPr>
            </a:defPPr>
          </a:lstStyle>
          <a:p xmlns:a="http://schemas.openxmlformats.org/drawingml/2006/main">
            <a:pPr>
              <a:defRPr sz="1725" b="0">
                <a:solidFill>
                  <a:srgbClr val="5C686C"/>
                </a:solidFill>
                <a:latin typeface="Arial"/>
                <a:ea typeface="Arial"/>
                <a:cs typeface="Arial"/>
              </a:defRPr>
            </a:pPr>
            <a:r>
              <a:rPr sz="1725" b="0">
                <a:solidFill>
                  <a:srgbClr val="5C686C"/>
                </a:solidFill>
                <a:latin typeface="Arial"/>
                <a:ea typeface="Arial"/>
                <a:cs typeface="Arial"/>
              </a:rPr>
              <a:t>Record output + confidence</a:t>
            </a:r>
          </a:p>
        </p:txBody>
      </p:sp>
      <p:sp>
        <p:nvSpPr>
          <p:cNvPr id="10" name="">
            <a:extLst xmlns:a="http://schemas.openxmlformats.org/drawingml/2006/main">
              <a:ext uri="{FF2B5EF4-FFF2-40B4-BE49-F238E27FC236}">
                <a16:creationId xmlns:a16="http://schemas.microsoft.com/office/drawing/2014/main" id="{88AB267C-FCC7-42CC-8BA4-61C0C755575E}"/>
              </a:ext>
            </a:extLst>
          </p:cNvPr>
          <p:cNvSpPr>
            <a:spLocks xmlns:a="http://schemas.openxmlformats.org/drawingml/2006/main" noGrp="1"/>
          </p:cNvSpPr>
          <p:nvPr/>
        </p:nvSpPr>
        <p:spPr>
          <a:xfrm xmlns:a="http://schemas.openxmlformats.org/drawingml/2006/main">
            <a:off x="6638925" y="2952750"/>
            <a:ext cx="6000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B87600"/>
                </a:solidFill>
                <a:latin typeface="Arial"/>
                <a:ea typeface="Arial"/>
                <a:cs typeface="Arial"/>
              </a:defRPr>
            </a:defPPr>
          </a:lstStyle>
          <a:p xmlns:a="http://schemas.openxmlformats.org/drawingml/2006/main">
            <a:pPr>
              <a:defRPr sz="1800" b="1">
                <a:solidFill>
                  <a:srgbClr val="B87600"/>
                </a:solidFill>
                <a:latin typeface="Arial"/>
                <a:ea typeface="Arial"/>
                <a:cs typeface="Arial"/>
              </a:defRPr>
            </a:pPr>
            <a:r>
              <a:rPr sz="1800" b="1">
                <a:solidFill>
                  <a:srgbClr val="B87600"/>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D49A3084-EC33-43E5-B36C-111E82BDC2C3}"/>
              </a:ext>
            </a:extLst>
          </p:cNvPr>
          <p:cNvSpPr>
            <a:spLocks xmlns:a="http://schemas.openxmlformats.org/drawingml/2006/main" noGrp="1"/>
          </p:cNvSpPr>
          <p:nvPr/>
        </p:nvSpPr>
        <p:spPr>
          <a:xfrm xmlns:a="http://schemas.openxmlformats.org/drawingml/2006/main">
            <a:off x="7439025" y="2914650"/>
            <a:ext cx="3952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0191F"/>
                </a:solidFill>
                <a:latin typeface="Arial"/>
                <a:ea typeface="Arial"/>
                <a:cs typeface="Arial"/>
              </a:defRPr>
            </a:defPPr>
          </a:lstStyle>
          <a:p xmlns:a="http://schemas.openxmlformats.org/drawingml/2006/main">
            <a:pPr>
              <a:defRPr sz="2400" b="1">
                <a:solidFill>
                  <a:srgbClr val="10191F"/>
                </a:solidFill>
                <a:latin typeface="Arial"/>
                <a:ea typeface="Arial"/>
                <a:cs typeface="Arial"/>
              </a:defRPr>
            </a:pPr>
            <a:r>
              <a:rPr sz="2400" b="1">
                <a:solidFill>
                  <a:srgbClr val="10191F"/>
                </a:solidFill>
                <a:latin typeface="Arial"/>
                <a:ea typeface="Arial"/>
                <a:cs typeface="Arial"/>
              </a:rPr>
              <a:t>Investigate</a:t>
            </a:r>
          </a:p>
        </p:txBody>
      </p:sp>
      <p:sp>
        <p:nvSpPr>
          <p:cNvPr id="12" name="">
            <a:extLst xmlns:a="http://schemas.openxmlformats.org/drawingml/2006/main">
              <a:ext uri="{FF2B5EF4-FFF2-40B4-BE49-F238E27FC236}">
                <a16:creationId xmlns:a16="http://schemas.microsoft.com/office/drawing/2014/main" id="{1047A9DF-1EA5-4D36-A3E7-E747E37AEEFB}"/>
              </a:ext>
            </a:extLst>
          </p:cNvPr>
          <p:cNvSpPr>
            <a:spLocks xmlns:a="http://schemas.openxmlformats.org/drawingml/2006/main" noGrp="1"/>
          </p:cNvSpPr>
          <p:nvPr/>
        </p:nvSpPr>
        <p:spPr>
          <a:xfrm xmlns:a="http://schemas.openxmlformats.org/drawingml/2006/main">
            <a:off x="7439025" y="3324225"/>
            <a:ext cx="4057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C686C"/>
                </a:solidFill>
                <a:latin typeface="Arial"/>
                <a:ea typeface="Arial"/>
                <a:cs typeface="Arial"/>
              </a:defRPr>
            </a:defPPr>
          </a:lstStyle>
          <a:p xmlns:a="http://schemas.openxmlformats.org/drawingml/2006/main">
            <a:pPr>
              <a:defRPr sz="1725" b="0">
                <a:solidFill>
                  <a:srgbClr val="5C686C"/>
                </a:solidFill>
                <a:latin typeface="Arial"/>
                <a:ea typeface="Arial"/>
                <a:cs typeface="Arial"/>
              </a:defRPr>
            </a:pPr>
            <a:r>
              <a:rPr sz="1725" b="0">
                <a:solidFill>
                  <a:srgbClr val="5C686C"/>
                </a:solidFill>
                <a:latin typeface="Arial"/>
                <a:ea typeface="Arial"/>
                <a:cs typeface="Arial"/>
              </a:rPr>
              <a:t>The duck selects a challenge</a:t>
            </a:r>
          </a:p>
        </p:txBody>
      </p:sp>
      <p:sp>
        <p:nvSpPr>
          <p:cNvPr id="13" name="">
            <a:extLst xmlns:a="http://schemas.openxmlformats.org/drawingml/2006/main">
              <a:ext uri="{FF2B5EF4-FFF2-40B4-BE49-F238E27FC236}">
                <a16:creationId xmlns:a16="http://schemas.microsoft.com/office/drawing/2014/main" id="{703E8A09-703C-4F5C-8DC6-32A3DF85DD9B}"/>
              </a:ext>
            </a:extLst>
          </p:cNvPr>
          <p:cNvSpPr>
            <a:spLocks xmlns:a="http://schemas.openxmlformats.org/drawingml/2006/main" noGrp="1"/>
          </p:cNvSpPr>
          <p:nvPr/>
        </p:nvSpPr>
        <p:spPr>
          <a:xfrm xmlns:a="http://schemas.openxmlformats.org/drawingml/2006/main">
            <a:off x="6638925" y="3933825"/>
            <a:ext cx="6000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B87600"/>
                </a:solidFill>
                <a:latin typeface="Arial"/>
                <a:ea typeface="Arial"/>
                <a:cs typeface="Arial"/>
              </a:defRPr>
            </a:defPPr>
          </a:lstStyle>
          <a:p xmlns:a="http://schemas.openxmlformats.org/drawingml/2006/main">
            <a:pPr>
              <a:defRPr sz="1800" b="1">
                <a:solidFill>
                  <a:srgbClr val="B87600"/>
                </a:solidFill>
                <a:latin typeface="Arial"/>
                <a:ea typeface="Arial"/>
                <a:cs typeface="Arial"/>
              </a:defRPr>
            </a:pPr>
            <a:r>
              <a:rPr sz="1800" b="1">
                <a:solidFill>
                  <a:srgbClr val="B87600"/>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45F46EB0-3BD8-4BBB-B3AF-D1443EF7D9FF}"/>
              </a:ext>
            </a:extLst>
          </p:cNvPr>
          <p:cNvSpPr>
            <a:spLocks xmlns:a="http://schemas.openxmlformats.org/drawingml/2006/main" noGrp="1"/>
          </p:cNvSpPr>
          <p:nvPr/>
        </p:nvSpPr>
        <p:spPr>
          <a:xfrm xmlns:a="http://schemas.openxmlformats.org/drawingml/2006/main">
            <a:off x="7439025" y="3895725"/>
            <a:ext cx="3952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0191F"/>
                </a:solidFill>
                <a:latin typeface="Arial"/>
                <a:ea typeface="Arial"/>
                <a:cs typeface="Arial"/>
              </a:defRPr>
            </a:defPPr>
          </a:lstStyle>
          <a:p xmlns:a="http://schemas.openxmlformats.org/drawingml/2006/main">
            <a:pPr>
              <a:defRPr sz="2400" b="1">
                <a:solidFill>
                  <a:srgbClr val="10191F"/>
                </a:solidFill>
                <a:latin typeface="Arial"/>
                <a:ea typeface="Arial"/>
                <a:cs typeface="Arial"/>
              </a:defRPr>
            </a:pPr>
            <a:r>
              <a:rPr sz="2400" b="1">
                <a:solidFill>
                  <a:srgbClr val="10191F"/>
                </a:solidFill>
                <a:latin typeface="Arial"/>
                <a:ea typeface="Arial"/>
                <a:cs typeface="Arial"/>
              </a:rPr>
              <a:t>Edit</a:t>
            </a:r>
          </a:p>
        </p:txBody>
      </p:sp>
      <p:sp>
        <p:nvSpPr>
          <p:cNvPr id="15" name="">
            <a:extLst xmlns:a="http://schemas.openxmlformats.org/drawingml/2006/main">
              <a:ext uri="{FF2B5EF4-FFF2-40B4-BE49-F238E27FC236}">
                <a16:creationId xmlns:a16="http://schemas.microsoft.com/office/drawing/2014/main" id="{256FB0C1-6DCD-4783-A9C8-C9D4BBF1CBCE}"/>
              </a:ext>
            </a:extLst>
          </p:cNvPr>
          <p:cNvSpPr>
            <a:spLocks xmlns:a="http://schemas.openxmlformats.org/drawingml/2006/main" noGrp="1"/>
          </p:cNvSpPr>
          <p:nvPr/>
        </p:nvSpPr>
        <p:spPr>
          <a:xfrm xmlns:a="http://schemas.openxmlformats.org/drawingml/2006/main">
            <a:off x="7439025" y="4305300"/>
            <a:ext cx="4057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C686C"/>
                </a:solidFill>
                <a:latin typeface="Arial"/>
                <a:ea typeface="Arial"/>
                <a:cs typeface="Arial"/>
              </a:defRPr>
            </a:defPPr>
          </a:lstStyle>
          <a:p xmlns:a="http://schemas.openxmlformats.org/drawingml/2006/main">
            <a:pPr>
              <a:defRPr sz="1725" b="0">
                <a:solidFill>
                  <a:srgbClr val="5C686C"/>
                </a:solidFill>
                <a:latin typeface="Arial"/>
                <a:ea typeface="Arial"/>
                <a:cs typeface="Arial"/>
              </a:defRPr>
            </a:pPr>
            <a:r>
              <a:rPr sz="1725" b="0">
                <a:solidFill>
                  <a:srgbClr val="5C686C"/>
                </a:solidFill>
                <a:latin typeface="Arial"/>
                <a:ea typeface="Arial"/>
                <a:cs typeface="Arial"/>
              </a:rPr>
              <a:t>Clear the old pass status</a:t>
            </a:r>
          </a:p>
        </p:txBody>
      </p:sp>
      <p:sp>
        <p:nvSpPr>
          <p:cNvPr id="16" name="">
            <a:extLst xmlns:a="http://schemas.openxmlformats.org/drawingml/2006/main">
              <a:ext uri="{FF2B5EF4-FFF2-40B4-BE49-F238E27FC236}">
                <a16:creationId xmlns:a16="http://schemas.microsoft.com/office/drawing/2014/main" id="{A8055F82-9703-450A-90D4-87C7AD02BFB5}"/>
              </a:ext>
            </a:extLst>
          </p:cNvPr>
          <p:cNvSpPr>
            <a:spLocks xmlns:a="http://schemas.openxmlformats.org/drawingml/2006/main" noGrp="1"/>
          </p:cNvSpPr>
          <p:nvPr/>
        </p:nvSpPr>
        <p:spPr>
          <a:xfrm xmlns:a="http://schemas.openxmlformats.org/drawingml/2006/main">
            <a:off x="6638925" y="4914900"/>
            <a:ext cx="6000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B87600"/>
                </a:solidFill>
                <a:latin typeface="Arial"/>
                <a:ea typeface="Arial"/>
                <a:cs typeface="Arial"/>
              </a:defRPr>
            </a:defPPr>
          </a:lstStyle>
          <a:p xmlns:a="http://schemas.openxmlformats.org/drawingml/2006/main">
            <a:pPr>
              <a:defRPr sz="1800" b="1">
                <a:solidFill>
                  <a:srgbClr val="B87600"/>
                </a:solidFill>
                <a:latin typeface="Arial"/>
                <a:ea typeface="Arial"/>
                <a:cs typeface="Arial"/>
              </a:defRPr>
            </a:pPr>
            <a:r>
              <a:rPr sz="1800" b="1">
                <a:solidFill>
                  <a:srgbClr val="B87600"/>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45141E98-DD80-4680-AB2D-D9A1F28FA0FB}"/>
              </a:ext>
            </a:extLst>
          </p:cNvPr>
          <p:cNvSpPr>
            <a:spLocks xmlns:a="http://schemas.openxmlformats.org/drawingml/2006/main" noGrp="1"/>
          </p:cNvSpPr>
          <p:nvPr/>
        </p:nvSpPr>
        <p:spPr>
          <a:xfrm xmlns:a="http://schemas.openxmlformats.org/drawingml/2006/main">
            <a:off x="7439025" y="4876800"/>
            <a:ext cx="3952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0191F"/>
                </a:solidFill>
                <a:latin typeface="Arial"/>
                <a:ea typeface="Arial"/>
                <a:cs typeface="Arial"/>
              </a:defRPr>
            </a:defPPr>
          </a:lstStyle>
          <a:p xmlns:a="http://schemas.openxmlformats.org/drawingml/2006/main">
            <a:pPr>
              <a:defRPr sz="2400" b="1">
                <a:solidFill>
                  <a:srgbClr val="10191F"/>
                </a:solidFill>
                <a:latin typeface="Arial"/>
                <a:ea typeface="Arial"/>
                <a:cs typeface="Arial"/>
              </a:defRPr>
            </a:pPr>
            <a:r>
              <a:rPr sz="2400" b="1">
                <a:solidFill>
                  <a:srgbClr val="10191F"/>
                </a:solidFill>
                <a:latin typeface="Arial"/>
                <a:ea typeface="Arial"/>
                <a:cs typeface="Arial"/>
              </a:rPr>
              <a:t>Check</a:t>
            </a:r>
          </a:p>
        </p:txBody>
      </p:sp>
      <p:sp>
        <p:nvSpPr>
          <p:cNvPr id="18" name="">
            <a:extLst xmlns:a="http://schemas.openxmlformats.org/drawingml/2006/main">
              <a:ext uri="{FF2B5EF4-FFF2-40B4-BE49-F238E27FC236}">
                <a16:creationId xmlns:a16="http://schemas.microsoft.com/office/drawing/2014/main" id="{EF2B8C29-F89A-4297-8DF4-B6075DA0A77B}"/>
              </a:ext>
            </a:extLst>
          </p:cNvPr>
          <p:cNvSpPr>
            <a:spLocks xmlns:a="http://schemas.openxmlformats.org/drawingml/2006/main" noGrp="1"/>
          </p:cNvSpPr>
          <p:nvPr/>
        </p:nvSpPr>
        <p:spPr>
          <a:xfrm xmlns:a="http://schemas.openxmlformats.org/drawingml/2006/main">
            <a:off x="7439025" y="5286375"/>
            <a:ext cx="4057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C686C"/>
                </a:solidFill>
                <a:latin typeface="Arial"/>
                <a:ea typeface="Arial"/>
                <a:cs typeface="Arial"/>
              </a:defRPr>
            </a:defPPr>
          </a:lstStyle>
          <a:p xmlns:a="http://schemas.openxmlformats.org/drawingml/2006/main">
            <a:pPr>
              <a:defRPr sz="1725" b="0">
                <a:solidFill>
                  <a:srgbClr val="5C686C"/>
                </a:solidFill>
                <a:latin typeface="Arial"/>
                <a:ea typeface="Arial"/>
                <a:cs typeface="Arial"/>
              </a:defRPr>
            </a:pPr>
            <a:r>
              <a:rPr sz="1725" b="0">
                <a:solidFill>
                  <a:srgbClr val="5C686C"/>
                </a:solidFill>
                <a:latin typeface="Arial"/>
                <a:ea typeface="Arial"/>
                <a:cs typeface="Arial"/>
              </a:rPr>
              <a:t>Python executes and judges</a:t>
            </a:r>
          </a:p>
        </p:txBody>
      </p:sp>
      <p:sp>
        <p:nvSpPr>
          <p:cNvPr id="19" name="">
            <a:extLst xmlns:a="http://schemas.openxmlformats.org/drawingml/2006/main">
              <a:ext uri="{FF2B5EF4-FFF2-40B4-BE49-F238E27FC236}">
                <a16:creationId xmlns:a16="http://schemas.microsoft.com/office/drawing/2014/main" id="{E1AE22A1-3A58-48C2-8E46-F3CF7A96A784}"/>
              </a:ext>
            </a:extLst>
          </p:cNvPr>
          <p:cNvSpPr>
            <a:spLocks xmlns:a="http://schemas.openxmlformats.org/drawingml/2006/main" noGrp="1"/>
          </p:cNvSpPr>
          <p:nvPr/>
        </p:nvSpPr>
        <p:spPr>
          <a:xfrm xmlns:a="http://schemas.openxmlformats.org/drawingml/2006/main">
            <a:off x="619125" y="4248150"/>
            <a:ext cx="5457825"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0191F"/>
                </a:solidFill>
                <a:latin typeface="Arial"/>
                <a:ea typeface="Arial"/>
                <a:cs typeface="Arial"/>
              </a:defRPr>
            </a:defPPr>
          </a:lstStyle>
          <a:p xmlns:a="http://schemas.openxmlformats.org/drawingml/2006/main">
            <a:pPr>
              <a:defRPr sz="2025" b="0">
                <a:solidFill>
                  <a:srgbClr val="10191F"/>
                </a:solidFill>
                <a:latin typeface="Arial"/>
                <a:ea typeface="Arial"/>
                <a:cs typeface="Arial"/>
              </a:defRPr>
            </a:pPr>
            <a:r>
              <a:rPr sz="2025" b="0">
                <a:solidFill>
                  <a:srgbClr val="10191F"/>
                </a:solidFill>
                <a:latin typeface="Arial"/>
                <a:ea typeface="Arial"/>
                <a:cs typeface="Arial"/>
              </a:rPr>
              <a:t>Mutable defaults</a:t>
            </a:r>
          </a:p>
          <a:p xmlns:a="http://schemas.openxmlformats.org/drawingml/2006/main">
            <a:pPr>
              <a:defRPr sz="2025" b="0">
                <a:solidFill>
                  <a:srgbClr val="10191F"/>
                </a:solidFill>
                <a:latin typeface="Arial"/>
                <a:ea typeface="Arial"/>
                <a:cs typeface="Arial"/>
              </a:defRPr>
            </a:pPr>
            <a:r>
              <a:rPr sz="2025" b="0">
                <a:solidFill>
                  <a:srgbClr val="10191F"/>
                </a:solidFill>
                <a:latin typeface="Arial"/>
                <a:ea typeface="Arial"/>
                <a:cs typeface="Arial"/>
              </a:rPr>
              <a:t>Negative values</a:t>
            </a:r>
          </a:p>
          <a:p xmlns:a="http://schemas.openxmlformats.org/drawingml/2006/main">
            <a:pPr>
              <a:defRPr sz="2025" b="0">
                <a:solidFill>
                  <a:srgbClr val="10191F"/>
                </a:solidFill>
                <a:latin typeface="Arial"/>
                <a:ea typeface="Arial"/>
                <a:cs typeface="Arial"/>
              </a:defRPr>
            </a:pPr>
            <a:r>
              <a:rPr sz="2025" b="0">
                <a:solidFill>
                  <a:srgbClr val="10191F"/>
                </a:solidFill>
                <a:latin typeface="Arial"/>
                <a:ea typeface="Arial"/>
                <a:cs typeface="Arial"/>
              </a:rPr>
              <a:t>Loop bounds</a:t>
            </a:r>
          </a:p>
          <a:p xmlns:a="http://schemas.openxmlformats.org/drawingml/2006/main">
            <a:pPr>
              <a:defRPr sz="2025" b="0">
                <a:solidFill>
                  <a:srgbClr val="10191F"/>
                </a:solidFill>
                <a:latin typeface="Arial"/>
                <a:ea typeface="Arial"/>
                <a:cs typeface="Arial"/>
              </a:defRPr>
            </a:pPr>
            <a:r>
              <a:rPr sz="2025" b="0">
                <a:solidFill>
                  <a:srgbClr val="10191F"/>
                </a:solidFill>
                <a:latin typeface="Arial"/>
                <a:ea typeface="Arial"/>
                <a:cs typeface="Arial"/>
              </a:rPr>
              <a:t>Closures and recursion</a:t>
            </a:r>
          </a:p>
        </p:txBody>
      </p:sp>
      <p:sp>
        <p:nvSpPr>
          <p:cNvPr id="20" name="">
            <a:extLst xmlns:a="http://schemas.openxmlformats.org/drawingml/2006/main">
              <a:ext uri="{FF2B5EF4-FFF2-40B4-BE49-F238E27FC236}">
                <a16:creationId xmlns:a16="http://schemas.microsoft.com/office/drawing/2014/main" id="{61968D39-B080-4B41-8F84-19641374D6AB}"/>
              </a:ext>
            </a:extLst>
          </p:cNvPr>
          <p:cNvSpPr>
            <a:spLocks xmlns:a="http://schemas.openxmlformats.org/drawingml/2006/main" noGrp="1"/>
          </p:cNvSpPr>
          <p:nvPr/>
        </p:nvSpPr>
        <p:spPr>
          <a:xfrm xmlns:a="http://schemas.openxmlformats.org/drawingml/2006/main">
            <a:off x="609600" y="636270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C686C"/>
                </a:solidFill>
                <a:latin typeface="Arial"/>
                <a:ea typeface="Arial"/>
                <a:cs typeface="Arial"/>
              </a:defRPr>
            </a:defPPr>
          </a:lstStyle>
          <a:p xmlns:a="http://schemas.openxmlformats.org/drawingml/2006/main">
            <a:pPr>
              <a:defRPr sz="1575" b="0">
                <a:solidFill>
                  <a:srgbClr val="5C686C"/>
                </a:solidFill>
                <a:latin typeface="Arial"/>
                <a:ea typeface="Arial"/>
                <a:cs typeface="Arial"/>
              </a:defRPr>
            </a:pPr>
            <a:r>
              <a:rPr sz="1575" b="0">
                <a:solidFill>
                  <a:srgbClr val="5C686C"/>
                </a:solidFill>
                <a:latin typeface="Arial"/>
                <a:ea typeface="Arial"/>
                <a:cs typeface="Arial"/>
              </a:rPr>
              <a:t>Pass results apply to the checked cases and the current revision.</a:t>
            </a:r>
          </a:p>
        </p:txBody>
      </p:sp>
    </p:spTree>
    <p:extLst>
      <p:ext uri="{BB962C8B-B14F-4D97-AF65-F5344CB8AC3E}">
        <p14:creationId xmlns:p14="http://schemas.microsoft.com/office/powerpoint/2010/main" val="1865461805"/>
      </p:ext>
    </p:extLst>
  </p:cSld>
</p:sld>
</file>

<file path=ppt/slides/slide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54CBA62F-32C8-4408-8614-62522EF520D8}"/>
              </a:ext>
            </a:extLst>
          </p:cNvPr>
          <p:cNvPicPr>
            <a:picLocks xmlns:a="http://schemas.openxmlformats.org/drawingml/2006/main" noChangeAspect="1"/>
          </p:cNvPicPr>
          <p:nvPr/>
        </p:nvPicPr>
        <p:blipFill>
          <a:blip xmlns:r="http://schemas.openxmlformats.org/officeDocument/2006/relationships" xmlns:a="http://schemas.openxmlformats.org/drawingml/2006/main" r:embed="Rb66a32784ae84d22"/>
          <a:srcRect xmlns:a="http://schemas.openxmlformats.org/drawingml/2006/main" l="2274" t="0" r="2274" b="0"/>
          <a:stretch xmlns:a="http://schemas.openxmlformats.org/drawingml/2006/main">
            <a:fillRect l="0" t="0" r="0" b="0"/>
          </a:stretch>
        </p:blipFill>
        <p:spPr>
          <a:xfrm xmlns:a="http://schemas.openxmlformats.org/drawingml/2006/main">
            <a:off x="0" y="0"/>
            <a:ext cx="5238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1D4BE6D-056A-45F7-A209-9C7F694A8907}"/>
              </a:ext>
            </a:extLst>
          </p:cNvPr>
          <p:cNvSpPr>
            <a:spLocks xmlns:a="http://schemas.openxmlformats.org/drawingml/2006/main" noGrp="1"/>
          </p:cNvSpPr>
          <p:nvPr/>
        </p:nvSpPr>
        <p:spPr>
          <a:xfrm xmlns:a="http://schemas.openxmlformats.org/drawingml/2006/main">
            <a:off x="5800725" y="276225"/>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5C686C"/>
                </a:solidFill>
                <a:latin typeface="Arial"/>
                <a:ea typeface="Arial"/>
                <a:cs typeface="Arial"/>
              </a:defRPr>
            </a:defPPr>
          </a:lstStyle>
          <a:p xmlns:a="http://schemas.openxmlformats.org/drawingml/2006/main">
            <a:pPr>
              <a:defRPr sz="1350" b="1">
                <a:solidFill>
                  <a:srgbClr val="5C686C"/>
                </a:solidFill>
                <a:latin typeface="Arial"/>
                <a:ea typeface="Arial"/>
                <a:cs typeface="Arial"/>
              </a:defRPr>
            </a:pPr>
            <a:r>
              <a:rPr sz="1350" b="1">
                <a:solidFill>
                  <a:srgbClr val="5C686C"/>
                </a:solidFill>
                <a:latin typeface="Arial"/>
                <a:ea typeface="Arial"/>
                <a:cs typeface="Arial"/>
              </a:rPr>
              <a:t>DUCKTUTOR / 05</a:t>
            </a:r>
          </a:p>
        </p:txBody>
      </p:sp>
      <p:sp>
        <p:nvSpPr>
          <p:cNvPr id="3" name="">
            <a:extLst xmlns:a="http://schemas.openxmlformats.org/drawingml/2006/main">
              <a:ext uri="{FF2B5EF4-FFF2-40B4-BE49-F238E27FC236}">
                <a16:creationId xmlns:a16="http://schemas.microsoft.com/office/drawing/2014/main" id="{98A45909-BF00-4C95-A6F6-D12320ED585E}"/>
              </a:ext>
            </a:extLst>
          </p:cNvPr>
          <p:cNvSpPr>
            <a:spLocks xmlns:a="http://schemas.openxmlformats.org/drawingml/2006/main" noGrp="1"/>
          </p:cNvSpPr>
          <p:nvPr/>
        </p:nvSpPr>
        <p:spPr>
          <a:xfrm xmlns:a="http://schemas.openxmlformats.org/drawingml/2006/main">
            <a:off x="5791200" y="1000125"/>
            <a:ext cx="5810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125" b="1">
                <a:solidFill>
                  <a:srgbClr val="10191F"/>
                </a:solidFill>
                <a:latin typeface="Arial"/>
                <a:ea typeface="Arial"/>
                <a:cs typeface="Arial"/>
              </a:defRPr>
            </a:defPPr>
          </a:lstStyle>
          <a:p xmlns:a="http://schemas.openxmlformats.org/drawingml/2006/main">
            <a:pPr>
              <a:defRPr sz="4125" b="1">
                <a:solidFill>
                  <a:srgbClr val="10191F"/>
                </a:solidFill>
                <a:latin typeface="Arial"/>
                <a:ea typeface="Arial"/>
                <a:cs typeface="Arial"/>
              </a:defRPr>
            </a:pPr>
            <a:r>
              <a:rPr sz="4125" b="1">
                <a:solidFill>
                  <a:srgbClr val="10191F"/>
                </a:solidFill>
                <a:latin typeface="Arial"/>
                <a:ea typeface="Arial"/>
                <a:cs typeface="Arial"/>
              </a:rPr>
              <a:t>The learning</a:t>
            </a:r>
          </a:p>
          <a:p xmlns:a="http://schemas.openxmlformats.org/drawingml/2006/main">
            <a:pPr>
              <a:defRPr sz="4125" b="1">
                <a:solidFill>
                  <a:srgbClr val="10191F"/>
                </a:solidFill>
                <a:latin typeface="Arial"/>
                <a:ea typeface="Arial"/>
                <a:cs typeface="Arial"/>
              </a:defRPr>
            </a:pPr>
            <a:r>
              <a:rPr sz="4125" b="1">
                <a:solidFill>
                  <a:srgbClr val="10191F"/>
                </a:solidFill>
                <a:latin typeface="Arial"/>
                <a:ea typeface="Arial"/>
                <a:cs typeface="Arial"/>
              </a:rPr>
              <a:t>stays with you</a:t>
            </a:r>
          </a:p>
        </p:txBody>
      </p:sp>
      <p:sp>
        <p:nvSpPr>
          <p:cNvPr id="4" name="">
            <a:extLst xmlns:a="http://schemas.openxmlformats.org/drawingml/2006/main">
              <a:ext uri="{FF2B5EF4-FFF2-40B4-BE49-F238E27FC236}">
                <a16:creationId xmlns:a16="http://schemas.microsoft.com/office/drawing/2014/main" id="{85F2B949-9317-47EE-BF21-9FE302203A8C}"/>
              </a:ext>
            </a:extLst>
          </p:cNvPr>
          <p:cNvSpPr>
            <a:spLocks xmlns:a="http://schemas.openxmlformats.org/drawingml/2006/main" noGrp="1"/>
          </p:cNvSpPr>
          <p:nvPr/>
        </p:nvSpPr>
        <p:spPr>
          <a:xfrm xmlns:a="http://schemas.openxmlformats.org/drawingml/2006/main">
            <a:off x="5810250" y="2819400"/>
            <a:ext cx="561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0191F"/>
                </a:solidFill>
                <a:latin typeface="Arial"/>
                <a:ea typeface="Arial"/>
                <a:cs typeface="Arial"/>
              </a:defRPr>
            </a:defPPr>
          </a:lstStyle>
          <a:p xmlns:a="http://schemas.openxmlformats.org/drawingml/2006/main">
            <a:pPr>
              <a:defRPr sz="2400" b="1">
                <a:solidFill>
                  <a:srgbClr val="10191F"/>
                </a:solidFill>
                <a:latin typeface="Arial"/>
                <a:ea typeface="Arial"/>
                <a:cs typeface="Arial"/>
              </a:defRPr>
            </a:pPr>
            <a:r>
              <a:rPr sz="2400" b="1">
                <a:solidFill>
                  <a:srgbClr val="10191F"/>
                </a:solidFill>
                <a:latin typeface="Arial"/>
                <a:ea typeface="Arial"/>
                <a:cs typeface="Arial"/>
              </a:rPr>
              <a:t>A new snippet</a:t>
            </a:r>
          </a:p>
        </p:txBody>
      </p:sp>
      <p:sp>
        <p:nvSpPr>
          <p:cNvPr id="5" name="">
            <a:extLst xmlns:a="http://schemas.openxmlformats.org/drawingml/2006/main">
              <a:ext uri="{FF2B5EF4-FFF2-40B4-BE49-F238E27FC236}">
                <a16:creationId xmlns:a16="http://schemas.microsoft.com/office/drawing/2014/main" id="{A5205B19-54A3-48E1-96B4-887B0BD2B25F}"/>
              </a:ext>
            </a:extLst>
          </p:cNvPr>
          <p:cNvSpPr>
            <a:spLocks xmlns:a="http://schemas.openxmlformats.org/drawingml/2006/main" noGrp="1"/>
          </p:cNvSpPr>
          <p:nvPr/>
        </p:nvSpPr>
        <p:spPr>
          <a:xfrm xmlns:a="http://schemas.openxmlformats.org/drawingml/2006/main">
            <a:off x="5810250" y="3267075"/>
            <a:ext cx="5572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C686C"/>
                </a:solidFill>
                <a:latin typeface="Arial"/>
                <a:ea typeface="Arial"/>
                <a:cs typeface="Arial"/>
              </a:defRPr>
            </a:defPPr>
          </a:lstStyle>
          <a:p xmlns:a="http://schemas.openxmlformats.org/drawingml/2006/main">
            <a:pPr>
              <a:defRPr sz="1875" b="0">
                <a:solidFill>
                  <a:srgbClr val="5C686C"/>
                </a:solidFill>
                <a:latin typeface="Arial"/>
                <a:ea typeface="Arial"/>
                <a:cs typeface="Arial"/>
              </a:defRPr>
            </a:pPr>
            <a:r>
              <a:rPr sz="1875" b="0">
                <a:solidFill>
                  <a:srgbClr val="5C686C"/>
                </a:solidFill>
                <a:latin typeface="Arial"/>
                <a:ea typeface="Arial"/>
                <a:cs typeface="Arial"/>
              </a:rPr>
              <a:t>Transfer questions revisit the concept.</a:t>
            </a:r>
          </a:p>
        </p:txBody>
      </p:sp>
      <p:sp>
        <p:nvSpPr>
          <p:cNvPr id="6" name="">
            <a:extLst xmlns:a="http://schemas.openxmlformats.org/drawingml/2006/main">
              <a:ext uri="{FF2B5EF4-FFF2-40B4-BE49-F238E27FC236}">
                <a16:creationId xmlns:a16="http://schemas.microsoft.com/office/drawing/2014/main" id="{04D2447C-9ADF-4814-8237-29DB10010B8C}"/>
              </a:ext>
            </a:extLst>
          </p:cNvPr>
          <p:cNvSpPr>
            <a:spLocks xmlns:a="http://schemas.openxmlformats.org/drawingml/2006/main" noGrp="1"/>
          </p:cNvSpPr>
          <p:nvPr/>
        </p:nvSpPr>
        <p:spPr>
          <a:xfrm xmlns:a="http://schemas.openxmlformats.org/drawingml/2006/main">
            <a:off x="5810250" y="3943350"/>
            <a:ext cx="561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0191F"/>
                </a:solidFill>
                <a:latin typeface="Arial"/>
                <a:ea typeface="Arial"/>
                <a:cs typeface="Arial"/>
              </a:defRPr>
            </a:defPPr>
          </a:lstStyle>
          <a:p xmlns:a="http://schemas.openxmlformats.org/drawingml/2006/main">
            <a:pPr>
              <a:defRPr sz="2400" b="1">
                <a:solidFill>
                  <a:srgbClr val="10191F"/>
                </a:solidFill>
                <a:latin typeface="Arial"/>
                <a:ea typeface="Arial"/>
                <a:cs typeface="Arial"/>
              </a:defRPr>
            </a:pPr>
            <a:r>
              <a:rPr sz="2400" b="1">
                <a:solidFill>
                  <a:srgbClr val="10191F"/>
                </a:solidFill>
                <a:latin typeface="Arial"/>
                <a:ea typeface="Arial"/>
                <a:cs typeface="Arial"/>
              </a:rPr>
              <a:t>Your learning notes</a:t>
            </a:r>
          </a:p>
        </p:txBody>
      </p:sp>
      <p:sp>
        <p:nvSpPr>
          <p:cNvPr id="7" name="">
            <a:extLst xmlns:a="http://schemas.openxmlformats.org/drawingml/2006/main">
              <a:ext uri="{FF2B5EF4-FFF2-40B4-BE49-F238E27FC236}">
                <a16:creationId xmlns:a16="http://schemas.microsoft.com/office/drawing/2014/main" id="{DA86617F-0DE6-49E2-818C-C11722C760EA}"/>
              </a:ext>
            </a:extLst>
          </p:cNvPr>
          <p:cNvSpPr>
            <a:spLocks xmlns:a="http://schemas.openxmlformats.org/drawingml/2006/main" noGrp="1"/>
          </p:cNvSpPr>
          <p:nvPr/>
        </p:nvSpPr>
        <p:spPr>
          <a:xfrm xmlns:a="http://schemas.openxmlformats.org/drawingml/2006/main">
            <a:off x="5810250" y="4391025"/>
            <a:ext cx="5572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C686C"/>
                </a:solidFill>
                <a:latin typeface="Arial"/>
                <a:ea typeface="Arial"/>
                <a:cs typeface="Arial"/>
              </a:defRPr>
            </a:defPPr>
          </a:lstStyle>
          <a:p xmlns:a="http://schemas.openxmlformats.org/drawingml/2006/main">
            <a:pPr>
              <a:defRPr sz="1875" b="0">
                <a:solidFill>
                  <a:srgbClr val="5C686C"/>
                </a:solidFill>
                <a:latin typeface="Arial"/>
                <a:ea typeface="Arial"/>
                <a:cs typeface="Arial"/>
              </a:defRPr>
            </a:pPr>
            <a:r>
              <a:rPr sz="1875" b="0">
                <a:solidFill>
                  <a:srgbClr val="5C686C"/>
                </a:solidFill>
                <a:latin typeface="Arial"/>
                <a:ea typeface="Arial"/>
                <a:cs typeface="Arial"/>
              </a:rPr>
              <a:t>Capture insights. Correct tentative notes.</a:t>
            </a:r>
          </a:p>
        </p:txBody>
      </p:sp>
      <p:sp>
        <p:nvSpPr>
          <p:cNvPr id="8" name="">
            <a:extLst xmlns:a="http://schemas.openxmlformats.org/drawingml/2006/main">
              <a:ext uri="{FF2B5EF4-FFF2-40B4-BE49-F238E27FC236}">
                <a16:creationId xmlns:a16="http://schemas.microsoft.com/office/drawing/2014/main" id="{7D41F4CF-A29A-42D4-B3F3-54126A411178}"/>
              </a:ext>
            </a:extLst>
          </p:cNvPr>
          <p:cNvSpPr>
            <a:spLocks xmlns:a="http://schemas.openxmlformats.org/drawingml/2006/main" noGrp="1"/>
          </p:cNvSpPr>
          <p:nvPr/>
        </p:nvSpPr>
        <p:spPr>
          <a:xfrm xmlns:a="http://schemas.openxmlformats.org/drawingml/2006/main">
            <a:off x="5810250" y="5200650"/>
            <a:ext cx="561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0191F"/>
                </a:solidFill>
                <a:latin typeface="Arial"/>
                <a:ea typeface="Arial"/>
                <a:cs typeface="Arial"/>
              </a:defRPr>
            </a:defPPr>
          </a:lstStyle>
          <a:p xmlns:a="http://schemas.openxmlformats.org/drawingml/2006/main">
            <a:pPr>
              <a:defRPr sz="2400" b="1">
                <a:solidFill>
                  <a:srgbClr val="10191F"/>
                </a:solidFill>
                <a:latin typeface="Arial"/>
                <a:ea typeface="Arial"/>
                <a:cs typeface="Arial"/>
              </a:defRPr>
            </a:pPr>
            <a:r>
              <a:rPr sz="2400" b="1">
                <a:solidFill>
                  <a:srgbClr val="10191F"/>
                </a:solidFill>
                <a:latin typeface="Arial"/>
                <a:ea typeface="Arial"/>
                <a:cs typeface="Arial"/>
              </a:rPr>
              <a:t>Your notebook</a:t>
            </a:r>
          </a:p>
        </p:txBody>
      </p:sp>
      <p:sp>
        <p:nvSpPr>
          <p:cNvPr id="9" name="">
            <a:extLst xmlns:a="http://schemas.openxmlformats.org/drawingml/2006/main">
              <a:ext uri="{FF2B5EF4-FFF2-40B4-BE49-F238E27FC236}">
                <a16:creationId xmlns:a16="http://schemas.microsoft.com/office/drawing/2014/main" id="{0BCBA96F-A58D-4093-9974-F24301D65853}"/>
              </a:ext>
            </a:extLst>
          </p:cNvPr>
          <p:cNvSpPr>
            <a:spLocks xmlns:a="http://schemas.openxmlformats.org/drawingml/2006/main" noGrp="1"/>
          </p:cNvSpPr>
          <p:nvPr/>
        </p:nvSpPr>
        <p:spPr>
          <a:xfrm xmlns:a="http://schemas.openxmlformats.org/drawingml/2006/main">
            <a:off x="5810250" y="5648325"/>
            <a:ext cx="5572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C686C"/>
                </a:solidFill>
                <a:latin typeface="Arial"/>
                <a:ea typeface="Arial"/>
                <a:cs typeface="Arial"/>
              </a:defRPr>
            </a:defPPr>
          </a:lstStyle>
          <a:p xmlns:a="http://schemas.openxmlformats.org/drawingml/2006/main">
            <a:pPr>
              <a:defRPr sz="1875" b="0">
                <a:solidFill>
                  <a:srgbClr val="5C686C"/>
                </a:solidFill>
                <a:latin typeface="Arial"/>
                <a:ea typeface="Arial"/>
                <a:cs typeface="Arial"/>
              </a:defRPr>
            </a:pPr>
            <a:r>
              <a:rPr sz="1875" b="0">
                <a:solidFill>
                  <a:srgbClr val="5C686C"/>
                </a:solidFill>
                <a:latin typeface="Arial"/>
                <a:ea typeface="Arial"/>
                <a:cs typeface="Arial"/>
              </a:rPr>
              <a:t>Save, export and resume the conversation.</a:t>
            </a:r>
          </a:p>
        </p:txBody>
      </p:sp>
    </p:spTree>
    <p:extLst>
      <p:ext uri="{BB962C8B-B14F-4D97-AF65-F5344CB8AC3E}">
        <p14:creationId xmlns:p14="http://schemas.microsoft.com/office/powerpoint/2010/main" val="750930497"/>
      </p:ext>
    </p:extLst>
  </p:cSld>
</p:sld>
</file>

<file path=ppt/slides/slide6.xml><?xml version="1.0" encoding="utf-8"?>
<p:sld xmlns:p="http://schemas.openxmlformats.org/presentationml/2006/main">
  <p:cSld>
    <p:bg>
      <p:bgPr>
        <a:solidFill xmlns:a="http://schemas.openxmlformats.org/drawingml/2006/main">
          <a:srgbClr val="F9C84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D3B67D9-D717-48F5-9CE1-1EA2B2E22EA5}"/>
              </a:ext>
            </a:extLst>
          </p:cNvPr>
          <p:cNvSpPr>
            <a:spLocks xmlns:a="http://schemas.openxmlformats.org/drawingml/2006/main" noGrp="1"/>
          </p:cNvSpPr>
          <p:nvPr/>
        </p:nvSpPr>
        <p:spPr>
          <a:xfrm xmlns:a="http://schemas.openxmlformats.org/drawingml/2006/main">
            <a:off x="609600" y="276225"/>
            <a:ext cx="857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10191F"/>
                </a:solidFill>
                <a:latin typeface="Arial"/>
                <a:ea typeface="Arial"/>
                <a:cs typeface="Arial"/>
              </a:defRPr>
            </a:defPPr>
          </a:lstStyle>
          <a:p xmlns:a="http://schemas.openxmlformats.org/drawingml/2006/main">
            <a:pPr>
              <a:defRPr sz="1350" b="1">
                <a:solidFill>
                  <a:srgbClr val="10191F"/>
                </a:solidFill>
                <a:latin typeface="Arial"/>
                <a:ea typeface="Arial"/>
                <a:cs typeface="Arial"/>
              </a:defRPr>
            </a:pPr>
            <a:r>
              <a:rPr sz="1350" b="1">
                <a:solidFill>
                  <a:srgbClr val="10191F"/>
                </a:solidFill>
                <a:latin typeface="Arial"/>
                <a:ea typeface="Arial"/>
                <a:cs typeface="Arial"/>
              </a:rPr>
              <a:t>DUCKTUTOR / 06</a:t>
            </a:r>
          </a:p>
        </p:txBody>
      </p:sp>
      <p:sp>
        <p:nvSpPr>
          <p:cNvPr id="2" name="">
            <a:extLst xmlns:a="http://schemas.openxmlformats.org/drawingml/2006/main">
              <a:ext uri="{FF2B5EF4-FFF2-40B4-BE49-F238E27FC236}">
                <a16:creationId xmlns:a16="http://schemas.microsoft.com/office/drawing/2014/main" id="{4C7CFA78-7FDA-4D00-988F-9CA5BF1A8DBB}"/>
              </a:ext>
            </a:extLst>
          </p:cNvPr>
          <p:cNvSpPr>
            <a:spLocks xmlns:a="http://schemas.openxmlformats.org/drawingml/2006/main" noGrp="1"/>
          </p:cNvSpPr>
          <p:nvPr/>
        </p:nvSpPr>
        <p:spPr>
          <a:xfrm xmlns:a="http://schemas.openxmlformats.org/drawingml/2006/main">
            <a:off x="581025" y="904875"/>
            <a:ext cx="110109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75" b="1">
                <a:solidFill>
                  <a:srgbClr val="10191F"/>
                </a:solidFill>
                <a:latin typeface="Arial"/>
                <a:ea typeface="Arial"/>
                <a:cs typeface="Arial"/>
              </a:defRPr>
            </a:defPPr>
          </a:lstStyle>
          <a:p xmlns:a="http://schemas.openxmlformats.org/drawingml/2006/main">
            <a:pPr>
              <a:defRPr sz="4875" b="1">
                <a:solidFill>
                  <a:srgbClr val="10191F"/>
                </a:solidFill>
                <a:latin typeface="Arial"/>
                <a:ea typeface="Arial"/>
                <a:cs typeface="Arial"/>
              </a:defRPr>
            </a:pPr>
            <a:r>
              <a:rPr sz="4875" b="1">
                <a:solidFill>
                  <a:srgbClr val="10191F"/>
                </a:solidFill>
                <a:latin typeface="Arial"/>
                <a:ea typeface="Arial"/>
                <a:cs typeface="Arial"/>
              </a:rPr>
              <a:t>Understand this bug.</a:t>
            </a:r>
          </a:p>
          <a:p xmlns:a="http://schemas.openxmlformats.org/drawingml/2006/main">
            <a:pPr>
              <a:defRPr sz="4875" b="1">
                <a:solidFill>
                  <a:srgbClr val="10191F"/>
                </a:solidFill>
                <a:latin typeface="Arial"/>
                <a:ea typeface="Arial"/>
                <a:cs typeface="Arial"/>
              </a:defRPr>
            </a:pPr>
            <a:r>
              <a:rPr sz="4875" b="1">
                <a:solidFill>
                  <a:srgbClr val="10191F"/>
                </a:solidFill>
                <a:latin typeface="Arial"/>
                <a:ea typeface="Arial"/>
                <a:cs typeface="Arial"/>
              </a:rPr>
              <a:t>Reason through the next.</a:t>
            </a:r>
          </a:p>
        </p:txBody>
      </p:sp>
      <p:sp>
        <p:nvSpPr>
          <p:cNvPr id="3" name="">
            <a:extLst xmlns:a="http://schemas.openxmlformats.org/drawingml/2006/main">
              <a:ext uri="{FF2B5EF4-FFF2-40B4-BE49-F238E27FC236}">
                <a16:creationId xmlns:a16="http://schemas.microsoft.com/office/drawing/2014/main" id="{F49FF678-2D52-4931-936C-43DDB3389B76}"/>
              </a:ext>
            </a:extLst>
          </p:cNvPr>
          <p:cNvSpPr>
            <a:spLocks xmlns:a="http://schemas.openxmlformats.org/drawingml/2006/main" noGrp="1"/>
          </p:cNvSpPr>
          <p:nvPr/>
        </p:nvSpPr>
        <p:spPr>
          <a:xfrm xmlns:a="http://schemas.openxmlformats.org/drawingml/2006/main">
            <a:off x="609600" y="28956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0191F"/>
                </a:solidFill>
                <a:latin typeface="Arial"/>
                <a:ea typeface="Arial"/>
                <a:cs typeface="Arial"/>
              </a:defRPr>
            </a:defPPr>
          </a:lstStyle>
          <a:p xmlns:a="http://schemas.openxmlformats.org/drawingml/2006/main">
            <a:pPr>
              <a:defRPr sz="2175" b="0">
                <a:solidFill>
                  <a:srgbClr val="10191F"/>
                </a:solidFill>
                <a:latin typeface="Arial"/>
                <a:ea typeface="Arial"/>
                <a:cs typeface="Arial"/>
              </a:defRPr>
            </a:pPr>
            <a:r>
              <a:rPr sz="2175" b="0">
                <a:solidFill>
                  <a:srgbClr val="10191F"/>
                </a:solidFill>
                <a:latin typeface="Arial"/>
                <a:ea typeface="Arial"/>
                <a:cs typeface="Arial"/>
              </a:rPr>
              <a:t>Bounded repair and labeled fallback guidance</a:t>
            </a:r>
          </a:p>
        </p:txBody>
      </p:sp>
      <p:sp>
        <p:nvSpPr>
          <p:cNvPr id="4" name="">
            <a:extLst xmlns:a="http://schemas.openxmlformats.org/drawingml/2006/main">
              <a:ext uri="{FF2B5EF4-FFF2-40B4-BE49-F238E27FC236}">
                <a16:creationId xmlns:a16="http://schemas.microsoft.com/office/drawing/2014/main" id="{11F856C5-243A-45B7-97C2-43544107169C}"/>
              </a:ext>
            </a:extLst>
          </p:cNvPr>
          <p:cNvSpPr>
            <a:spLocks xmlns:a="http://schemas.openxmlformats.org/drawingml/2006/main" noGrp="1"/>
          </p:cNvSpPr>
          <p:nvPr/>
        </p:nvSpPr>
        <p:spPr>
          <a:xfrm xmlns:a="http://schemas.openxmlformats.org/drawingml/2006/main">
            <a:off x="609600" y="33528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0191F"/>
                </a:solidFill>
                <a:latin typeface="Arial"/>
                <a:ea typeface="Arial"/>
                <a:cs typeface="Arial"/>
              </a:defRPr>
            </a:defPPr>
          </a:lstStyle>
          <a:p xmlns:a="http://schemas.openxmlformats.org/drawingml/2006/main">
            <a:pPr>
              <a:defRPr sz="2175" b="0">
                <a:solidFill>
                  <a:srgbClr val="10191F"/>
                </a:solidFill>
                <a:latin typeface="Arial"/>
                <a:ea typeface="Arial"/>
                <a:cs typeface="Arial"/>
              </a:defRPr>
            </a:pPr>
            <a:r>
              <a:rPr sz="2175" b="0">
                <a:solidFill>
                  <a:srgbClr val="10191F"/>
                </a:solidFill>
                <a:latin typeface="Arial"/>
                <a:ea typeface="Arial"/>
                <a:cs typeface="Arial"/>
              </a:rPr>
              <a:t>Hosted Gemma, with an optional local Ollama adapter</a:t>
            </a:r>
          </a:p>
        </p:txBody>
      </p:sp>
      <p:sp>
        <p:nvSpPr>
          <p:cNvPr id="5" name="">
            <a:extLst xmlns:a="http://schemas.openxmlformats.org/drawingml/2006/main">
              <a:ext uri="{FF2B5EF4-FFF2-40B4-BE49-F238E27FC236}">
                <a16:creationId xmlns:a16="http://schemas.microsoft.com/office/drawing/2014/main" id="{1FE60BFC-03D5-45F3-8327-3AEEECCBB77B}"/>
              </a:ext>
            </a:extLst>
          </p:cNvPr>
          <p:cNvSpPr>
            <a:spLocks xmlns:a="http://schemas.openxmlformats.org/drawingml/2006/main" noGrp="1"/>
          </p:cNvSpPr>
          <p:nvPr/>
        </p:nvSpPr>
        <p:spPr>
          <a:xfrm xmlns:a="http://schemas.openxmlformats.org/drawingml/2006/main">
            <a:off x="581025" y="4162425"/>
            <a:ext cx="2238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275" b="1">
                <a:solidFill>
                  <a:srgbClr val="10191F"/>
                </a:solidFill>
                <a:latin typeface="Arial"/>
                <a:ea typeface="Arial"/>
                <a:cs typeface="Arial"/>
              </a:defRPr>
            </a:defPPr>
          </a:lstStyle>
          <a:p xmlns:a="http://schemas.openxmlformats.org/drawingml/2006/main">
            <a:pPr>
              <a:defRPr sz="7275" b="1">
                <a:solidFill>
                  <a:srgbClr val="10191F"/>
                </a:solidFill>
                <a:latin typeface="Arial"/>
                <a:ea typeface="Arial"/>
                <a:cs typeface="Arial"/>
              </a:defRPr>
            </a:pPr>
            <a:r>
              <a:rPr sz="7275" b="1">
                <a:solidFill>
                  <a:srgbClr val="10191F"/>
                </a:solidFill>
                <a:latin typeface="Arial"/>
                <a:ea typeface="Arial"/>
                <a:cs typeface="Arial"/>
              </a:rPr>
              <a:t>50</a:t>
            </a:r>
          </a:p>
        </p:txBody>
      </p:sp>
      <p:sp>
        <p:nvSpPr>
          <p:cNvPr id="6" name="">
            <a:extLst xmlns:a="http://schemas.openxmlformats.org/drawingml/2006/main">
              <a:ext uri="{FF2B5EF4-FFF2-40B4-BE49-F238E27FC236}">
                <a16:creationId xmlns:a16="http://schemas.microsoft.com/office/drawing/2014/main" id="{D6304780-6229-4528-87AF-E98632158F51}"/>
              </a:ext>
            </a:extLst>
          </p:cNvPr>
          <p:cNvSpPr>
            <a:spLocks xmlns:a="http://schemas.openxmlformats.org/drawingml/2006/main" noGrp="1"/>
          </p:cNvSpPr>
          <p:nvPr/>
        </p:nvSpPr>
        <p:spPr>
          <a:xfrm xmlns:a="http://schemas.openxmlformats.org/drawingml/2006/main">
            <a:off x="609600" y="5457825"/>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0191F"/>
                </a:solidFill>
                <a:latin typeface="Arial"/>
                <a:ea typeface="Arial"/>
                <a:cs typeface="Arial"/>
              </a:defRPr>
            </a:defPPr>
          </a:lstStyle>
          <a:p xmlns:a="http://schemas.openxmlformats.org/drawingml/2006/main">
            <a:pPr>
              <a:defRPr sz="1875" b="0">
                <a:solidFill>
                  <a:srgbClr val="10191F"/>
                </a:solidFill>
                <a:latin typeface="Arial"/>
                <a:ea typeface="Arial"/>
                <a:cs typeface="Arial"/>
              </a:defRPr>
            </a:pPr>
            <a:r>
              <a:rPr sz="1875" b="0">
                <a:solidFill>
                  <a:srgbClr val="10191F"/>
                </a:solidFill>
                <a:latin typeface="Arial"/>
                <a:ea typeface="Arial"/>
                <a:cs typeface="Arial"/>
              </a:rPr>
              <a:t>software tests passed</a:t>
            </a:r>
          </a:p>
          <a:p xmlns:a="http://schemas.openxmlformats.org/drawingml/2006/main">
            <a:pPr>
              <a:defRPr sz="1875" b="0">
                <a:solidFill>
                  <a:srgbClr val="10191F"/>
                </a:solidFill>
                <a:latin typeface="Arial"/>
                <a:ea typeface="Arial"/>
                <a:cs typeface="Arial"/>
              </a:defRPr>
            </a:pPr>
            <a:r>
              <a:rPr sz="1875" b="0">
                <a:solidFill>
                  <a:srgbClr val="10191F"/>
                </a:solidFill>
                <a:latin typeface="Arial"/>
                <a:ea typeface="Arial"/>
                <a:cs typeface="Arial"/>
              </a:rPr>
              <a:t>in the recorded release</a:t>
            </a:r>
          </a:p>
        </p:txBody>
      </p:sp>
      <p:sp>
        <p:nvSpPr>
          <p:cNvPr id="7" name="">
            <a:extLst xmlns:a="http://schemas.openxmlformats.org/drawingml/2006/main">
              <a:ext uri="{FF2B5EF4-FFF2-40B4-BE49-F238E27FC236}">
                <a16:creationId xmlns:a16="http://schemas.microsoft.com/office/drawing/2014/main" id="{075C3BEF-FA77-4096-9EEF-3AFB3BF46C3C}"/>
              </a:ext>
            </a:extLst>
          </p:cNvPr>
          <p:cNvSpPr>
            <a:spLocks xmlns:a="http://schemas.openxmlformats.org/drawingml/2006/main" noGrp="1"/>
          </p:cNvSpPr>
          <p:nvPr/>
        </p:nvSpPr>
        <p:spPr>
          <a:xfrm xmlns:a="http://schemas.openxmlformats.org/drawingml/2006/main">
            <a:off x="6286500" y="4162425"/>
            <a:ext cx="2238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275" b="1">
                <a:solidFill>
                  <a:srgbClr val="10191F"/>
                </a:solidFill>
                <a:latin typeface="Arial"/>
                <a:ea typeface="Arial"/>
                <a:cs typeface="Arial"/>
              </a:defRPr>
            </a:defPPr>
          </a:lstStyle>
          <a:p xmlns:a="http://schemas.openxmlformats.org/drawingml/2006/main">
            <a:pPr>
              <a:defRPr sz="7275" b="1">
                <a:solidFill>
                  <a:srgbClr val="10191F"/>
                </a:solidFill>
                <a:latin typeface="Arial"/>
                <a:ea typeface="Arial"/>
                <a:cs typeface="Arial"/>
              </a:defRPr>
            </a:pPr>
            <a:r>
              <a:rPr sz="7275" b="1">
                <a:solidFill>
                  <a:srgbClr val="10191F"/>
                </a:solidFill>
                <a:latin typeface="Arial"/>
                <a:ea typeface="Arial"/>
                <a:cs typeface="Arial"/>
              </a:rPr>
              <a:t>6</a:t>
            </a:r>
          </a:p>
        </p:txBody>
      </p:sp>
      <p:sp>
        <p:nvSpPr>
          <p:cNvPr id="8" name="">
            <a:extLst xmlns:a="http://schemas.openxmlformats.org/drawingml/2006/main">
              <a:ext uri="{FF2B5EF4-FFF2-40B4-BE49-F238E27FC236}">
                <a16:creationId xmlns:a16="http://schemas.microsoft.com/office/drawing/2014/main" id="{449AEB0F-0726-4054-A033-1E9445CC2D57}"/>
              </a:ext>
            </a:extLst>
          </p:cNvPr>
          <p:cNvSpPr>
            <a:spLocks xmlns:a="http://schemas.openxmlformats.org/drawingml/2006/main" noGrp="1"/>
          </p:cNvSpPr>
          <p:nvPr/>
        </p:nvSpPr>
        <p:spPr>
          <a:xfrm xmlns:a="http://schemas.openxmlformats.org/drawingml/2006/main">
            <a:off x="6324600" y="545782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0191F"/>
                </a:solidFill>
                <a:latin typeface="Arial"/>
                <a:ea typeface="Arial"/>
                <a:cs typeface="Arial"/>
              </a:defRPr>
            </a:defPPr>
          </a:lstStyle>
          <a:p xmlns:a="http://schemas.openxmlformats.org/drawingml/2006/main">
            <a:pPr>
              <a:defRPr sz="1875" b="0">
                <a:solidFill>
                  <a:srgbClr val="10191F"/>
                </a:solidFill>
                <a:latin typeface="Arial"/>
                <a:ea typeface="Arial"/>
                <a:cs typeface="Arial"/>
              </a:defRPr>
            </a:pPr>
            <a:r>
              <a:rPr sz="1875" b="0">
                <a:solidFill>
                  <a:srgbClr val="10191F"/>
                </a:solidFill>
                <a:latin typeface="Arial"/>
                <a:ea typeface="Arial"/>
                <a:cs typeface="Arial"/>
              </a:rPr>
              <a:t>conversation scenarios</a:t>
            </a:r>
          </a:p>
          <a:p xmlns:a="http://schemas.openxmlformats.org/drawingml/2006/main">
            <a:pPr>
              <a:defRPr sz="1875" b="0">
                <a:solidFill>
                  <a:srgbClr val="10191F"/>
                </a:solidFill>
                <a:latin typeface="Arial"/>
                <a:ea typeface="Arial"/>
                <a:cs typeface="Arial"/>
              </a:defRPr>
            </a:pPr>
            <a:r>
              <a:rPr sz="1875" b="0">
                <a:solidFill>
                  <a:srgbClr val="10191F"/>
                </a:solidFill>
                <a:latin typeface="Arial"/>
                <a:ea typeface="Arial"/>
                <a:cs typeface="Arial"/>
              </a:rPr>
              <a:t>for teaching evaluation</a:t>
            </a:r>
          </a:p>
        </p:txBody>
      </p:sp>
      <p:sp>
        <p:nvSpPr>
          <p:cNvPr id="9" name="">
            <a:extLst xmlns:a="http://schemas.openxmlformats.org/drawingml/2006/main">
              <a:ext uri="{FF2B5EF4-FFF2-40B4-BE49-F238E27FC236}">
                <a16:creationId xmlns:a16="http://schemas.microsoft.com/office/drawing/2014/main" id="{8D5F05E4-22CA-4BE6-8E03-B6574C56B784}"/>
              </a:ext>
            </a:extLst>
          </p:cNvPr>
          <p:cNvSpPr>
            <a:spLocks xmlns:a="http://schemas.openxmlformats.org/drawingml/2006/main" noGrp="1"/>
          </p:cNvSpPr>
          <p:nvPr/>
        </p:nvSpPr>
        <p:spPr>
          <a:xfrm xmlns:a="http://schemas.openxmlformats.org/drawingml/2006/main">
            <a:off x="609600" y="641032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0191F"/>
                </a:solidFill>
                <a:latin typeface="Arial"/>
                <a:ea typeface="Arial"/>
                <a:cs typeface="Arial"/>
              </a:defRPr>
            </a:defPPr>
          </a:lstStyle>
          <a:p xmlns:a="http://schemas.openxmlformats.org/drawingml/2006/main">
            <a:pPr>
              <a:defRPr sz="1500" b="0">
                <a:solidFill>
                  <a:srgbClr val="10191F"/>
                </a:solidFill>
                <a:latin typeface="Arial"/>
                <a:ea typeface="Arial"/>
                <a:cs typeface="Arial"/>
              </a:defRPr>
            </a:pPr>
            <a:r>
              <a:rPr sz="1500" b="0">
                <a:solidFill>
                  <a:srgbClr val="10191F"/>
                </a:solidFill>
                <a:latin typeface="Arial"/>
                <a:ea typeface="Arial"/>
                <a:cs typeface="Arial"/>
              </a:rPr>
              <a:t>Prototype: live teaching quality still needs evaluation.</a:t>
            </a:r>
          </a:p>
        </p:txBody>
      </p:sp>
    </p:spTree>
    <p:extLst>
      <p:ext uri="{BB962C8B-B14F-4D97-AF65-F5344CB8AC3E}">
        <p14:creationId xmlns:p14="http://schemas.microsoft.com/office/powerpoint/2010/main" val="20949215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2026-10-11T12:03:47.2260000Z</dcterms:created>
  <dcterms:modified xsi:type="dcterms:W3CDTF">2026-10-11T12:03:47.2260000Z</dcterms:modified>
</coreProperties>
</file>